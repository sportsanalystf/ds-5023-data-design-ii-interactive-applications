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E57200"/>
          </a:solidFill>
          <a:ln/>
        </p:spPr>
      </p:sp>
      <p:sp>
        <p:nvSpPr>
          <p:cNvPr id="3" name="Shape 1"/>
          <p:cNvSpPr/>
          <p:nvPr/>
        </p:nvSpPr>
        <p:spPr>
          <a:xfrm>
            <a:off x="5303520" y="0"/>
            <a:ext cx="1371600" cy="5143500"/>
          </a:xfrm>
          <a:prstGeom prst="rect">
            <a:avLst/>
          </a:prstGeom>
          <a:solidFill>
            <a:srgbClr val="E57200">
              <a:alpha val="60000"/>
            </a:srgbClr>
          </a:solidFill>
          <a:ln/>
        </p:spPr>
      </p:sp>
      <p:sp>
        <p:nvSpPr>
          <p:cNvPr id="4" name="Text 2"/>
          <p:cNvSpPr/>
          <p:nvPr/>
        </p:nvSpPr>
        <p:spPr>
          <a:xfrm>
            <a:off x="731520" y="731520"/>
            <a:ext cx="5029200" cy="1097280"/>
          </a:xfrm>
          <a:prstGeom prst="rect">
            <a:avLst/>
          </a:prstGeom>
          <a:noFill/>
          <a:ln/>
        </p:spPr>
        <p:txBody>
          <a:bodyPr wrap="square" lIns="0" tIns="0" rIns="0" bIns="0" rtlCol="0" anchor="b"/>
          <a:lstStyle/>
          <a:p>
            <a:pPr algn="l" indent="0" marL="0">
              <a:buNone/>
            </a:pPr>
            <a:r>
              <a:rPr lang="en-US" sz="5400" b="1" dirty="0">
                <a:solidFill>
                  <a:srgbClr val="FFFFFF"/>
                </a:solidFill>
                <a:latin typeface="Georgia" pitchFamily="34" charset="0"/>
                <a:ea typeface="Georgia" pitchFamily="34" charset="-122"/>
                <a:cs typeface="Georgia" pitchFamily="34" charset="-120"/>
              </a:rPr>
              <a:t>LaxIQ</a:t>
            </a:r>
            <a:endParaRPr lang="en-US" sz="5400" dirty="0"/>
          </a:p>
        </p:txBody>
      </p:sp>
      <p:sp>
        <p:nvSpPr>
          <p:cNvPr id="5" name="Text 3"/>
          <p:cNvSpPr/>
          <p:nvPr/>
        </p:nvSpPr>
        <p:spPr>
          <a:xfrm>
            <a:off x="731520" y="1828800"/>
            <a:ext cx="4572000" cy="457200"/>
          </a:xfrm>
          <a:prstGeom prst="rect">
            <a:avLst/>
          </a:prstGeom>
          <a:noFill/>
          <a:ln/>
        </p:spPr>
        <p:txBody>
          <a:bodyPr wrap="square"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UVA Women's Lacrosse Analytics Dashboard</a:t>
            </a:r>
            <a:endParaRPr lang="en-US" sz="1600" dirty="0"/>
          </a:p>
        </p:txBody>
      </p:sp>
      <p:sp>
        <p:nvSpPr>
          <p:cNvPr id="6" name="Shape 4"/>
          <p:cNvSpPr/>
          <p:nvPr/>
        </p:nvSpPr>
        <p:spPr>
          <a:xfrm>
            <a:off x="731520" y="2560320"/>
            <a:ext cx="4114800" cy="457200"/>
          </a:xfrm>
          <a:prstGeom prst="rect">
            <a:avLst/>
          </a:prstGeom>
          <a:solidFill>
            <a:srgbClr val="E57200">
              <a:alpha val="20000"/>
            </a:srgbClr>
          </a:solidFill>
          <a:ln w="12700">
            <a:solidFill>
              <a:srgbClr val="E57200"/>
            </a:solidFill>
            <a:prstDash val="solid"/>
          </a:ln>
        </p:spPr>
      </p:sp>
      <p:sp>
        <p:nvSpPr>
          <p:cNvPr id="7" name="Text 5"/>
          <p:cNvSpPr/>
          <p:nvPr/>
        </p:nvSpPr>
        <p:spPr>
          <a:xfrm>
            <a:off x="731520" y="2560320"/>
            <a:ext cx="4114800" cy="457200"/>
          </a:xfrm>
          <a:prstGeom prst="rect">
            <a:avLst/>
          </a:prstGeom>
          <a:noFill/>
          <a:ln/>
        </p:spPr>
        <p:txBody>
          <a:bodyPr wrap="square" rtlCol="0" anchor="ctr"/>
          <a:lstStyle/>
          <a:p>
            <a:pPr algn="ctr" indent="0" marL="0">
              <a:buNone/>
            </a:pPr>
            <a:r>
              <a:rPr lang="en-US" sz="900" b="1" spc="100" kern="0" dirty="0">
                <a:solidFill>
                  <a:srgbClr val="E57200"/>
                </a:solidFill>
                <a:latin typeface="Calibri" pitchFamily="34" charset="0"/>
                <a:ea typeface="Calibri" pitchFamily="34" charset="-122"/>
                <a:cs typeface="Calibri" pitchFamily="34" charset="-120"/>
              </a:rPr>
              <a:t>MILESTONE 1: DEFINE, UNDERSTAND USERS &amp; SET USABILITY GOALS</a:t>
            </a:r>
            <a:endParaRPr lang="en-US" sz="900" dirty="0"/>
          </a:p>
        </p:txBody>
      </p:sp>
      <p:sp>
        <p:nvSpPr>
          <p:cNvPr id="8" name="Text 6"/>
          <p:cNvSpPr/>
          <p:nvPr/>
        </p:nvSpPr>
        <p:spPr>
          <a:xfrm>
            <a:off x="731520" y="3474720"/>
            <a:ext cx="3657600" cy="1097280"/>
          </a:xfrm>
          <a:prstGeom prst="rect">
            <a:avLst/>
          </a:prstGeom>
          <a:noFill/>
          <a:ln/>
        </p:spPr>
        <p:txBody>
          <a:bodyPr wrap="square" rtlCol="0" anchor="ctr"/>
          <a:lstStyle/>
          <a:p>
            <a:pPr algn="l" indent="0" marL="0">
              <a:buNone/>
            </a:pPr>
            <a:r>
              <a:rPr lang="en-US" sz="1200" dirty="0">
                <a:solidFill>
                  <a:srgbClr val="94A3B8"/>
                </a:solidFill>
                <a:latin typeface="Calibri" pitchFamily="34" charset="0"/>
                <a:ea typeface="Calibri" pitchFamily="34" charset="-122"/>
                <a:cs typeface="Calibri" pitchFamily="34" charset="-120"/>
              </a:rPr>
              <a:t>DS 5023 — Spring 2026</a:t>
            </a:r>
            <a:endParaRPr lang="en-US" sz="1200" dirty="0"/>
          </a:p>
          <a:p>
            <a:pPr algn="l" indent="0" marL="0">
              <a:buNone/>
            </a:pPr>
            <a:r>
              <a:rPr lang="en-US" sz="1400" b="1" dirty="0">
                <a:solidFill>
                  <a:srgbClr val="FFFFFF"/>
                </a:solidFill>
                <a:latin typeface="Calibri" pitchFamily="34" charset="0"/>
                <a:ea typeface="Calibri" pitchFamily="34" charset="-122"/>
                <a:cs typeface="Calibri" pitchFamily="34" charset="-120"/>
              </a:rPr>
              <a:t>Faizan Khan</a:t>
            </a:r>
            <a:endParaRPr lang="en-US" sz="1200" dirty="0"/>
          </a:p>
          <a:p>
            <a:pPr algn="l" indent="0" marL="0">
              <a:buNone/>
            </a:pPr>
            <a:r>
              <a:rPr lang="en-US" sz="1100" dirty="0">
                <a:solidFill>
                  <a:srgbClr val="94A3B8"/>
                </a:solidFill>
                <a:latin typeface="Calibri" pitchFamily="34" charset="0"/>
                <a:ea typeface="Calibri" pitchFamily="34" charset="-122"/>
                <a:cs typeface="Calibri" pitchFamily="34" charset="-120"/>
              </a:rPr>
              <a:t>University of Virginia</a:t>
            </a:r>
            <a:endParaRPr lang="en-US" sz="1200" dirty="0"/>
          </a:p>
        </p:txBody>
      </p:sp>
      <p:sp>
        <p:nvSpPr>
          <p:cNvPr id="9" name="Text 7"/>
          <p:cNvSpPr/>
          <p:nvPr/>
        </p:nvSpPr>
        <p:spPr>
          <a:xfrm>
            <a:off x="6217920" y="457200"/>
            <a:ext cx="2743200" cy="3657600"/>
          </a:xfrm>
          <a:prstGeom prst="rect">
            <a:avLst/>
          </a:prstGeom>
          <a:noFill/>
          <a:ln/>
        </p:spPr>
        <p:txBody>
          <a:bodyPr wrap="square" rtlCol="0" anchor="ctr"/>
          <a:lstStyle/>
          <a:p>
            <a:pPr algn="ctr" indent="0" marL="0">
              <a:buNone/>
            </a:pPr>
            <a:r>
              <a:rPr lang="en-US" sz="12000" b="1" dirty="0">
                <a:solidFill>
                  <a:srgbClr val="232D4B">
                    <a:alpha val="30000"/>
                  </a:srgbClr>
                </a:solidFill>
                <a:latin typeface="Georgia" pitchFamily="34" charset="0"/>
                <a:ea typeface="Georgia" pitchFamily="34" charset="-122"/>
                <a:cs typeface="Georgia" pitchFamily="34" charset="-120"/>
              </a:rPr>
              <a:t>M1</a:t>
            </a:r>
            <a:endParaRPr lang="en-US" sz="12000" dirty="0"/>
          </a:p>
        </p:txBody>
      </p:sp>
      <p:sp>
        <p:nvSpPr>
          <p:cNvPr id="10" name="Text 8"/>
          <p:cNvSpPr/>
          <p:nvPr/>
        </p:nvSpPr>
        <p:spPr>
          <a:xfrm>
            <a:off x="5943600" y="4206240"/>
            <a:ext cx="3200400" cy="365760"/>
          </a:xfrm>
          <a:prstGeom prst="rect">
            <a:avLst/>
          </a:prstGeom>
          <a:noFill/>
          <a:ln/>
        </p:spPr>
        <p:txBody>
          <a:bodyPr wrap="square" rtlCol="0" anchor="ctr"/>
          <a:lstStyle/>
          <a:p>
            <a:pPr algn="ctr" indent="0" marL="0">
              <a:buNone/>
            </a:pPr>
            <a:r>
              <a:rPr lang="en-US" sz="900" b="1" dirty="0">
                <a:solidFill>
                  <a:srgbClr val="232D4B"/>
                </a:solidFill>
                <a:latin typeface="Calibri" pitchFamily="34" charset="0"/>
                <a:ea typeface="Calibri" pitchFamily="34" charset="-122"/>
                <a:cs typeface="Calibri" pitchFamily="34" charset="-120"/>
              </a:rPr>
              <a:t>6 Sections  |  100 Points  |  Exhaustive Coverage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Agenda — Milestone 1 Deliverables</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960120"/>
            <a:ext cx="8046720" cy="5486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960120"/>
            <a:ext cx="54864" cy="548640"/>
          </a:xfrm>
          <a:prstGeom prst="rect">
            <a:avLst/>
          </a:prstGeom>
          <a:solidFill>
            <a:srgbClr val="E57200"/>
          </a:solidFill>
          <a:ln/>
        </p:spPr>
      </p:sp>
      <p:sp>
        <p:nvSpPr>
          <p:cNvPr id="8" name="Text 6"/>
          <p:cNvSpPr/>
          <p:nvPr/>
        </p:nvSpPr>
        <p:spPr>
          <a:xfrm>
            <a:off x="731520" y="960120"/>
            <a:ext cx="365760" cy="548640"/>
          </a:xfrm>
          <a:prstGeom prst="rect">
            <a:avLst/>
          </a:prstGeom>
          <a:noFill/>
          <a:ln/>
        </p:spPr>
        <p:txBody>
          <a:bodyPr wrap="square" rtlCol="0" anchor="ctr"/>
          <a:lstStyle/>
          <a:p>
            <a:pPr algn="ctr" indent="0" marL="0">
              <a:buNone/>
            </a:pPr>
            <a:r>
              <a:rPr lang="en-US" sz="1800" b="1" dirty="0">
                <a:solidFill>
                  <a:srgbClr val="E57200"/>
                </a:solidFill>
                <a:latin typeface="Georgia" pitchFamily="34" charset="0"/>
                <a:ea typeface="Georgia" pitchFamily="34" charset="-122"/>
                <a:cs typeface="Georgia" pitchFamily="34" charset="-120"/>
              </a:rPr>
              <a:t>1</a:t>
            </a:r>
            <a:endParaRPr lang="en-US" sz="1800" dirty="0"/>
          </a:p>
        </p:txBody>
      </p:sp>
      <p:pic>
        <p:nvPicPr>
          <p:cNvPr id="9" name="Image 0" descr="preencoded.png">    </p:cNvPr>
          <p:cNvPicPr>
            <a:picLocks noChangeAspect="1"/>
          </p:cNvPicPr>
          <p:nvPr/>
        </p:nvPicPr>
        <p:blipFill>
          <a:blip r:embed="rId1"/>
          <a:stretch>
            <a:fillRect/>
          </a:stretch>
        </p:blipFill>
        <p:spPr>
          <a:xfrm>
            <a:off x="1188720" y="1069848"/>
            <a:ext cx="320040" cy="320040"/>
          </a:xfrm>
          <a:prstGeom prst="rect">
            <a:avLst/>
          </a:prstGeom>
        </p:spPr>
      </p:pic>
      <p:sp>
        <p:nvSpPr>
          <p:cNvPr id="10" name="Text 7"/>
          <p:cNvSpPr/>
          <p:nvPr/>
        </p:nvSpPr>
        <p:spPr>
          <a:xfrm>
            <a:off x="1645920" y="960120"/>
            <a:ext cx="2743200" cy="320040"/>
          </a:xfrm>
          <a:prstGeom prst="rect">
            <a:avLst/>
          </a:prstGeom>
          <a:noFill/>
          <a:ln/>
        </p:spPr>
        <p:txBody>
          <a:bodyPr wrap="square" lIns="0" tIns="0" rIns="0" bIns="0" rtlCol="0" anchor="b"/>
          <a:lstStyle/>
          <a:p>
            <a:pPr algn="l" indent="0" marL="0">
              <a:buNone/>
            </a:pPr>
            <a:r>
              <a:rPr lang="en-US" sz="1400" b="1" dirty="0">
                <a:solidFill>
                  <a:srgbClr val="1E293B"/>
                </a:solidFill>
                <a:latin typeface="Calibri" pitchFamily="34" charset="0"/>
                <a:ea typeface="Calibri" pitchFamily="34" charset="-122"/>
                <a:cs typeface="Calibri" pitchFamily="34" charset="-120"/>
              </a:rPr>
              <a:t>Product Overview</a:t>
            </a:r>
            <a:endParaRPr lang="en-US" sz="1400" dirty="0"/>
          </a:p>
        </p:txBody>
      </p:sp>
      <p:sp>
        <p:nvSpPr>
          <p:cNvPr id="11" name="Text 8"/>
          <p:cNvSpPr/>
          <p:nvPr/>
        </p:nvSpPr>
        <p:spPr>
          <a:xfrm>
            <a:off x="1645920" y="1234440"/>
            <a:ext cx="914400" cy="228600"/>
          </a:xfrm>
          <a:prstGeom prst="rect">
            <a:avLst/>
          </a:prstGeom>
          <a:noFill/>
          <a:ln/>
        </p:spPr>
        <p:txBody>
          <a:bodyPr wrap="square" lIns="0" tIns="0" rIns="0" bIns="0" rtlCol="0" anchor="t"/>
          <a:lstStyle/>
          <a:p>
            <a:pPr algn="l" indent="0" marL="0">
              <a:buNone/>
            </a:pPr>
            <a:r>
              <a:rPr lang="en-US" sz="900" b="1" dirty="0">
                <a:solidFill>
                  <a:srgbClr val="E57200"/>
                </a:solidFill>
                <a:latin typeface="Calibri" pitchFamily="34" charset="0"/>
                <a:ea typeface="Calibri" pitchFamily="34" charset="-122"/>
                <a:cs typeface="Calibri" pitchFamily="34" charset="-120"/>
              </a:rPr>
              <a:t>20 pts</a:t>
            </a:r>
            <a:endParaRPr lang="en-US" sz="900" dirty="0"/>
          </a:p>
        </p:txBody>
      </p:sp>
      <p:sp>
        <p:nvSpPr>
          <p:cNvPr id="12" name="Text 9"/>
          <p:cNvSpPr/>
          <p:nvPr/>
        </p:nvSpPr>
        <p:spPr>
          <a:xfrm>
            <a:off x="4114800" y="960120"/>
            <a:ext cx="4297680" cy="548640"/>
          </a:xfrm>
          <a:prstGeom prst="rect">
            <a:avLst/>
          </a:prstGeom>
          <a:noFill/>
          <a:ln/>
        </p:spPr>
        <p:txBody>
          <a:bodyPr wrap="square"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Concept statement + narrative with UI/UX distinction</a:t>
            </a:r>
            <a:endParaRPr lang="en-US" sz="1100" dirty="0"/>
          </a:p>
        </p:txBody>
      </p:sp>
      <p:sp>
        <p:nvSpPr>
          <p:cNvPr id="13" name="Shape 10"/>
          <p:cNvSpPr/>
          <p:nvPr/>
        </p:nvSpPr>
        <p:spPr>
          <a:xfrm>
            <a:off x="548640" y="1600200"/>
            <a:ext cx="8046720" cy="5486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4" name="Shape 11"/>
          <p:cNvSpPr/>
          <p:nvPr/>
        </p:nvSpPr>
        <p:spPr>
          <a:xfrm>
            <a:off x="548640" y="1600200"/>
            <a:ext cx="54864" cy="548640"/>
          </a:xfrm>
          <a:prstGeom prst="rect">
            <a:avLst/>
          </a:prstGeom>
          <a:solidFill>
            <a:srgbClr val="232D4B"/>
          </a:solidFill>
          <a:ln/>
        </p:spPr>
      </p:sp>
      <p:sp>
        <p:nvSpPr>
          <p:cNvPr id="15" name="Text 12"/>
          <p:cNvSpPr/>
          <p:nvPr/>
        </p:nvSpPr>
        <p:spPr>
          <a:xfrm>
            <a:off x="731520" y="1600200"/>
            <a:ext cx="365760" cy="548640"/>
          </a:xfrm>
          <a:prstGeom prst="rect">
            <a:avLst/>
          </a:prstGeom>
          <a:noFill/>
          <a:ln/>
        </p:spPr>
        <p:txBody>
          <a:bodyPr wrap="square" rtlCol="0" anchor="ctr"/>
          <a:lstStyle/>
          <a:p>
            <a:pPr algn="ctr" indent="0" marL="0">
              <a:buNone/>
            </a:pPr>
            <a:r>
              <a:rPr lang="en-US" sz="1800" b="1" dirty="0">
                <a:solidFill>
                  <a:srgbClr val="232D4B"/>
                </a:solidFill>
                <a:latin typeface="Georgia" pitchFamily="34" charset="0"/>
                <a:ea typeface="Georgia" pitchFamily="34" charset="-122"/>
                <a:cs typeface="Georgia" pitchFamily="34" charset="-120"/>
              </a:rPr>
              <a:t>2</a:t>
            </a:r>
            <a:endParaRPr lang="en-US" sz="1800" dirty="0"/>
          </a:p>
        </p:txBody>
      </p:sp>
      <p:pic>
        <p:nvPicPr>
          <p:cNvPr id="16" name="Image 1" descr="preencoded.png">    </p:cNvPr>
          <p:cNvPicPr>
            <a:picLocks noChangeAspect="1"/>
          </p:cNvPicPr>
          <p:nvPr/>
        </p:nvPicPr>
        <p:blipFill>
          <a:blip r:embed="rId2"/>
          <a:stretch>
            <a:fillRect/>
          </a:stretch>
        </p:blipFill>
        <p:spPr>
          <a:xfrm>
            <a:off x="1188720" y="1709928"/>
            <a:ext cx="320040" cy="320040"/>
          </a:xfrm>
          <a:prstGeom prst="rect">
            <a:avLst/>
          </a:prstGeom>
        </p:spPr>
      </p:pic>
      <p:sp>
        <p:nvSpPr>
          <p:cNvPr id="17" name="Text 13"/>
          <p:cNvSpPr/>
          <p:nvPr/>
        </p:nvSpPr>
        <p:spPr>
          <a:xfrm>
            <a:off x="1645920" y="1600200"/>
            <a:ext cx="2743200" cy="320040"/>
          </a:xfrm>
          <a:prstGeom prst="rect">
            <a:avLst/>
          </a:prstGeom>
          <a:noFill/>
          <a:ln/>
        </p:spPr>
        <p:txBody>
          <a:bodyPr wrap="square" lIns="0" tIns="0" rIns="0" bIns="0" rtlCol="0" anchor="b"/>
          <a:lstStyle/>
          <a:p>
            <a:pPr algn="l" indent="0" marL="0">
              <a:buNone/>
            </a:pPr>
            <a:r>
              <a:rPr lang="en-US" sz="1400" b="1" dirty="0">
                <a:solidFill>
                  <a:srgbClr val="1E293B"/>
                </a:solidFill>
                <a:latin typeface="Calibri" pitchFamily="34" charset="0"/>
                <a:ea typeface="Calibri" pitchFamily="34" charset="-122"/>
                <a:cs typeface="Calibri" pitchFamily="34" charset="-120"/>
              </a:rPr>
              <a:t>Proto-Persona</a:t>
            </a:r>
            <a:endParaRPr lang="en-US" sz="1400" dirty="0"/>
          </a:p>
        </p:txBody>
      </p:sp>
      <p:sp>
        <p:nvSpPr>
          <p:cNvPr id="18" name="Text 14"/>
          <p:cNvSpPr/>
          <p:nvPr/>
        </p:nvSpPr>
        <p:spPr>
          <a:xfrm>
            <a:off x="1645920" y="1874520"/>
            <a:ext cx="914400" cy="228600"/>
          </a:xfrm>
          <a:prstGeom prst="rect">
            <a:avLst/>
          </a:prstGeom>
          <a:noFill/>
          <a:ln/>
        </p:spPr>
        <p:txBody>
          <a:bodyPr wrap="square" lIns="0" tIns="0" rIns="0" bIns="0" rtlCol="0" anchor="t"/>
          <a:lstStyle/>
          <a:p>
            <a:pPr algn="l" indent="0" marL="0">
              <a:buNone/>
            </a:pPr>
            <a:r>
              <a:rPr lang="en-US" sz="900" b="1" dirty="0">
                <a:solidFill>
                  <a:srgbClr val="E57200"/>
                </a:solidFill>
                <a:latin typeface="Calibri" pitchFamily="34" charset="0"/>
                <a:ea typeface="Calibri" pitchFamily="34" charset="-122"/>
                <a:cs typeface="Calibri" pitchFamily="34" charset="-120"/>
              </a:rPr>
              <a:t>20 pts</a:t>
            </a:r>
            <a:endParaRPr lang="en-US" sz="900" dirty="0"/>
          </a:p>
        </p:txBody>
      </p:sp>
      <p:sp>
        <p:nvSpPr>
          <p:cNvPr id="19" name="Text 15"/>
          <p:cNvSpPr/>
          <p:nvPr/>
        </p:nvSpPr>
        <p:spPr>
          <a:xfrm>
            <a:off x="4114800" y="1600200"/>
            <a:ext cx="4297680" cy="548640"/>
          </a:xfrm>
          <a:prstGeom prst="rect">
            <a:avLst/>
          </a:prstGeom>
          <a:noFill/>
          <a:ln/>
        </p:spPr>
        <p:txBody>
          <a:bodyPr wrap="square"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Assumption-based user profile for our coaching staff persona</a:t>
            </a:r>
            <a:endParaRPr lang="en-US" sz="1100" dirty="0"/>
          </a:p>
        </p:txBody>
      </p:sp>
      <p:sp>
        <p:nvSpPr>
          <p:cNvPr id="20" name="Shape 16"/>
          <p:cNvSpPr/>
          <p:nvPr/>
        </p:nvSpPr>
        <p:spPr>
          <a:xfrm>
            <a:off x="548640" y="2240280"/>
            <a:ext cx="8046720" cy="5486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1" name="Shape 17"/>
          <p:cNvSpPr/>
          <p:nvPr/>
        </p:nvSpPr>
        <p:spPr>
          <a:xfrm>
            <a:off x="548640" y="2240280"/>
            <a:ext cx="54864" cy="548640"/>
          </a:xfrm>
          <a:prstGeom prst="rect">
            <a:avLst/>
          </a:prstGeom>
          <a:solidFill>
            <a:srgbClr val="0D9488"/>
          </a:solidFill>
          <a:ln/>
        </p:spPr>
      </p:sp>
      <p:sp>
        <p:nvSpPr>
          <p:cNvPr id="22" name="Text 18"/>
          <p:cNvSpPr/>
          <p:nvPr/>
        </p:nvSpPr>
        <p:spPr>
          <a:xfrm>
            <a:off x="731520" y="2240280"/>
            <a:ext cx="365760" cy="548640"/>
          </a:xfrm>
          <a:prstGeom prst="rect">
            <a:avLst/>
          </a:prstGeom>
          <a:noFill/>
          <a:ln/>
        </p:spPr>
        <p:txBody>
          <a:bodyPr wrap="square" rtlCol="0" anchor="ctr"/>
          <a:lstStyle/>
          <a:p>
            <a:pPr algn="ctr" indent="0" marL="0">
              <a:buNone/>
            </a:pPr>
            <a:r>
              <a:rPr lang="en-US" sz="1800" b="1" dirty="0">
                <a:solidFill>
                  <a:srgbClr val="0D9488"/>
                </a:solidFill>
                <a:latin typeface="Georgia" pitchFamily="34" charset="0"/>
                <a:ea typeface="Georgia" pitchFamily="34" charset="-122"/>
                <a:cs typeface="Georgia" pitchFamily="34" charset="-120"/>
              </a:rPr>
              <a:t>3</a:t>
            </a:r>
            <a:endParaRPr lang="en-US" sz="1800" dirty="0"/>
          </a:p>
        </p:txBody>
      </p:sp>
      <p:pic>
        <p:nvPicPr>
          <p:cNvPr id="23" name="Image 2" descr="preencoded.png">    </p:cNvPr>
          <p:cNvPicPr>
            <a:picLocks noChangeAspect="1"/>
          </p:cNvPicPr>
          <p:nvPr/>
        </p:nvPicPr>
        <p:blipFill>
          <a:blip r:embed="rId3"/>
          <a:stretch>
            <a:fillRect/>
          </a:stretch>
        </p:blipFill>
        <p:spPr>
          <a:xfrm>
            <a:off x="1188720" y="2350008"/>
            <a:ext cx="320040" cy="320040"/>
          </a:xfrm>
          <a:prstGeom prst="rect">
            <a:avLst/>
          </a:prstGeom>
        </p:spPr>
      </p:pic>
      <p:sp>
        <p:nvSpPr>
          <p:cNvPr id="24" name="Text 19"/>
          <p:cNvSpPr/>
          <p:nvPr/>
        </p:nvSpPr>
        <p:spPr>
          <a:xfrm>
            <a:off x="1645920" y="2240280"/>
            <a:ext cx="2743200" cy="320040"/>
          </a:xfrm>
          <a:prstGeom prst="rect">
            <a:avLst/>
          </a:prstGeom>
          <a:noFill/>
          <a:ln/>
        </p:spPr>
        <p:txBody>
          <a:bodyPr wrap="square" lIns="0" tIns="0" rIns="0" bIns="0" rtlCol="0" anchor="b"/>
          <a:lstStyle/>
          <a:p>
            <a:pPr algn="l" indent="0" marL="0">
              <a:buNone/>
            </a:pPr>
            <a:r>
              <a:rPr lang="en-US" sz="1400" b="1" dirty="0">
                <a:solidFill>
                  <a:srgbClr val="1E293B"/>
                </a:solidFill>
                <a:latin typeface="Calibri" pitchFamily="34" charset="0"/>
                <a:ea typeface="Calibri" pitchFamily="34" charset="-122"/>
                <a:cs typeface="Calibri" pitchFamily="34" charset="-120"/>
              </a:rPr>
              <a:t>Usability Targets</a:t>
            </a:r>
            <a:endParaRPr lang="en-US" sz="1400" dirty="0"/>
          </a:p>
        </p:txBody>
      </p:sp>
      <p:sp>
        <p:nvSpPr>
          <p:cNvPr id="25" name="Text 20"/>
          <p:cNvSpPr/>
          <p:nvPr/>
        </p:nvSpPr>
        <p:spPr>
          <a:xfrm>
            <a:off x="1645920" y="2514600"/>
            <a:ext cx="914400" cy="228600"/>
          </a:xfrm>
          <a:prstGeom prst="rect">
            <a:avLst/>
          </a:prstGeom>
          <a:noFill/>
          <a:ln/>
        </p:spPr>
        <p:txBody>
          <a:bodyPr wrap="square" lIns="0" tIns="0" rIns="0" bIns="0" rtlCol="0" anchor="t"/>
          <a:lstStyle/>
          <a:p>
            <a:pPr algn="l" indent="0" marL="0">
              <a:buNone/>
            </a:pPr>
            <a:r>
              <a:rPr lang="en-US" sz="900" b="1" dirty="0">
                <a:solidFill>
                  <a:srgbClr val="E57200"/>
                </a:solidFill>
                <a:latin typeface="Calibri" pitchFamily="34" charset="0"/>
                <a:ea typeface="Calibri" pitchFamily="34" charset="-122"/>
                <a:cs typeface="Calibri" pitchFamily="34" charset="-120"/>
              </a:rPr>
              <a:t>20 pts</a:t>
            </a:r>
            <a:endParaRPr lang="en-US" sz="900" dirty="0"/>
          </a:p>
        </p:txBody>
      </p:sp>
      <p:sp>
        <p:nvSpPr>
          <p:cNvPr id="26" name="Text 21"/>
          <p:cNvSpPr/>
          <p:nvPr/>
        </p:nvSpPr>
        <p:spPr>
          <a:xfrm>
            <a:off x="4114800" y="2240280"/>
            <a:ext cx="4297680" cy="548640"/>
          </a:xfrm>
          <a:prstGeom prst="rect">
            <a:avLst/>
          </a:prstGeom>
          <a:noFill/>
          <a:ln/>
        </p:spPr>
        <p:txBody>
          <a:bodyPr wrap="square"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ISO metrics + Five Components with measurable thresholds</a:t>
            </a:r>
            <a:endParaRPr lang="en-US" sz="1100" dirty="0"/>
          </a:p>
        </p:txBody>
      </p:sp>
      <p:sp>
        <p:nvSpPr>
          <p:cNvPr id="27" name="Shape 22"/>
          <p:cNvSpPr/>
          <p:nvPr/>
        </p:nvSpPr>
        <p:spPr>
          <a:xfrm>
            <a:off x="548640" y="2880360"/>
            <a:ext cx="8046720" cy="5486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8" name="Shape 23"/>
          <p:cNvSpPr/>
          <p:nvPr/>
        </p:nvSpPr>
        <p:spPr>
          <a:xfrm>
            <a:off x="548640" y="2880360"/>
            <a:ext cx="54864" cy="548640"/>
          </a:xfrm>
          <a:prstGeom prst="rect">
            <a:avLst/>
          </a:prstGeom>
          <a:solidFill>
            <a:srgbClr val="D97706"/>
          </a:solidFill>
          <a:ln/>
        </p:spPr>
      </p:sp>
      <p:sp>
        <p:nvSpPr>
          <p:cNvPr id="29" name="Text 24"/>
          <p:cNvSpPr/>
          <p:nvPr/>
        </p:nvSpPr>
        <p:spPr>
          <a:xfrm>
            <a:off x="731520" y="2880360"/>
            <a:ext cx="365760" cy="548640"/>
          </a:xfrm>
          <a:prstGeom prst="rect">
            <a:avLst/>
          </a:prstGeom>
          <a:noFill/>
          <a:ln/>
        </p:spPr>
        <p:txBody>
          <a:bodyPr wrap="square" rtlCol="0" anchor="ctr"/>
          <a:lstStyle/>
          <a:p>
            <a:pPr algn="ctr" indent="0" marL="0">
              <a:buNone/>
            </a:pPr>
            <a:r>
              <a:rPr lang="en-US" sz="1800" b="1" dirty="0">
                <a:solidFill>
                  <a:srgbClr val="D97706"/>
                </a:solidFill>
                <a:latin typeface="Georgia" pitchFamily="34" charset="0"/>
                <a:ea typeface="Georgia" pitchFamily="34" charset="-122"/>
                <a:cs typeface="Georgia" pitchFamily="34" charset="-120"/>
              </a:rPr>
              <a:t>4</a:t>
            </a:r>
            <a:endParaRPr lang="en-US" sz="1800" dirty="0"/>
          </a:p>
        </p:txBody>
      </p:sp>
      <p:pic>
        <p:nvPicPr>
          <p:cNvPr id="30" name="Image 3" descr="preencoded.png">    </p:cNvPr>
          <p:cNvPicPr>
            <a:picLocks noChangeAspect="1"/>
          </p:cNvPicPr>
          <p:nvPr/>
        </p:nvPicPr>
        <p:blipFill>
          <a:blip r:embed="rId4"/>
          <a:stretch>
            <a:fillRect/>
          </a:stretch>
        </p:blipFill>
        <p:spPr>
          <a:xfrm>
            <a:off x="1188720" y="2990088"/>
            <a:ext cx="320040" cy="320040"/>
          </a:xfrm>
          <a:prstGeom prst="rect">
            <a:avLst/>
          </a:prstGeom>
        </p:spPr>
      </p:pic>
      <p:sp>
        <p:nvSpPr>
          <p:cNvPr id="31" name="Text 25"/>
          <p:cNvSpPr/>
          <p:nvPr/>
        </p:nvSpPr>
        <p:spPr>
          <a:xfrm>
            <a:off x="1645920" y="2880360"/>
            <a:ext cx="2743200" cy="320040"/>
          </a:xfrm>
          <a:prstGeom prst="rect">
            <a:avLst/>
          </a:prstGeom>
          <a:noFill/>
          <a:ln/>
        </p:spPr>
        <p:txBody>
          <a:bodyPr wrap="square" lIns="0" tIns="0" rIns="0" bIns="0" rtlCol="0" anchor="b"/>
          <a:lstStyle/>
          <a:p>
            <a:pPr algn="l" indent="0" marL="0">
              <a:buNone/>
            </a:pPr>
            <a:r>
              <a:rPr lang="en-US" sz="1400" b="1" dirty="0">
                <a:solidFill>
                  <a:srgbClr val="1E293B"/>
                </a:solidFill>
                <a:latin typeface="Calibri" pitchFamily="34" charset="0"/>
                <a:ea typeface="Calibri" pitchFamily="34" charset="-122"/>
                <a:cs typeface="Calibri" pitchFamily="34" charset="-120"/>
              </a:rPr>
              <a:t>Core Design Principles</a:t>
            </a:r>
            <a:endParaRPr lang="en-US" sz="1400" dirty="0"/>
          </a:p>
        </p:txBody>
      </p:sp>
      <p:sp>
        <p:nvSpPr>
          <p:cNvPr id="32" name="Text 26"/>
          <p:cNvSpPr/>
          <p:nvPr/>
        </p:nvSpPr>
        <p:spPr>
          <a:xfrm>
            <a:off x="1645920" y="3154680"/>
            <a:ext cx="914400" cy="228600"/>
          </a:xfrm>
          <a:prstGeom prst="rect">
            <a:avLst/>
          </a:prstGeom>
          <a:noFill/>
          <a:ln/>
        </p:spPr>
        <p:txBody>
          <a:bodyPr wrap="square" lIns="0" tIns="0" rIns="0" bIns="0" rtlCol="0" anchor="t"/>
          <a:lstStyle/>
          <a:p>
            <a:pPr algn="l" indent="0" marL="0">
              <a:buNone/>
            </a:pPr>
            <a:r>
              <a:rPr lang="en-US" sz="900" b="1" dirty="0">
                <a:solidFill>
                  <a:srgbClr val="E57200"/>
                </a:solidFill>
                <a:latin typeface="Calibri" pitchFamily="34" charset="0"/>
                <a:ea typeface="Calibri" pitchFamily="34" charset="-122"/>
                <a:cs typeface="Calibri" pitchFamily="34" charset="-120"/>
              </a:rPr>
              <a:t>15 pts</a:t>
            </a:r>
            <a:endParaRPr lang="en-US" sz="900" dirty="0"/>
          </a:p>
        </p:txBody>
      </p:sp>
      <p:sp>
        <p:nvSpPr>
          <p:cNvPr id="33" name="Text 27"/>
          <p:cNvSpPr/>
          <p:nvPr/>
        </p:nvSpPr>
        <p:spPr>
          <a:xfrm>
            <a:off x="4114800" y="2880360"/>
            <a:ext cx="4297680" cy="548640"/>
          </a:xfrm>
          <a:prstGeom prst="rect">
            <a:avLst/>
          </a:prstGeom>
          <a:noFill/>
          <a:ln/>
        </p:spPr>
        <p:txBody>
          <a:bodyPr wrap="square"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5 principles connecting persona needs to design decisions</a:t>
            </a:r>
            <a:endParaRPr lang="en-US" sz="1100" dirty="0"/>
          </a:p>
        </p:txBody>
      </p:sp>
      <p:sp>
        <p:nvSpPr>
          <p:cNvPr id="34" name="Shape 28"/>
          <p:cNvSpPr/>
          <p:nvPr/>
        </p:nvSpPr>
        <p:spPr>
          <a:xfrm>
            <a:off x="548640" y="3520440"/>
            <a:ext cx="8046720" cy="5486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35" name="Shape 29"/>
          <p:cNvSpPr/>
          <p:nvPr/>
        </p:nvSpPr>
        <p:spPr>
          <a:xfrm>
            <a:off x="548640" y="3520440"/>
            <a:ext cx="54864" cy="548640"/>
          </a:xfrm>
          <a:prstGeom prst="rect">
            <a:avLst/>
          </a:prstGeom>
          <a:solidFill>
            <a:srgbClr val="2563EB"/>
          </a:solidFill>
          <a:ln/>
        </p:spPr>
      </p:sp>
      <p:sp>
        <p:nvSpPr>
          <p:cNvPr id="36" name="Text 30"/>
          <p:cNvSpPr/>
          <p:nvPr/>
        </p:nvSpPr>
        <p:spPr>
          <a:xfrm>
            <a:off x="731520" y="3520440"/>
            <a:ext cx="365760" cy="548640"/>
          </a:xfrm>
          <a:prstGeom prst="rect">
            <a:avLst/>
          </a:prstGeom>
          <a:noFill/>
          <a:ln/>
        </p:spPr>
        <p:txBody>
          <a:bodyPr wrap="square" rtlCol="0" anchor="ctr"/>
          <a:lstStyle/>
          <a:p>
            <a:pPr algn="ctr" indent="0" marL="0">
              <a:buNone/>
            </a:pPr>
            <a:r>
              <a:rPr lang="en-US" sz="1800" b="1" dirty="0">
                <a:solidFill>
                  <a:srgbClr val="2563EB"/>
                </a:solidFill>
                <a:latin typeface="Georgia" pitchFamily="34" charset="0"/>
                <a:ea typeface="Georgia" pitchFamily="34" charset="-122"/>
                <a:cs typeface="Georgia" pitchFamily="34" charset="-120"/>
              </a:rPr>
              <a:t>5</a:t>
            </a:r>
            <a:endParaRPr lang="en-US" sz="1800" dirty="0"/>
          </a:p>
        </p:txBody>
      </p:sp>
      <p:pic>
        <p:nvPicPr>
          <p:cNvPr id="37" name="Image 4" descr="preencoded.png">    </p:cNvPr>
          <p:cNvPicPr>
            <a:picLocks noChangeAspect="1"/>
          </p:cNvPicPr>
          <p:nvPr/>
        </p:nvPicPr>
        <p:blipFill>
          <a:blip r:embed="rId5"/>
          <a:stretch>
            <a:fillRect/>
          </a:stretch>
        </p:blipFill>
        <p:spPr>
          <a:xfrm>
            <a:off x="1188720" y="3630168"/>
            <a:ext cx="320040" cy="320040"/>
          </a:xfrm>
          <a:prstGeom prst="rect">
            <a:avLst/>
          </a:prstGeom>
        </p:spPr>
      </p:pic>
      <p:sp>
        <p:nvSpPr>
          <p:cNvPr id="38" name="Text 31"/>
          <p:cNvSpPr/>
          <p:nvPr/>
        </p:nvSpPr>
        <p:spPr>
          <a:xfrm>
            <a:off x="1645920" y="3520440"/>
            <a:ext cx="2743200" cy="320040"/>
          </a:xfrm>
          <a:prstGeom prst="rect">
            <a:avLst/>
          </a:prstGeom>
          <a:noFill/>
          <a:ln/>
        </p:spPr>
        <p:txBody>
          <a:bodyPr wrap="square" lIns="0" tIns="0" rIns="0" bIns="0" rtlCol="0" anchor="b"/>
          <a:lstStyle/>
          <a:p>
            <a:pPr algn="l" indent="0" marL="0">
              <a:buNone/>
            </a:pPr>
            <a:r>
              <a:rPr lang="en-US" sz="1400" b="1" dirty="0">
                <a:solidFill>
                  <a:srgbClr val="1E293B"/>
                </a:solidFill>
                <a:latin typeface="Calibri" pitchFamily="34" charset="0"/>
                <a:ea typeface="Calibri" pitchFamily="34" charset="-122"/>
                <a:cs typeface="Calibri" pitchFamily="34" charset="-120"/>
              </a:rPr>
              <a:t>Heuristic Evaluation</a:t>
            </a:r>
            <a:endParaRPr lang="en-US" sz="1400" dirty="0"/>
          </a:p>
        </p:txBody>
      </p:sp>
      <p:sp>
        <p:nvSpPr>
          <p:cNvPr id="39" name="Text 32"/>
          <p:cNvSpPr/>
          <p:nvPr/>
        </p:nvSpPr>
        <p:spPr>
          <a:xfrm>
            <a:off x="1645920" y="3794760"/>
            <a:ext cx="914400" cy="228600"/>
          </a:xfrm>
          <a:prstGeom prst="rect">
            <a:avLst/>
          </a:prstGeom>
          <a:noFill/>
          <a:ln/>
        </p:spPr>
        <p:txBody>
          <a:bodyPr wrap="square" lIns="0" tIns="0" rIns="0" bIns="0" rtlCol="0" anchor="t"/>
          <a:lstStyle/>
          <a:p>
            <a:pPr algn="l" indent="0" marL="0">
              <a:buNone/>
            </a:pPr>
            <a:r>
              <a:rPr lang="en-US" sz="900" b="1" dirty="0">
                <a:solidFill>
                  <a:srgbClr val="E57200"/>
                </a:solidFill>
                <a:latin typeface="Calibri" pitchFamily="34" charset="0"/>
                <a:ea typeface="Calibri" pitchFamily="34" charset="-122"/>
                <a:cs typeface="Calibri" pitchFamily="34" charset="-120"/>
              </a:rPr>
              <a:t>10 pts</a:t>
            </a:r>
            <a:endParaRPr lang="en-US" sz="900" dirty="0"/>
          </a:p>
        </p:txBody>
      </p:sp>
      <p:sp>
        <p:nvSpPr>
          <p:cNvPr id="40" name="Text 33"/>
          <p:cNvSpPr/>
          <p:nvPr/>
        </p:nvSpPr>
        <p:spPr>
          <a:xfrm>
            <a:off x="4114800" y="3520440"/>
            <a:ext cx="4297680" cy="548640"/>
          </a:xfrm>
          <a:prstGeom prst="rect">
            <a:avLst/>
          </a:prstGeom>
          <a:noFill/>
          <a:ln/>
        </p:spPr>
        <p:txBody>
          <a:bodyPr wrap="square"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Nielsen's 10 heuristics applied to a comparable interface</a:t>
            </a:r>
            <a:endParaRPr lang="en-US" sz="1100" dirty="0"/>
          </a:p>
        </p:txBody>
      </p:sp>
      <p:sp>
        <p:nvSpPr>
          <p:cNvPr id="41" name="Shape 34"/>
          <p:cNvSpPr/>
          <p:nvPr/>
        </p:nvSpPr>
        <p:spPr>
          <a:xfrm>
            <a:off x="548640" y="4160520"/>
            <a:ext cx="8046720" cy="5486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42" name="Shape 35"/>
          <p:cNvSpPr/>
          <p:nvPr/>
        </p:nvSpPr>
        <p:spPr>
          <a:xfrm>
            <a:off x="548640" y="4160520"/>
            <a:ext cx="54864" cy="548640"/>
          </a:xfrm>
          <a:prstGeom prst="rect">
            <a:avLst/>
          </a:prstGeom>
          <a:solidFill>
            <a:srgbClr val="7C3AED"/>
          </a:solidFill>
          <a:ln/>
        </p:spPr>
      </p:sp>
      <p:sp>
        <p:nvSpPr>
          <p:cNvPr id="43" name="Text 36"/>
          <p:cNvSpPr/>
          <p:nvPr/>
        </p:nvSpPr>
        <p:spPr>
          <a:xfrm>
            <a:off x="731520" y="4160520"/>
            <a:ext cx="365760" cy="548640"/>
          </a:xfrm>
          <a:prstGeom prst="rect">
            <a:avLst/>
          </a:prstGeom>
          <a:noFill/>
          <a:ln/>
        </p:spPr>
        <p:txBody>
          <a:bodyPr wrap="square" rtlCol="0" anchor="ctr"/>
          <a:lstStyle/>
          <a:p>
            <a:pPr algn="ctr" indent="0" marL="0">
              <a:buNone/>
            </a:pPr>
            <a:r>
              <a:rPr lang="en-US" sz="1800" b="1" dirty="0">
                <a:solidFill>
                  <a:srgbClr val="7C3AED"/>
                </a:solidFill>
                <a:latin typeface="Georgia" pitchFamily="34" charset="0"/>
                <a:ea typeface="Georgia" pitchFamily="34" charset="-122"/>
                <a:cs typeface="Georgia" pitchFamily="34" charset="-120"/>
              </a:rPr>
              <a:t>6</a:t>
            </a:r>
            <a:endParaRPr lang="en-US" sz="1800" dirty="0"/>
          </a:p>
        </p:txBody>
      </p:sp>
      <p:pic>
        <p:nvPicPr>
          <p:cNvPr id="44" name="Image 5" descr="preencoded.png">    </p:cNvPr>
          <p:cNvPicPr>
            <a:picLocks noChangeAspect="1"/>
          </p:cNvPicPr>
          <p:nvPr/>
        </p:nvPicPr>
        <p:blipFill>
          <a:blip r:embed="rId6"/>
          <a:stretch>
            <a:fillRect/>
          </a:stretch>
        </p:blipFill>
        <p:spPr>
          <a:xfrm>
            <a:off x="1188720" y="4270248"/>
            <a:ext cx="320040" cy="320040"/>
          </a:xfrm>
          <a:prstGeom prst="rect">
            <a:avLst/>
          </a:prstGeom>
        </p:spPr>
      </p:pic>
      <p:sp>
        <p:nvSpPr>
          <p:cNvPr id="45" name="Text 37"/>
          <p:cNvSpPr/>
          <p:nvPr/>
        </p:nvSpPr>
        <p:spPr>
          <a:xfrm>
            <a:off x="1645920" y="4160520"/>
            <a:ext cx="2743200" cy="320040"/>
          </a:xfrm>
          <a:prstGeom prst="rect">
            <a:avLst/>
          </a:prstGeom>
          <a:noFill/>
          <a:ln/>
        </p:spPr>
        <p:txBody>
          <a:bodyPr wrap="square" lIns="0" tIns="0" rIns="0" bIns="0" rtlCol="0" anchor="b"/>
          <a:lstStyle/>
          <a:p>
            <a:pPr algn="l" indent="0" marL="0">
              <a:buNone/>
            </a:pPr>
            <a:r>
              <a:rPr lang="en-US" sz="1400" b="1" dirty="0">
                <a:solidFill>
                  <a:srgbClr val="1E293B"/>
                </a:solidFill>
                <a:latin typeface="Calibri" pitchFamily="34" charset="0"/>
                <a:ea typeface="Calibri" pitchFamily="34" charset="-122"/>
                <a:cs typeface="Calibri" pitchFamily="34" charset="-120"/>
              </a:rPr>
              <a:t>Usability Test Plan</a:t>
            </a:r>
            <a:endParaRPr lang="en-US" sz="1400" dirty="0"/>
          </a:p>
        </p:txBody>
      </p:sp>
      <p:sp>
        <p:nvSpPr>
          <p:cNvPr id="46" name="Text 38"/>
          <p:cNvSpPr/>
          <p:nvPr/>
        </p:nvSpPr>
        <p:spPr>
          <a:xfrm>
            <a:off x="1645920" y="4434840"/>
            <a:ext cx="914400" cy="228600"/>
          </a:xfrm>
          <a:prstGeom prst="rect">
            <a:avLst/>
          </a:prstGeom>
          <a:noFill/>
          <a:ln/>
        </p:spPr>
        <p:txBody>
          <a:bodyPr wrap="square" lIns="0" tIns="0" rIns="0" bIns="0" rtlCol="0" anchor="t"/>
          <a:lstStyle/>
          <a:p>
            <a:pPr algn="l" indent="0" marL="0">
              <a:buNone/>
            </a:pPr>
            <a:r>
              <a:rPr lang="en-US" sz="900" b="1" dirty="0">
                <a:solidFill>
                  <a:srgbClr val="E57200"/>
                </a:solidFill>
                <a:latin typeface="Calibri" pitchFamily="34" charset="0"/>
                <a:ea typeface="Calibri" pitchFamily="34" charset="-122"/>
                <a:cs typeface="Calibri" pitchFamily="34" charset="-120"/>
              </a:rPr>
              <a:t>15 pts</a:t>
            </a:r>
            <a:endParaRPr lang="en-US" sz="900" dirty="0"/>
          </a:p>
        </p:txBody>
      </p:sp>
      <p:sp>
        <p:nvSpPr>
          <p:cNvPr id="47" name="Text 39"/>
          <p:cNvSpPr/>
          <p:nvPr/>
        </p:nvSpPr>
        <p:spPr>
          <a:xfrm>
            <a:off x="4114800" y="4160520"/>
            <a:ext cx="4297680" cy="548640"/>
          </a:xfrm>
          <a:prstGeom prst="rect">
            <a:avLst/>
          </a:prstGeom>
          <a:noFill/>
          <a:ln/>
        </p:spPr>
        <p:txBody>
          <a:bodyPr wrap="square" rtlCol="0" anchor="ctr"/>
          <a:lstStyle/>
          <a:p>
            <a:pPr algn="l" indent="0" marL="0">
              <a:buNone/>
            </a:pPr>
            <a:r>
              <a:rPr lang="en-US" sz="1100" dirty="0">
                <a:solidFill>
                  <a:srgbClr val="475569"/>
                </a:solidFill>
                <a:latin typeface="Calibri" pitchFamily="34" charset="0"/>
                <a:ea typeface="Calibri" pitchFamily="34" charset="-122"/>
                <a:cs typeface="Calibri" pitchFamily="34" charset="-120"/>
              </a:rPr>
              <a:t>3 task scenarios + A/B test plan with metrics</a:t>
            </a:r>
            <a:endParaRPr lang="en-US" sz="1100" dirty="0"/>
          </a:p>
        </p:txBody>
      </p:sp>
      <p:sp>
        <p:nvSpPr>
          <p:cNvPr id="48" name="Shape 40"/>
          <p:cNvSpPr/>
          <p:nvPr/>
        </p:nvSpPr>
        <p:spPr>
          <a:xfrm>
            <a:off x="3200400" y="4709160"/>
            <a:ext cx="2743200" cy="320040"/>
          </a:xfrm>
          <a:prstGeom prst="rect">
            <a:avLst/>
          </a:prstGeom>
          <a:solidFill>
            <a:srgbClr val="232D4B"/>
          </a:solidFill>
          <a:ln/>
        </p:spPr>
      </p:sp>
      <p:sp>
        <p:nvSpPr>
          <p:cNvPr id="49" name="Text 41"/>
          <p:cNvSpPr/>
          <p:nvPr/>
        </p:nvSpPr>
        <p:spPr>
          <a:xfrm>
            <a:off x="3200400" y="4709160"/>
            <a:ext cx="2743200" cy="320040"/>
          </a:xfrm>
          <a:prstGeom prst="rect">
            <a:avLst/>
          </a:prstGeom>
          <a:noFill/>
          <a:ln/>
        </p:spPr>
        <p:txBody>
          <a:bodyPr wrap="square" rtlCol="0" anchor="ctr"/>
          <a:lstStyle/>
          <a:p>
            <a:pPr algn="ctr" indent="0" marL="0">
              <a:buNone/>
            </a:pPr>
            <a:r>
              <a:rPr lang="en-US" sz="1100" b="1" spc="200" kern="0" dirty="0">
                <a:solidFill>
                  <a:srgbClr val="FFFFFF"/>
                </a:solidFill>
                <a:latin typeface="Calibri" pitchFamily="34" charset="0"/>
                <a:ea typeface="Calibri" pitchFamily="34" charset="-122"/>
                <a:cs typeface="Calibri" pitchFamily="34" charset="-120"/>
              </a:rPr>
              <a:t>TOTAL: 100 POINTS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640080" y="1463040"/>
            <a:ext cx="1097280" cy="1097280"/>
          </a:xfrm>
          <a:prstGeom prst="ellipse">
            <a:avLst/>
          </a:prstGeom>
          <a:solidFill>
            <a:srgbClr val="E57200"/>
          </a:solidFill>
          <a:ln/>
        </p:spPr>
      </p:sp>
      <p:sp>
        <p:nvSpPr>
          <p:cNvPr id="3" name="Text 1"/>
          <p:cNvSpPr/>
          <p:nvPr/>
        </p:nvSpPr>
        <p:spPr>
          <a:xfrm>
            <a:off x="640080" y="1463040"/>
            <a:ext cx="109728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4" name="Text 2"/>
          <p:cNvSpPr/>
          <p:nvPr/>
        </p:nvSpPr>
        <p:spPr>
          <a:xfrm>
            <a:off x="2011680" y="1280160"/>
            <a:ext cx="6400800" cy="7315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Product Overview</a:t>
            </a:r>
            <a:endParaRPr lang="en-US" sz="3600" dirty="0"/>
          </a:p>
        </p:txBody>
      </p:sp>
      <p:sp>
        <p:nvSpPr>
          <p:cNvPr id="5" name="Text 3"/>
          <p:cNvSpPr/>
          <p:nvPr/>
        </p:nvSpPr>
        <p:spPr>
          <a:xfrm>
            <a:off x="2011680" y="2011680"/>
            <a:ext cx="6400800" cy="548640"/>
          </a:xfrm>
          <a:prstGeom prst="rect">
            <a:avLst/>
          </a:prstGeom>
          <a:noFill/>
          <a:ln/>
        </p:spPr>
        <p:txBody>
          <a:bodyPr wrap="square" rtlCol="0" anchor="t"/>
          <a:lstStyle/>
          <a:p>
            <a:pPr algn="l" indent="0" marL="0">
              <a:buNone/>
            </a:pPr>
            <a:r>
              <a:rPr lang="en-US" sz="1400" dirty="0">
                <a:solidFill>
                  <a:srgbClr val="94A3B8"/>
                </a:solidFill>
                <a:latin typeface="Calibri" pitchFamily="34" charset="0"/>
                <a:ea typeface="Calibri" pitchFamily="34" charset="-122"/>
                <a:cs typeface="Calibri" pitchFamily="34" charset="-120"/>
              </a:rPr>
              <a:t>Project Concept Statement + Concept Narrative  |  20 pts</a:t>
            </a:r>
            <a:endParaRPr lang="en-US" sz="1400" dirty="0"/>
          </a:p>
        </p:txBody>
      </p:sp>
      <p:sp>
        <p:nvSpPr>
          <p:cNvPr id="6" name="Shape 4"/>
          <p:cNvSpPr/>
          <p:nvPr/>
        </p:nvSpPr>
        <p:spPr>
          <a:xfrm>
            <a:off x="0" y="4800600"/>
            <a:ext cx="9144000" cy="342900"/>
          </a:xfrm>
          <a:prstGeom prst="rect">
            <a:avLst/>
          </a:prstGeom>
          <a:solidFill>
            <a:srgbClr val="E5720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Part A: Project Concept Statement</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48640" y="868680"/>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713232"/>
          </a:xfrm>
          <a:prstGeom prst="rect">
            <a:avLst/>
          </a:prstGeom>
          <a:solidFill>
            <a:srgbClr val="E57200"/>
          </a:solidFill>
          <a:ln/>
        </p:spPr>
      </p:sp>
      <p:pic>
        <p:nvPicPr>
          <p:cNvPr id="8" name="Image 0" descr="preencoded.png">    </p:cNvPr>
          <p:cNvPicPr>
            <a:picLocks noChangeAspect="1"/>
          </p:cNvPicPr>
          <p:nvPr/>
        </p:nvPicPr>
        <p:blipFill>
          <a:blip r:embed="rId1"/>
          <a:stretch>
            <a:fillRect/>
          </a:stretch>
        </p:blipFill>
        <p:spPr>
          <a:xfrm>
            <a:off x="749808" y="1024128"/>
            <a:ext cx="365760" cy="365760"/>
          </a:xfrm>
          <a:prstGeom prst="rect">
            <a:avLst/>
          </a:prstGeom>
        </p:spPr>
      </p:pic>
      <p:sp>
        <p:nvSpPr>
          <p:cNvPr id="9" name="Text 6"/>
          <p:cNvSpPr/>
          <p:nvPr/>
        </p:nvSpPr>
        <p:spPr>
          <a:xfrm>
            <a:off x="1234440" y="868680"/>
            <a:ext cx="1645920" cy="713232"/>
          </a:xfrm>
          <a:prstGeom prst="rect">
            <a:avLst/>
          </a:prstGeom>
          <a:noFill/>
          <a:ln/>
        </p:spPr>
        <p:txBody>
          <a:bodyPr wrap="square" rtlCol="0" anchor="ctr"/>
          <a:lstStyle/>
          <a:p>
            <a:pPr algn="l" indent="0" marL="0">
              <a:buNone/>
            </a:pPr>
            <a:r>
              <a:rPr lang="en-US" sz="900" b="1" spc="100" kern="0" dirty="0">
                <a:solidFill>
                  <a:srgbClr val="E57200"/>
                </a:solidFill>
                <a:latin typeface="Calibri" pitchFamily="34" charset="0"/>
                <a:ea typeface="Calibri" pitchFamily="34" charset="-122"/>
                <a:cs typeface="Calibri" pitchFamily="34" charset="-120"/>
              </a:rPr>
              <a:t>PRODUCT NAME</a:t>
            </a:r>
            <a:endParaRPr lang="en-US" sz="900" dirty="0"/>
          </a:p>
        </p:txBody>
      </p:sp>
      <p:sp>
        <p:nvSpPr>
          <p:cNvPr id="10" name="Text 7"/>
          <p:cNvSpPr/>
          <p:nvPr/>
        </p:nvSpPr>
        <p:spPr>
          <a:xfrm>
            <a:off x="2743200" y="868680"/>
            <a:ext cx="5669280" cy="713232"/>
          </a:xfrm>
          <a:prstGeom prst="rect">
            <a:avLst/>
          </a:prstGeom>
          <a:noFill/>
          <a:ln/>
        </p:spPr>
        <p:txBody>
          <a:bodyPr wrap="square"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LaxIQ — UVA Women's Lacrosse Analytics Dashboard</a:t>
            </a:r>
            <a:endParaRPr lang="en-US" sz="1100" dirty="0"/>
          </a:p>
        </p:txBody>
      </p:sp>
      <p:sp>
        <p:nvSpPr>
          <p:cNvPr id="11" name="Shape 8"/>
          <p:cNvSpPr/>
          <p:nvPr/>
        </p:nvSpPr>
        <p:spPr>
          <a:xfrm>
            <a:off x="548640" y="1673352"/>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2" name="Shape 9"/>
          <p:cNvSpPr/>
          <p:nvPr/>
        </p:nvSpPr>
        <p:spPr>
          <a:xfrm>
            <a:off x="548640" y="1673352"/>
            <a:ext cx="54864" cy="713232"/>
          </a:xfrm>
          <a:prstGeom prst="rect">
            <a:avLst/>
          </a:prstGeom>
          <a:solidFill>
            <a:srgbClr val="232D4B"/>
          </a:solidFill>
          <a:ln/>
        </p:spPr>
      </p:sp>
      <p:pic>
        <p:nvPicPr>
          <p:cNvPr id="13" name="Image 1" descr="preencoded.png">    </p:cNvPr>
          <p:cNvPicPr>
            <a:picLocks noChangeAspect="1"/>
          </p:cNvPicPr>
          <p:nvPr/>
        </p:nvPicPr>
        <p:blipFill>
          <a:blip r:embed="rId2"/>
          <a:stretch>
            <a:fillRect/>
          </a:stretch>
        </p:blipFill>
        <p:spPr>
          <a:xfrm>
            <a:off x="749808" y="1828800"/>
            <a:ext cx="365760" cy="365760"/>
          </a:xfrm>
          <a:prstGeom prst="rect">
            <a:avLst/>
          </a:prstGeom>
        </p:spPr>
      </p:pic>
      <p:sp>
        <p:nvSpPr>
          <p:cNvPr id="14" name="Text 10"/>
          <p:cNvSpPr/>
          <p:nvPr/>
        </p:nvSpPr>
        <p:spPr>
          <a:xfrm>
            <a:off x="1234440" y="1673352"/>
            <a:ext cx="1645920" cy="713232"/>
          </a:xfrm>
          <a:prstGeom prst="rect">
            <a:avLst/>
          </a:prstGeom>
          <a:noFill/>
          <a:ln/>
        </p:spPr>
        <p:txBody>
          <a:bodyPr wrap="square" rtlCol="0" anchor="ctr"/>
          <a:lstStyle/>
          <a:p>
            <a:pPr algn="l" indent="0" marL="0">
              <a:buNone/>
            </a:pPr>
            <a:r>
              <a:rPr lang="en-US" sz="900" b="1" spc="100" kern="0" dirty="0">
                <a:solidFill>
                  <a:srgbClr val="232D4B"/>
                </a:solidFill>
                <a:latin typeface="Calibri" pitchFamily="34" charset="0"/>
                <a:ea typeface="Calibri" pitchFamily="34" charset="-122"/>
                <a:cs typeface="Calibri" pitchFamily="34" charset="-120"/>
              </a:rPr>
              <a:t>TARGET USERS</a:t>
            </a:r>
            <a:endParaRPr lang="en-US" sz="900" dirty="0"/>
          </a:p>
        </p:txBody>
      </p:sp>
      <p:sp>
        <p:nvSpPr>
          <p:cNvPr id="15" name="Text 11"/>
          <p:cNvSpPr/>
          <p:nvPr/>
        </p:nvSpPr>
        <p:spPr>
          <a:xfrm>
            <a:off x="2743200" y="1673352"/>
            <a:ext cx="5669280" cy="713232"/>
          </a:xfrm>
          <a:prstGeom prst="rect">
            <a:avLst/>
          </a:prstGeom>
          <a:noFill/>
          <a:ln/>
        </p:spPr>
        <p:txBody>
          <a:bodyPr wrap="square"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Head coach, assistant coaches, and student analysts for the UVA Women's Lacrosse program who need post-game insights to inform strategy</a:t>
            </a:r>
            <a:endParaRPr lang="en-US" sz="1100" dirty="0"/>
          </a:p>
        </p:txBody>
      </p:sp>
      <p:sp>
        <p:nvSpPr>
          <p:cNvPr id="16" name="Shape 12"/>
          <p:cNvSpPr/>
          <p:nvPr/>
        </p:nvSpPr>
        <p:spPr>
          <a:xfrm>
            <a:off x="548640" y="2478024"/>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7" name="Shape 13"/>
          <p:cNvSpPr/>
          <p:nvPr/>
        </p:nvSpPr>
        <p:spPr>
          <a:xfrm>
            <a:off x="548640" y="2478024"/>
            <a:ext cx="54864" cy="713232"/>
          </a:xfrm>
          <a:prstGeom prst="rect">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749808" y="2633472"/>
            <a:ext cx="365760" cy="365760"/>
          </a:xfrm>
          <a:prstGeom prst="rect">
            <a:avLst/>
          </a:prstGeom>
        </p:spPr>
      </p:pic>
      <p:sp>
        <p:nvSpPr>
          <p:cNvPr id="19" name="Text 14"/>
          <p:cNvSpPr/>
          <p:nvPr/>
        </p:nvSpPr>
        <p:spPr>
          <a:xfrm>
            <a:off x="1234440" y="2478024"/>
            <a:ext cx="1645920" cy="713232"/>
          </a:xfrm>
          <a:prstGeom prst="rect">
            <a:avLst/>
          </a:prstGeom>
          <a:noFill/>
          <a:ln/>
        </p:spPr>
        <p:txBody>
          <a:bodyPr wrap="square" rtlCol="0" anchor="ctr"/>
          <a:lstStyle/>
          <a:p>
            <a:pPr algn="l" indent="0" marL="0">
              <a:buNone/>
            </a:pPr>
            <a:r>
              <a:rPr lang="en-US" sz="900" b="1" spc="100" kern="0" dirty="0">
                <a:solidFill>
                  <a:srgbClr val="0D9488"/>
                </a:solidFill>
                <a:latin typeface="Calibri" pitchFamily="34" charset="0"/>
                <a:ea typeface="Calibri" pitchFamily="34" charset="-122"/>
                <a:cs typeface="Calibri" pitchFamily="34" charset="-120"/>
              </a:rPr>
              <a:t>CORE USE</a:t>
            </a:r>
            <a:endParaRPr lang="en-US" sz="900" dirty="0"/>
          </a:p>
        </p:txBody>
      </p:sp>
      <p:sp>
        <p:nvSpPr>
          <p:cNvPr id="20" name="Text 15"/>
          <p:cNvSpPr/>
          <p:nvPr/>
        </p:nvSpPr>
        <p:spPr>
          <a:xfrm>
            <a:off x="2743200" y="2478024"/>
            <a:ext cx="5669280" cy="713232"/>
          </a:xfrm>
          <a:prstGeom prst="rect">
            <a:avLst/>
          </a:prstGeom>
          <a:noFill/>
          <a:ln/>
        </p:spPr>
        <p:txBody>
          <a:bodyPr wrap="square"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Transform raw box-score data from each game into interactive visual analytics — grades, player comparisons, win probability models, and trend analysis — so coaches can make data-driven decisions in film sessions and game prep</a:t>
            </a:r>
            <a:endParaRPr lang="en-US" sz="1100" dirty="0"/>
          </a:p>
        </p:txBody>
      </p:sp>
      <p:sp>
        <p:nvSpPr>
          <p:cNvPr id="21" name="Shape 16"/>
          <p:cNvSpPr/>
          <p:nvPr/>
        </p:nvSpPr>
        <p:spPr>
          <a:xfrm>
            <a:off x="548640" y="3282696"/>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2" name="Shape 17"/>
          <p:cNvSpPr/>
          <p:nvPr/>
        </p:nvSpPr>
        <p:spPr>
          <a:xfrm>
            <a:off x="548640" y="3282696"/>
            <a:ext cx="54864" cy="713232"/>
          </a:xfrm>
          <a:prstGeom prst="rect">
            <a:avLst/>
          </a:prstGeom>
          <a:solidFill>
            <a:srgbClr val="DC2626"/>
          </a:solidFill>
          <a:ln/>
        </p:spPr>
      </p:sp>
      <p:pic>
        <p:nvPicPr>
          <p:cNvPr id="23" name="Image 3" descr="preencoded.png">    </p:cNvPr>
          <p:cNvPicPr>
            <a:picLocks noChangeAspect="1"/>
          </p:cNvPicPr>
          <p:nvPr/>
        </p:nvPicPr>
        <p:blipFill>
          <a:blip r:embed="rId4"/>
          <a:stretch>
            <a:fillRect/>
          </a:stretch>
        </p:blipFill>
        <p:spPr>
          <a:xfrm>
            <a:off x="749808" y="3438144"/>
            <a:ext cx="365760" cy="365760"/>
          </a:xfrm>
          <a:prstGeom prst="rect">
            <a:avLst/>
          </a:prstGeom>
        </p:spPr>
      </p:pic>
      <p:sp>
        <p:nvSpPr>
          <p:cNvPr id="24" name="Text 18"/>
          <p:cNvSpPr/>
          <p:nvPr/>
        </p:nvSpPr>
        <p:spPr>
          <a:xfrm>
            <a:off x="1234440" y="3282696"/>
            <a:ext cx="1645920" cy="713232"/>
          </a:xfrm>
          <a:prstGeom prst="rect">
            <a:avLst/>
          </a:prstGeom>
          <a:noFill/>
          <a:ln/>
        </p:spPr>
        <p:txBody>
          <a:bodyPr wrap="square" rtlCol="0" anchor="ctr"/>
          <a:lstStyle/>
          <a:p>
            <a:pPr algn="l" indent="0" marL="0">
              <a:buNone/>
            </a:pPr>
            <a:r>
              <a:rPr lang="en-US" sz="900" b="1" spc="100" kern="0" dirty="0">
                <a:solidFill>
                  <a:srgbClr val="DC2626"/>
                </a:solidFill>
                <a:latin typeface="Calibri" pitchFamily="34" charset="0"/>
                <a:ea typeface="Calibri" pitchFamily="34" charset="-122"/>
                <a:cs typeface="Calibri" pitchFamily="34" charset="-120"/>
              </a:rPr>
              <a:t>PROBLEM SOLVED</a:t>
            </a:r>
            <a:endParaRPr lang="en-US" sz="900" dirty="0"/>
          </a:p>
        </p:txBody>
      </p:sp>
      <p:sp>
        <p:nvSpPr>
          <p:cNvPr id="25" name="Text 19"/>
          <p:cNvSpPr/>
          <p:nvPr/>
        </p:nvSpPr>
        <p:spPr>
          <a:xfrm>
            <a:off x="2743200" y="3282696"/>
            <a:ext cx="5669280" cy="713232"/>
          </a:xfrm>
          <a:prstGeom prst="rect">
            <a:avLst/>
          </a:prstGeom>
          <a:noFill/>
          <a:ln/>
        </p:spPr>
        <p:txBody>
          <a:bodyPr wrap="square"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Coaching staffs currently rely on static spreadsheets and manual review to evaluate performance; there is no centralized, interactive tool that synthesizes game data, highlights patterns, and surfaces actionable insights across an entire season</a:t>
            </a:r>
            <a:endParaRPr lang="en-US" sz="1100" dirty="0"/>
          </a:p>
        </p:txBody>
      </p:sp>
      <p:sp>
        <p:nvSpPr>
          <p:cNvPr id="26" name="Shape 20"/>
          <p:cNvSpPr/>
          <p:nvPr/>
        </p:nvSpPr>
        <p:spPr>
          <a:xfrm>
            <a:off x="548640" y="4087368"/>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7" name="Shape 21"/>
          <p:cNvSpPr/>
          <p:nvPr/>
        </p:nvSpPr>
        <p:spPr>
          <a:xfrm>
            <a:off x="548640" y="4087368"/>
            <a:ext cx="54864" cy="713232"/>
          </a:xfrm>
          <a:prstGeom prst="rect">
            <a:avLst/>
          </a:prstGeom>
          <a:solidFill>
            <a:srgbClr val="7C3AED"/>
          </a:solidFill>
          <a:ln/>
        </p:spPr>
      </p:sp>
      <p:pic>
        <p:nvPicPr>
          <p:cNvPr id="28" name="Image 4" descr="preencoded.png">    </p:cNvPr>
          <p:cNvPicPr>
            <a:picLocks noChangeAspect="1"/>
          </p:cNvPicPr>
          <p:nvPr/>
        </p:nvPicPr>
        <p:blipFill>
          <a:blip r:embed="rId5"/>
          <a:stretch>
            <a:fillRect/>
          </a:stretch>
        </p:blipFill>
        <p:spPr>
          <a:xfrm>
            <a:off x="749808" y="4242816"/>
            <a:ext cx="365760" cy="365760"/>
          </a:xfrm>
          <a:prstGeom prst="rect">
            <a:avLst/>
          </a:prstGeom>
        </p:spPr>
      </p:pic>
      <p:sp>
        <p:nvSpPr>
          <p:cNvPr id="29" name="Text 22"/>
          <p:cNvSpPr/>
          <p:nvPr/>
        </p:nvSpPr>
        <p:spPr>
          <a:xfrm>
            <a:off x="1234440" y="4087368"/>
            <a:ext cx="1645920" cy="713232"/>
          </a:xfrm>
          <a:prstGeom prst="rect">
            <a:avLst/>
          </a:prstGeom>
          <a:noFill/>
          <a:ln/>
        </p:spPr>
        <p:txBody>
          <a:bodyPr wrap="square" rtlCol="0" anchor="ctr"/>
          <a:lstStyle/>
          <a:p>
            <a:pPr algn="l" indent="0" marL="0">
              <a:buNone/>
            </a:pPr>
            <a:r>
              <a:rPr lang="en-US" sz="900" b="1" spc="100" kern="0" dirty="0">
                <a:solidFill>
                  <a:srgbClr val="7C3AED"/>
                </a:solidFill>
                <a:latin typeface="Calibri" pitchFamily="34" charset="0"/>
                <a:ea typeface="Calibri" pitchFamily="34" charset="-122"/>
                <a:cs typeface="Calibri" pitchFamily="34" charset="-120"/>
              </a:rPr>
              <a:t>DESIGN VISION</a:t>
            </a:r>
            <a:endParaRPr lang="en-US" sz="900" dirty="0"/>
          </a:p>
        </p:txBody>
      </p:sp>
      <p:sp>
        <p:nvSpPr>
          <p:cNvPr id="30" name="Text 23"/>
          <p:cNvSpPr/>
          <p:nvPr/>
        </p:nvSpPr>
        <p:spPr>
          <a:xfrm>
            <a:off x="2743200" y="4087368"/>
            <a:ext cx="5669280" cy="713232"/>
          </a:xfrm>
          <a:prstGeom prst="rect">
            <a:avLst/>
          </a:prstGeom>
          <a:noFill/>
          <a:ln/>
        </p:spPr>
        <p:txBody>
          <a:bodyPr wrap="square" rtlCol="0" anchor="ctr"/>
          <a:lstStyle/>
          <a:p>
            <a:pPr algn="l" indent="0" marL="0">
              <a:buNone/>
            </a:pPr>
            <a:r>
              <a:rPr lang="en-US" sz="1100" dirty="0">
                <a:solidFill>
                  <a:srgbClr val="1E293B"/>
                </a:solidFill>
                <a:latin typeface="Calibri" pitchFamily="34" charset="0"/>
                <a:ea typeface="Calibri" pitchFamily="34" charset="-122"/>
                <a:cs typeface="Calibri" pitchFamily="34" charset="-120"/>
              </a:rPr>
              <a:t>The experience should feel like having a smart analyst sitting next to you in the film room — fast, visual, confidence-building. Coaches should be able to answer any performance question within seconds, not minutes of spreadsheet scrolling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Part B: Concept Narrative — User Interface</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5</a:t>
            </a:r>
            <a:endParaRPr lang="en-US" sz="1000" dirty="0"/>
          </a:p>
        </p:txBody>
      </p:sp>
      <p:sp>
        <p:nvSpPr>
          <p:cNvPr id="6" name="Text 4"/>
          <p:cNvSpPr/>
          <p:nvPr/>
        </p:nvSpPr>
        <p:spPr>
          <a:xfrm>
            <a:off x="548640" y="868680"/>
            <a:ext cx="8046720" cy="54864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LaxIQ is a Streamlit-based post-game analytics dashboard built for the UVA Women's Lacrosse coaching staff. It transforms raw Excel box-score data into three interactive pages of visual analytics, plus an AI-powered assistant.</a:t>
            </a:r>
            <a:endParaRPr lang="en-US" sz="1200" dirty="0"/>
          </a:p>
        </p:txBody>
      </p:sp>
      <p:sp>
        <p:nvSpPr>
          <p:cNvPr id="7" name="Shape 5"/>
          <p:cNvSpPr/>
          <p:nvPr/>
        </p:nvSpPr>
        <p:spPr>
          <a:xfrm>
            <a:off x="548640" y="1554480"/>
            <a:ext cx="8046720" cy="7315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548640" y="1554480"/>
            <a:ext cx="54864" cy="731520"/>
          </a:xfrm>
          <a:prstGeom prst="rect">
            <a:avLst/>
          </a:prstGeom>
          <a:solidFill>
            <a:srgbClr val="E57200"/>
          </a:solidFill>
          <a:ln/>
        </p:spPr>
      </p:sp>
      <p:pic>
        <p:nvPicPr>
          <p:cNvPr id="9" name="Image 0" descr="preencoded.png">    </p:cNvPr>
          <p:cNvPicPr>
            <a:picLocks noChangeAspect="1"/>
          </p:cNvPicPr>
          <p:nvPr/>
        </p:nvPicPr>
        <p:blipFill>
          <a:blip r:embed="rId1"/>
          <a:stretch>
            <a:fillRect/>
          </a:stretch>
        </p:blipFill>
        <p:spPr>
          <a:xfrm>
            <a:off x="749808" y="1709928"/>
            <a:ext cx="365760" cy="365760"/>
          </a:xfrm>
          <a:prstGeom prst="rect">
            <a:avLst/>
          </a:prstGeom>
        </p:spPr>
      </p:pic>
      <p:sp>
        <p:nvSpPr>
          <p:cNvPr id="10" name="Text 7"/>
          <p:cNvSpPr/>
          <p:nvPr/>
        </p:nvSpPr>
        <p:spPr>
          <a:xfrm>
            <a:off x="1234440" y="1554480"/>
            <a:ext cx="2286000" cy="731520"/>
          </a:xfrm>
          <a:prstGeom prst="rect">
            <a:avLst/>
          </a:prstGeom>
          <a:noFill/>
          <a:ln/>
        </p:spPr>
        <p:txBody>
          <a:bodyPr wrap="square" rtlCol="0" anchor="ctr"/>
          <a:lstStyle/>
          <a:p>
            <a:pPr algn="l" indent="0" marL="0">
              <a:buNone/>
            </a:pPr>
            <a:r>
              <a:rPr lang="en-US" sz="1200" b="1" dirty="0">
                <a:solidFill>
                  <a:srgbClr val="E57200"/>
                </a:solidFill>
                <a:latin typeface="Calibri" pitchFamily="34" charset="0"/>
                <a:ea typeface="Calibri" pitchFamily="34" charset="-122"/>
                <a:cs typeface="Calibri" pitchFamily="34" charset="-120"/>
              </a:rPr>
              <a:t>Home — Season Overview</a:t>
            </a:r>
            <a:endParaRPr lang="en-US" sz="1200" dirty="0"/>
          </a:p>
        </p:txBody>
      </p:sp>
      <p:sp>
        <p:nvSpPr>
          <p:cNvPr id="11" name="Text 8"/>
          <p:cNvSpPr/>
          <p:nvPr/>
        </p:nvSpPr>
        <p:spPr>
          <a:xfrm>
            <a:off x="3291840" y="1554480"/>
            <a:ext cx="5120640" cy="731520"/>
          </a:xfrm>
          <a:prstGeom prst="rect">
            <a:avLst/>
          </a:prstGeom>
          <a:noFill/>
          <a:ln/>
        </p:spPr>
        <p:txBody>
          <a:bodyPr wrap="square"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Hero banner with season record, 8 KPI metric cards, advanced stats grid with national rankings (ELO, efficiency, shooting %), full interactive schedule with clickable game links, next-game banner</a:t>
            </a:r>
            <a:endParaRPr lang="en-US" sz="1000" dirty="0"/>
          </a:p>
        </p:txBody>
      </p:sp>
      <p:sp>
        <p:nvSpPr>
          <p:cNvPr id="12" name="Shape 9"/>
          <p:cNvSpPr/>
          <p:nvPr/>
        </p:nvSpPr>
        <p:spPr>
          <a:xfrm>
            <a:off x="548640" y="2377440"/>
            <a:ext cx="8046720" cy="7315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3" name="Shape 10"/>
          <p:cNvSpPr/>
          <p:nvPr/>
        </p:nvSpPr>
        <p:spPr>
          <a:xfrm>
            <a:off x="548640" y="2377440"/>
            <a:ext cx="54864" cy="731520"/>
          </a:xfrm>
          <a:prstGeom prst="rect">
            <a:avLst/>
          </a:prstGeom>
          <a:solidFill>
            <a:srgbClr val="0D9488"/>
          </a:solidFill>
          <a:ln/>
        </p:spPr>
      </p:sp>
      <p:pic>
        <p:nvPicPr>
          <p:cNvPr id="14" name="Image 1" descr="preencoded.png">    </p:cNvPr>
          <p:cNvPicPr>
            <a:picLocks noChangeAspect="1"/>
          </p:cNvPicPr>
          <p:nvPr/>
        </p:nvPicPr>
        <p:blipFill>
          <a:blip r:embed="rId2"/>
          <a:stretch>
            <a:fillRect/>
          </a:stretch>
        </p:blipFill>
        <p:spPr>
          <a:xfrm>
            <a:off x="749808" y="2532888"/>
            <a:ext cx="365760" cy="365760"/>
          </a:xfrm>
          <a:prstGeom prst="rect">
            <a:avLst/>
          </a:prstGeom>
        </p:spPr>
      </p:pic>
      <p:sp>
        <p:nvSpPr>
          <p:cNvPr id="15" name="Text 11"/>
          <p:cNvSpPr/>
          <p:nvPr/>
        </p:nvSpPr>
        <p:spPr>
          <a:xfrm>
            <a:off x="1234440" y="2377440"/>
            <a:ext cx="2286000" cy="731520"/>
          </a:xfrm>
          <a:prstGeom prst="rect">
            <a:avLst/>
          </a:prstGeom>
          <a:noFill/>
          <a:ln/>
        </p:spPr>
        <p:txBody>
          <a:bodyPr wrap="square" rtlCol="0" anchor="ctr"/>
          <a:lstStyle/>
          <a:p>
            <a:pPr algn="l" indent="0" marL="0">
              <a:buNone/>
            </a:pPr>
            <a:r>
              <a:rPr lang="en-US" sz="1200" b="1" dirty="0">
                <a:solidFill>
                  <a:srgbClr val="0D9488"/>
                </a:solidFill>
                <a:latin typeface="Calibri" pitchFamily="34" charset="0"/>
                <a:ea typeface="Calibri" pitchFamily="34" charset="-122"/>
                <a:cs typeface="Calibri" pitchFamily="34" charset="-120"/>
              </a:rPr>
              <a:t>Game Analysis</a:t>
            </a:r>
            <a:endParaRPr lang="en-US" sz="1200" dirty="0"/>
          </a:p>
        </p:txBody>
      </p:sp>
      <p:sp>
        <p:nvSpPr>
          <p:cNvPr id="16" name="Text 12"/>
          <p:cNvSpPr/>
          <p:nvPr/>
        </p:nvSpPr>
        <p:spPr>
          <a:xfrm>
            <a:off x="3291840" y="2377440"/>
            <a:ext cx="5120640" cy="731520"/>
          </a:xfrm>
          <a:prstGeom prst="rect">
            <a:avLst/>
          </a:prstGeom>
          <a:noFill/>
          <a:ln/>
        </p:spPr>
        <p:txBody>
          <a:bodyPr wrap="square"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Per-game breakdown: win probability chart, quarter-by-quarter scoring, letter grades (A-F) for Offense/Defense/Transition/Draw Unit/Goalkeeping/Discipline, player stat tables, play-by-play timeline, game comparison tool, weather &amp; opponent info via APIs</a:t>
            </a:r>
            <a:endParaRPr lang="en-US" sz="1000" dirty="0"/>
          </a:p>
        </p:txBody>
      </p:sp>
      <p:sp>
        <p:nvSpPr>
          <p:cNvPr id="17" name="Shape 13"/>
          <p:cNvSpPr/>
          <p:nvPr/>
        </p:nvSpPr>
        <p:spPr>
          <a:xfrm>
            <a:off x="548640" y="3200400"/>
            <a:ext cx="8046720" cy="7315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8" name="Shape 14"/>
          <p:cNvSpPr/>
          <p:nvPr/>
        </p:nvSpPr>
        <p:spPr>
          <a:xfrm>
            <a:off x="548640" y="3200400"/>
            <a:ext cx="54864" cy="731520"/>
          </a:xfrm>
          <a:prstGeom prst="rect">
            <a:avLst/>
          </a:prstGeom>
          <a:solidFill>
            <a:srgbClr val="2563EB"/>
          </a:solidFill>
          <a:ln/>
        </p:spPr>
      </p:sp>
      <p:pic>
        <p:nvPicPr>
          <p:cNvPr id="19" name="Image 2" descr="preencoded.png">    </p:cNvPr>
          <p:cNvPicPr>
            <a:picLocks noChangeAspect="1"/>
          </p:cNvPicPr>
          <p:nvPr/>
        </p:nvPicPr>
        <p:blipFill>
          <a:blip r:embed="rId3"/>
          <a:stretch>
            <a:fillRect/>
          </a:stretch>
        </p:blipFill>
        <p:spPr>
          <a:xfrm>
            <a:off x="749808" y="3355848"/>
            <a:ext cx="365760" cy="365760"/>
          </a:xfrm>
          <a:prstGeom prst="rect">
            <a:avLst/>
          </a:prstGeom>
        </p:spPr>
      </p:pic>
      <p:sp>
        <p:nvSpPr>
          <p:cNvPr id="20" name="Text 15"/>
          <p:cNvSpPr/>
          <p:nvPr/>
        </p:nvSpPr>
        <p:spPr>
          <a:xfrm>
            <a:off x="1234440" y="3200400"/>
            <a:ext cx="2286000" cy="731520"/>
          </a:xfrm>
          <a:prstGeom prst="rect">
            <a:avLst/>
          </a:prstGeom>
          <a:noFill/>
          <a:ln/>
        </p:spPr>
        <p:txBody>
          <a:bodyPr wrap="square" rtlCol="0" anchor="ctr"/>
          <a:lstStyle/>
          <a:p>
            <a:pPr algn="l" indent="0" marL="0">
              <a:buNone/>
            </a:pPr>
            <a:r>
              <a:rPr lang="en-US" sz="1200" b="1" dirty="0">
                <a:solidFill>
                  <a:srgbClr val="2563EB"/>
                </a:solidFill>
                <a:latin typeface="Calibri" pitchFamily="34" charset="0"/>
                <a:ea typeface="Calibri" pitchFamily="34" charset="-122"/>
                <a:cs typeface="Calibri" pitchFamily="34" charset="-120"/>
              </a:rPr>
              <a:t>Player Intelligence</a:t>
            </a:r>
            <a:endParaRPr lang="en-US" sz="1200" dirty="0"/>
          </a:p>
        </p:txBody>
      </p:sp>
      <p:sp>
        <p:nvSpPr>
          <p:cNvPr id="21" name="Text 16"/>
          <p:cNvSpPr/>
          <p:nvPr/>
        </p:nvSpPr>
        <p:spPr>
          <a:xfrm>
            <a:off x="3291840" y="3200400"/>
            <a:ext cx="5120640" cy="731520"/>
          </a:xfrm>
          <a:prstGeom prst="rect">
            <a:avLst/>
          </a:prstGeom>
          <a:noFill/>
          <a:ln/>
        </p:spPr>
        <p:txBody>
          <a:bodyPr wrap="square"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Tier rankings (Elite/Strong/Rotation/Developing), radar charts for multi-dimensional player profiles, head-to-head player comparison, draw control analysis, goaltending analytics, Coach View vs Analyst View toggle</a:t>
            </a:r>
            <a:endParaRPr lang="en-US" sz="1000" dirty="0"/>
          </a:p>
        </p:txBody>
      </p:sp>
      <p:sp>
        <p:nvSpPr>
          <p:cNvPr id="22" name="Shape 17"/>
          <p:cNvSpPr/>
          <p:nvPr/>
        </p:nvSpPr>
        <p:spPr>
          <a:xfrm>
            <a:off x="548640" y="4023360"/>
            <a:ext cx="8046720" cy="7315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3" name="Shape 18"/>
          <p:cNvSpPr/>
          <p:nvPr/>
        </p:nvSpPr>
        <p:spPr>
          <a:xfrm>
            <a:off x="548640" y="4023360"/>
            <a:ext cx="54864" cy="731520"/>
          </a:xfrm>
          <a:prstGeom prst="rect">
            <a:avLst/>
          </a:prstGeom>
          <a:solidFill>
            <a:srgbClr val="7C3AED"/>
          </a:solidFill>
          <a:ln/>
        </p:spPr>
      </p:sp>
      <p:pic>
        <p:nvPicPr>
          <p:cNvPr id="24" name="Image 3" descr="preencoded.png">    </p:cNvPr>
          <p:cNvPicPr>
            <a:picLocks noChangeAspect="1"/>
          </p:cNvPicPr>
          <p:nvPr/>
        </p:nvPicPr>
        <p:blipFill>
          <a:blip r:embed="rId4"/>
          <a:stretch>
            <a:fillRect/>
          </a:stretch>
        </p:blipFill>
        <p:spPr>
          <a:xfrm>
            <a:off x="749808" y="4178808"/>
            <a:ext cx="365760" cy="365760"/>
          </a:xfrm>
          <a:prstGeom prst="rect">
            <a:avLst/>
          </a:prstGeom>
        </p:spPr>
      </p:pic>
      <p:sp>
        <p:nvSpPr>
          <p:cNvPr id="25" name="Text 19"/>
          <p:cNvSpPr/>
          <p:nvPr/>
        </p:nvSpPr>
        <p:spPr>
          <a:xfrm>
            <a:off x="1234440" y="4023360"/>
            <a:ext cx="2286000" cy="731520"/>
          </a:xfrm>
          <a:prstGeom prst="rect">
            <a:avLst/>
          </a:prstGeom>
          <a:noFill/>
          <a:ln/>
        </p:spPr>
        <p:txBody>
          <a:bodyPr wrap="square" rtlCol="0" anchor="ctr"/>
          <a:lstStyle/>
          <a:p>
            <a:pPr algn="l" indent="0" marL="0">
              <a:buNone/>
            </a:pPr>
            <a:r>
              <a:rPr lang="en-US" sz="1200" b="1" dirty="0">
                <a:solidFill>
                  <a:srgbClr val="7C3AED"/>
                </a:solidFill>
                <a:latin typeface="Calibri" pitchFamily="34" charset="0"/>
                <a:ea typeface="Calibri" pitchFamily="34" charset="-122"/>
                <a:cs typeface="Calibri" pitchFamily="34" charset="-120"/>
              </a:rPr>
              <a:t>LaxIQ Assistant</a:t>
            </a:r>
            <a:endParaRPr lang="en-US" sz="1200" dirty="0"/>
          </a:p>
        </p:txBody>
      </p:sp>
      <p:sp>
        <p:nvSpPr>
          <p:cNvPr id="26" name="Text 20"/>
          <p:cNvSpPr/>
          <p:nvPr/>
        </p:nvSpPr>
        <p:spPr>
          <a:xfrm>
            <a:off x="3291840" y="4023360"/>
            <a:ext cx="5120640" cy="731520"/>
          </a:xfrm>
          <a:prstGeom prst="rect">
            <a:avLst/>
          </a:prstGeom>
          <a:noFill/>
          <a:ln/>
        </p:spPr>
        <p:txBody>
          <a:bodyPr wrap="square"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Gemini-powered AI chatbot with domain-specific lacrosse persona, few-shot examples, chain-of-thought reasoning, prompt injection defense, sidebar quick-chat on every page</a:t>
            </a:r>
            <a:endParaRPr lang="en-US" sz="1000" dirty="0"/>
          </a:p>
        </p:txBody>
      </p:sp>
      <p:sp>
        <p:nvSpPr>
          <p:cNvPr id="27" name="Shape 21"/>
          <p:cNvSpPr/>
          <p:nvPr/>
        </p:nvSpPr>
        <p:spPr>
          <a:xfrm>
            <a:off x="548640" y="4709160"/>
            <a:ext cx="731520" cy="274320"/>
          </a:xfrm>
          <a:prstGeom prst="rect">
            <a:avLst/>
          </a:prstGeom>
          <a:solidFill>
            <a:srgbClr val="232D4B"/>
          </a:solidFill>
          <a:ln/>
        </p:spPr>
      </p:sp>
      <p:sp>
        <p:nvSpPr>
          <p:cNvPr id="28" name="Text 22"/>
          <p:cNvSpPr/>
          <p:nvPr/>
        </p:nvSpPr>
        <p:spPr>
          <a:xfrm>
            <a:off x="548640" y="4709160"/>
            <a:ext cx="731520" cy="27432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UI</a:t>
            </a:r>
            <a:endParaRPr lang="en-US" sz="1000" dirty="0"/>
          </a:p>
        </p:txBody>
      </p:sp>
      <p:sp>
        <p:nvSpPr>
          <p:cNvPr id="29" name="Text 23"/>
          <p:cNvSpPr/>
          <p:nvPr/>
        </p:nvSpPr>
        <p:spPr>
          <a:xfrm>
            <a:off x="1371600" y="4709160"/>
            <a:ext cx="6858000" cy="274320"/>
          </a:xfrm>
          <a:prstGeom prst="rect">
            <a:avLst/>
          </a:prstGeom>
          <a:noFill/>
          <a:ln/>
        </p:spPr>
        <p:txBody>
          <a:bodyPr wrap="square"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Navigation, filters, forms, interactive charts, data tables, color-coded grades, responsive layout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Part B: Concept Narrative — User Experience</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6</a:t>
            </a:r>
            <a:endParaRPr lang="en-US" sz="1000" dirty="0"/>
          </a:p>
        </p:txBody>
      </p:sp>
      <p:sp>
        <p:nvSpPr>
          <p:cNvPr id="6" name="Text 4"/>
          <p:cNvSpPr/>
          <p:nvPr/>
        </p:nvSpPr>
        <p:spPr>
          <a:xfrm>
            <a:off x="548640" y="868680"/>
            <a:ext cx="8046720" cy="457200"/>
          </a:xfrm>
          <a:prstGeom prst="rect">
            <a:avLst/>
          </a:prstGeom>
          <a:noFill/>
          <a:ln/>
        </p:spPr>
        <p:txBody>
          <a:bodyPr wrap="square" rtlCol="0" anchor="t"/>
          <a:lstStyle/>
          <a:p>
            <a:pPr algn="l" indent="0" marL="0">
              <a:buNone/>
            </a:pPr>
            <a:r>
              <a:rPr lang="en-US" sz="1200" dirty="0">
                <a:solidFill>
                  <a:srgbClr val="1E293B"/>
                </a:solidFill>
                <a:latin typeface="Calibri" pitchFamily="34" charset="0"/>
                <a:ea typeface="Calibri" pitchFamily="34" charset="-122"/>
                <a:cs typeface="Calibri" pitchFamily="34" charset="-120"/>
              </a:rPr>
              <a:t>The UX of LaxIQ is designed around the coaching staff's core workflow: arrive at a film session, select a game, and immediately see performance insights without manual data processing.</a:t>
            </a:r>
            <a:endParaRPr lang="en-US" sz="1200" dirty="0"/>
          </a:p>
        </p:txBody>
      </p:sp>
      <p:sp>
        <p:nvSpPr>
          <p:cNvPr id="7" name="Shape 5"/>
          <p:cNvSpPr/>
          <p:nvPr/>
        </p:nvSpPr>
        <p:spPr>
          <a:xfrm>
            <a:off x="548640" y="1508760"/>
            <a:ext cx="2651760" cy="12344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640080" y="1600200"/>
            <a:ext cx="411480" cy="411480"/>
          </a:xfrm>
          <a:prstGeom prst="ellipse">
            <a:avLst/>
          </a:prstGeom>
          <a:solidFill>
            <a:srgbClr val="E57200"/>
          </a:solidFill>
          <a:ln/>
        </p:spPr>
      </p:sp>
      <p:sp>
        <p:nvSpPr>
          <p:cNvPr id="9" name="Text 7"/>
          <p:cNvSpPr/>
          <p:nvPr/>
        </p:nvSpPr>
        <p:spPr>
          <a:xfrm>
            <a:off x="640080" y="160020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143000" y="1600200"/>
            <a:ext cx="1920240" cy="365760"/>
          </a:xfrm>
          <a:prstGeom prst="rect">
            <a:avLst/>
          </a:prstGeom>
          <a:noFill/>
          <a:ln/>
        </p:spPr>
        <p:txBody>
          <a:bodyPr wrap="square" rtlCol="0" anchor="ctr"/>
          <a:lstStyle/>
          <a:p>
            <a:pPr algn="l" indent="0" marL="0">
              <a:buNone/>
            </a:pPr>
            <a:r>
              <a:rPr lang="en-US" sz="1200" b="1" dirty="0">
                <a:solidFill>
                  <a:srgbClr val="232D4B"/>
                </a:solidFill>
                <a:latin typeface="Calibri" pitchFamily="34" charset="0"/>
                <a:ea typeface="Calibri" pitchFamily="34" charset="-122"/>
                <a:cs typeface="Calibri" pitchFamily="34" charset="-120"/>
              </a:rPr>
              <a:t>Land on Home</a:t>
            </a:r>
            <a:endParaRPr lang="en-US" sz="1200" dirty="0"/>
          </a:p>
        </p:txBody>
      </p:sp>
      <p:sp>
        <p:nvSpPr>
          <p:cNvPr id="11" name="Text 9"/>
          <p:cNvSpPr/>
          <p:nvPr/>
        </p:nvSpPr>
        <p:spPr>
          <a:xfrm>
            <a:off x="685800" y="2057400"/>
            <a:ext cx="2377440" cy="5943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See season record at a glance, KPIs, and schedule — no login, no setup</a:t>
            </a:r>
            <a:endParaRPr lang="en-US" sz="1000" dirty="0"/>
          </a:p>
        </p:txBody>
      </p:sp>
      <p:sp>
        <p:nvSpPr>
          <p:cNvPr id="12" name="Shape 10"/>
          <p:cNvSpPr/>
          <p:nvPr/>
        </p:nvSpPr>
        <p:spPr>
          <a:xfrm>
            <a:off x="3383280" y="1508760"/>
            <a:ext cx="2651760" cy="12344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3" name="Shape 11"/>
          <p:cNvSpPr/>
          <p:nvPr/>
        </p:nvSpPr>
        <p:spPr>
          <a:xfrm>
            <a:off x="3474720" y="1600200"/>
            <a:ext cx="411480" cy="411480"/>
          </a:xfrm>
          <a:prstGeom prst="ellipse">
            <a:avLst/>
          </a:prstGeom>
          <a:solidFill>
            <a:srgbClr val="E57200"/>
          </a:solidFill>
          <a:ln/>
        </p:spPr>
      </p:sp>
      <p:sp>
        <p:nvSpPr>
          <p:cNvPr id="14" name="Text 12"/>
          <p:cNvSpPr/>
          <p:nvPr/>
        </p:nvSpPr>
        <p:spPr>
          <a:xfrm>
            <a:off x="3474720" y="160020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5" name="Text 13"/>
          <p:cNvSpPr/>
          <p:nvPr/>
        </p:nvSpPr>
        <p:spPr>
          <a:xfrm>
            <a:off x="3977640" y="1600200"/>
            <a:ext cx="1920240" cy="365760"/>
          </a:xfrm>
          <a:prstGeom prst="rect">
            <a:avLst/>
          </a:prstGeom>
          <a:noFill/>
          <a:ln/>
        </p:spPr>
        <p:txBody>
          <a:bodyPr wrap="square" rtlCol="0" anchor="ctr"/>
          <a:lstStyle/>
          <a:p>
            <a:pPr algn="l" indent="0" marL="0">
              <a:buNone/>
            </a:pPr>
            <a:r>
              <a:rPr lang="en-US" sz="1200" b="1" dirty="0">
                <a:solidFill>
                  <a:srgbClr val="232D4B"/>
                </a:solidFill>
                <a:latin typeface="Calibri" pitchFamily="34" charset="0"/>
                <a:ea typeface="Calibri" pitchFamily="34" charset="-122"/>
                <a:cs typeface="Calibri" pitchFamily="34" charset="-120"/>
              </a:rPr>
              <a:t>Click a Game</a:t>
            </a:r>
            <a:endParaRPr lang="en-US" sz="1200" dirty="0"/>
          </a:p>
        </p:txBody>
      </p:sp>
      <p:sp>
        <p:nvSpPr>
          <p:cNvPr id="16" name="Text 14"/>
          <p:cNvSpPr/>
          <p:nvPr/>
        </p:nvSpPr>
        <p:spPr>
          <a:xfrm>
            <a:off x="3520440" y="2057400"/>
            <a:ext cx="2377440" cy="5943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One click from schedule navigates directly to full game breakdown</a:t>
            </a:r>
            <a:endParaRPr lang="en-US" sz="1000" dirty="0"/>
          </a:p>
        </p:txBody>
      </p:sp>
      <p:sp>
        <p:nvSpPr>
          <p:cNvPr id="17" name="Shape 15"/>
          <p:cNvSpPr/>
          <p:nvPr/>
        </p:nvSpPr>
        <p:spPr>
          <a:xfrm>
            <a:off x="6217920" y="1508760"/>
            <a:ext cx="2651760" cy="12344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8" name="Shape 16"/>
          <p:cNvSpPr/>
          <p:nvPr/>
        </p:nvSpPr>
        <p:spPr>
          <a:xfrm>
            <a:off x="6309360" y="1600200"/>
            <a:ext cx="411480" cy="411480"/>
          </a:xfrm>
          <a:prstGeom prst="ellipse">
            <a:avLst/>
          </a:prstGeom>
          <a:solidFill>
            <a:srgbClr val="E57200"/>
          </a:solidFill>
          <a:ln/>
        </p:spPr>
      </p:sp>
      <p:sp>
        <p:nvSpPr>
          <p:cNvPr id="19" name="Text 17"/>
          <p:cNvSpPr/>
          <p:nvPr/>
        </p:nvSpPr>
        <p:spPr>
          <a:xfrm>
            <a:off x="6309360" y="160020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0" name="Text 18"/>
          <p:cNvSpPr/>
          <p:nvPr/>
        </p:nvSpPr>
        <p:spPr>
          <a:xfrm>
            <a:off x="6812280" y="1600200"/>
            <a:ext cx="1920240" cy="365760"/>
          </a:xfrm>
          <a:prstGeom prst="rect">
            <a:avLst/>
          </a:prstGeom>
          <a:noFill/>
          <a:ln/>
        </p:spPr>
        <p:txBody>
          <a:bodyPr wrap="square" rtlCol="0" anchor="ctr"/>
          <a:lstStyle/>
          <a:p>
            <a:pPr algn="l" indent="0" marL="0">
              <a:buNone/>
            </a:pPr>
            <a:r>
              <a:rPr lang="en-US" sz="1200" b="1" dirty="0">
                <a:solidFill>
                  <a:srgbClr val="232D4B"/>
                </a:solidFill>
                <a:latin typeface="Calibri" pitchFamily="34" charset="0"/>
                <a:ea typeface="Calibri" pitchFamily="34" charset="-122"/>
                <a:cs typeface="Calibri" pitchFamily="34" charset="-120"/>
              </a:rPr>
              <a:t>Review Grades</a:t>
            </a:r>
            <a:endParaRPr lang="en-US" sz="1200" dirty="0"/>
          </a:p>
        </p:txBody>
      </p:sp>
      <p:sp>
        <p:nvSpPr>
          <p:cNvPr id="21" name="Text 19"/>
          <p:cNvSpPr/>
          <p:nvPr/>
        </p:nvSpPr>
        <p:spPr>
          <a:xfrm>
            <a:off x="6355080" y="2057400"/>
            <a:ext cx="2377440" cy="5943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Letter grades give instant performance summary before deep dive</a:t>
            </a:r>
            <a:endParaRPr lang="en-US" sz="1000" dirty="0"/>
          </a:p>
        </p:txBody>
      </p:sp>
      <p:sp>
        <p:nvSpPr>
          <p:cNvPr id="22" name="Shape 20"/>
          <p:cNvSpPr/>
          <p:nvPr/>
        </p:nvSpPr>
        <p:spPr>
          <a:xfrm>
            <a:off x="548640" y="2926080"/>
            <a:ext cx="2651760" cy="12344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3" name="Shape 21"/>
          <p:cNvSpPr/>
          <p:nvPr/>
        </p:nvSpPr>
        <p:spPr>
          <a:xfrm>
            <a:off x="640080" y="3017520"/>
            <a:ext cx="411480" cy="411480"/>
          </a:xfrm>
          <a:prstGeom prst="ellipse">
            <a:avLst/>
          </a:prstGeom>
          <a:solidFill>
            <a:srgbClr val="E57200"/>
          </a:solidFill>
          <a:ln/>
        </p:spPr>
      </p:sp>
      <p:sp>
        <p:nvSpPr>
          <p:cNvPr id="24" name="Text 22"/>
          <p:cNvSpPr/>
          <p:nvPr/>
        </p:nvSpPr>
        <p:spPr>
          <a:xfrm>
            <a:off x="640080" y="301752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25" name="Text 23"/>
          <p:cNvSpPr/>
          <p:nvPr/>
        </p:nvSpPr>
        <p:spPr>
          <a:xfrm>
            <a:off x="1143000" y="3017520"/>
            <a:ext cx="1920240" cy="365760"/>
          </a:xfrm>
          <a:prstGeom prst="rect">
            <a:avLst/>
          </a:prstGeom>
          <a:noFill/>
          <a:ln/>
        </p:spPr>
        <p:txBody>
          <a:bodyPr wrap="square" rtlCol="0" anchor="ctr"/>
          <a:lstStyle/>
          <a:p>
            <a:pPr algn="l" indent="0" marL="0">
              <a:buNone/>
            </a:pPr>
            <a:r>
              <a:rPr lang="en-US" sz="1200" b="1" dirty="0">
                <a:solidFill>
                  <a:srgbClr val="232D4B"/>
                </a:solidFill>
                <a:latin typeface="Calibri" pitchFamily="34" charset="0"/>
                <a:ea typeface="Calibri" pitchFamily="34" charset="-122"/>
                <a:cs typeface="Calibri" pitchFamily="34" charset="-120"/>
              </a:rPr>
              <a:t>Explore Tabs</a:t>
            </a:r>
            <a:endParaRPr lang="en-US" sz="1200" dirty="0"/>
          </a:p>
        </p:txBody>
      </p:sp>
      <p:sp>
        <p:nvSpPr>
          <p:cNvPr id="26" name="Text 24"/>
          <p:cNvSpPr/>
          <p:nvPr/>
        </p:nvSpPr>
        <p:spPr>
          <a:xfrm>
            <a:off x="685800" y="3474720"/>
            <a:ext cx="2377440" cy="5943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Win probability, player stats, key moments, game comparison — all in one view</a:t>
            </a:r>
            <a:endParaRPr lang="en-US" sz="1000" dirty="0"/>
          </a:p>
        </p:txBody>
      </p:sp>
      <p:sp>
        <p:nvSpPr>
          <p:cNvPr id="27" name="Shape 25"/>
          <p:cNvSpPr/>
          <p:nvPr/>
        </p:nvSpPr>
        <p:spPr>
          <a:xfrm>
            <a:off x="3383280" y="2926080"/>
            <a:ext cx="2651760" cy="12344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8" name="Shape 26"/>
          <p:cNvSpPr/>
          <p:nvPr/>
        </p:nvSpPr>
        <p:spPr>
          <a:xfrm>
            <a:off x="3474720" y="3017520"/>
            <a:ext cx="411480" cy="411480"/>
          </a:xfrm>
          <a:prstGeom prst="ellipse">
            <a:avLst/>
          </a:prstGeom>
          <a:solidFill>
            <a:srgbClr val="E57200"/>
          </a:solidFill>
          <a:ln/>
        </p:spPr>
      </p:sp>
      <p:sp>
        <p:nvSpPr>
          <p:cNvPr id="29" name="Text 27"/>
          <p:cNvSpPr/>
          <p:nvPr/>
        </p:nvSpPr>
        <p:spPr>
          <a:xfrm>
            <a:off x="3474720" y="301752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30" name="Text 28"/>
          <p:cNvSpPr/>
          <p:nvPr/>
        </p:nvSpPr>
        <p:spPr>
          <a:xfrm>
            <a:off x="3977640" y="3017520"/>
            <a:ext cx="1920240" cy="365760"/>
          </a:xfrm>
          <a:prstGeom prst="rect">
            <a:avLst/>
          </a:prstGeom>
          <a:noFill/>
          <a:ln/>
        </p:spPr>
        <p:txBody>
          <a:bodyPr wrap="square" rtlCol="0" anchor="ctr"/>
          <a:lstStyle/>
          <a:p>
            <a:pPr algn="l" indent="0" marL="0">
              <a:buNone/>
            </a:pPr>
            <a:r>
              <a:rPr lang="en-US" sz="1200" b="1" dirty="0">
                <a:solidFill>
                  <a:srgbClr val="232D4B"/>
                </a:solidFill>
                <a:latin typeface="Calibri" pitchFamily="34" charset="0"/>
                <a:ea typeface="Calibri" pitchFamily="34" charset="-122"/>
                <a:cs typeface="Calibri" pitchFamily="34" charset="-120"/>
              </a:rPr>
              <a:t>Compare Players</a:t>
            </a:r>
            <a:endParaRPr lang="en-US" sz="1200" dirty="0"/>
          </a:p>
        </p:txBody>
      </p:sp>
      <p:sp>
        <p:nvSpPr>
          <p:cNvPr id="31" name="Text 29"/>
          <p:cNvSpPr/>
          <p:nvPr/>
        </p:nvSpPr>
        <p:spPr>
          <a:xfrm>
            <a:off x="3520440" y="3474720"/>
            <a:ext cx="2377440" cy="5943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Radar charts and side-by-side stats let coaches evaluate personnel</a:t>
            </a:r>
            <a:endParaRPr lang="en-US" sz="1000" dirty="0"/>
          </a:p>
        </p:txBody>
      </p:sp>
      <p:sp>
        <p:nvSpPr>
          <p:cNvPr id="32" name="Shape 30"/>
          <p:cNvSpPr/>
          <p:nvPr/>
        </p:nvSpPr>
        <p:spPr>
          <a:xfrm>
            <a:off x="6217920" y="2926080"/>
            <a:ext cx="2651760" cy="123444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33" name="Shape 31"/>
          <p:cNvSpPr/>
          <p:nvPr/>
        </p:nvSpPr>
        <p:spPr>
          <a:xfrm>
            <a:off x="6309360" y="3017520"/>
            <a:ext cx="411480" cy="411480"/>
          </a:xfrm>
          <a:prstGeom prst="ellipse">
            <a:avLst/>
          </a:prstGeom>
          <a:solidFill>
            <a:srgbClr val="E57200"/>
          </a:solidFill>
          <a:ln/>
        </p:spPr>
      </p:sp>
      <p:sp>
        <p:nvSpPr>
          <p:cNvPr id="34" name="Text 32"/>
          <p:cNvSpPr/>
          <p:nvPr/>
        </p:nvSpPr>
        <p:spPr>
          <a:xfrm>
            <a:off x="6309360" y="3017520"/>
            <a:ext cx="411480" cy="41148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35" name="Text 33"/>
          <p:cNvSpPr/>
          <p:nvPr/>
        </p:nvSpPr>
        <p:spPr>
          <a:xfrm>
            <a:off x="6812280" y="3017520"/>
            <a:ext cx="1920240" cy="365760"/>
          </a:xfrm>
          <a:prstGeom prst="rect">
            <a:avLst/>
          </a:prstGeom>
          <a:noFill/>
          <a:ln/>
        </p:spPr>
        <p:txBody>
          <a:bodyPr wrap="square" rtlCol="0" anchor="ctr"/>
          <a:lstStyle/>
          <a:p>
            <a:pPr algn="l" indent="0" marL="0">
              <a:buNone/>
            </a:pPr>
            <a:r>
              <a:rPr lang="en-US" sz="1200" b="1" dirty="0">
                <a:solidFill>
                  <a:srgbClr val="232D4B"/>
                </a:solidFill>
                <a:latin typeface="Calibri" pitchFamily="34" charset="0"/>
                <a:ea typeface="Calibri" pitchFamily="34" charset="-122"/>
                <a:cs typeface="Calibri" pitchFamily="34" charset="-120"/>
              </a:rPr>
              <a:t>Ask LaxIQ</a:t>
            </a:r>
            <a:endParaRPr lang="en-US" sz="1200" dirty="0"/>
          </a:p>
        </p:txBody>
      </p:sp>
      <p:sp>
        <p:nvSpPr>
          <p:cNvPr id="36" name="Text 34"/>
          <p:cNvSpPr/>
          <p:nvPr/>
        </p:nvSpPr>
        <p:spPr>
          <a:xfrm>
            <a:off x="6355080" y="3474720"/>
            <a:ext cx="2377440" cy="5943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Natural language questions answered with data-backed insights</a:t>
            </a:r>
            <a:endParaRPr lang="en-US" sz="1000" dirty="0"/>
          </a:p>
        </p:txBody>
      </p:sp>
      <p:sp>
        <p:nvSpPr>
          <p:cNvPr id="37" name="Shape 35"/>
          <p:cNvSpPr/>
          <p:nvPr/>
        </p:nvSpPr>
        <p:spPr>
          <a:xfrm>
            <a:off x="548640" y="4572000"/>
            <a:ext cx="731520" cy="274320"/>
          </a:xfrm>
          <a:prstGeom prst="rect">
            <a:avLst/>
          </a:prstGeom>
          <a:solidFill>
            <a:srgbClr val="E57200"/>
          </a:solidFill>
          <a:ln/>
        </p:spPr>
      </p:sp>
      <p:sp>
        <p:nvSpPr>
          <p:cNvPr id="38" name="Text 36"/>
          <p:cNvSpPr/>
          <p:nvPr/>
        </p:nvSpPr>
        <p:spPr>
          <a:xfrm>
            <a:off x="548640" y="4572000"/>
            <a:ext cx="731520" cy="274320"/>
          </a:xfrm>
          <a:prstGeom prst="rect">
            <a:avLst/>
          </a:prstGeom>
          <a:noFill/>
          <a:ln/>
        </p:spPr>
        <p:txBody>
          <a:bodyPr wrap="square"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UX</a:t>
            </a:r>
            <a:endParaRPr lang="en-US" sz="1000" dirty="0"/>
          </a:p>
        </p:txBody>
      </p:sp>
      <p:sp>
        <p:nvSpPr>
          <p:cNvPr id="39" name="Text 37"/>
          <p:cNvSpPr/>
          <p:nvPr/>
        </p:nvSpPr>
        <p:spPr>
          <a:xfrm>
            <a:off x="1371600" y="4480560"/>
            <a:ext cx="7315200" cy="457200"/>
          </a:xfrm>
          <a:prstGeom prst="rect">
            <a:avLst/>
          </a:prstGeom>
          <a:noFill/>
          <a:ln/>
        </p:spPr>
        <p:txBody>
          <a:bodyPr wrap="square" rtlCol="0" anchor="ctr"/>
          <a:lstStyle/>
          <a:p>
            <a:pPr algn="l" indent="0" marL="0">
              <a:buNone/>
            </a:pPr>
            <a:r>
              <a:rPr lang="en-US" sz="1000" dirty="0">
                <a:solidFill>
                  <a:srgbClr val="475569"/>
                </a:solidFill>
                <a:latin typeface="Calibri" pitchFamily="34" charset="0"/>
                <a:ea typeface="Calibri" pitchFamily="34" charset="-122"/>
                <a:cs typeface="Calibri" pitchFamily="34" charset="-120"/>
              </a:rPr>
              <a:t>Minimal friction from goal to insight. Every click reduces cognitive load, prevents errors via defaults &amp; validation, and builds confidence through data-backed answers.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640080" y="1463040"/>
            <a:ext cx="1097280" cy="1097280"/>
          </a:xfrm>
          <a:prstGeom prst="ellipse">
            <a:avLst/>
          </a:prstGeom>
          <a:solidFill>
            <a:srgbClr val="E57200"/>
          </a:solidFill>
          <a:ln/>
        </p:spPr>
      </p:sp>
      <p:sp>
        <p:nvSpPr>
          <p:cNvPr id="3" name="Text 1"/>
          <p:cNvSpPr/>
          <p:nvPr/>
        </p:nvSpPr>
        <p:spPr>
          <a:xfrm>
            <a:off x="640080" y="1463040"/>
            <a:ext cx="109728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4" name="Text 2"/>
          <p:cNvSpPr/>
          <p:nvPr/>
        </p:nvSpPr>
        <p:spPr>
          <a:xfrm>
            <a:off x="2011680" y="1280160"/>
            <a:ext cx="6400800" cy="7315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Proto-Persona</a:t>
            </a:r>
            <a:endParaRPr lang="en-US" sz="3600" dirty="0"/>
          </a:p>
        </p:txBody>
      </p:sp>
      <p:sp>
        <p:nvSpPr>
          <p:cNvPr id="5" name="Text 3"/>
          <p:cNvSpPr/>
          <p:nvPr/>
        </p:nvSpPr>
        <p:spPr>
          <a:xfrm>
            <a:off x="2011680" y="2011680"/>
            <a:ext cx="6400800" cy="548640"/>
          </a:xfrm>
          <a:prstGeom prst="rect">
            <a:avLst/>
          </a:prstGeom>
          <a:noFill/>
          <a:ln/>
        </p:spPr>
        <p:txBody>
          <a:bodyPr wrap="square" rtlCol="0" anchor="t"/>
          <a:lstStyle/>
          <a:p>
            <a:pPr algn="l" indent="0" marL="0">
              <a:buNone/>
            </a:pPr>
            <a:r>
              <a:rPr lang="en-US" sz="1400" dirty="0">
                <a:solidFill>
                  <a:srgbClr val="94A3B8"/>
                </a:solidFill>
                <a:latin typeface="Calibri" pitchFamily="34" charset="0"/>
                <a:ea typeface="Calibri" pitchFamily="34" charset="-122"/>
                <a:cs typeface="Calibri" pitchFamily="34" charset="-120"/>
              </a:rPr>
              <a:t>Assumption-based user profile for primary target user  |  20 pts</a:t>
            </a:r>
            <a:endParaRPr lang="en-US" sz="1400" dirty="0"/>
          </a:p>
        </p:txBody>
      </p:sp>
      <p:sp>
        <p:nvSpPr>
          <p:cNvPr id="6" name="Shape 4"/>
          <p:cNvSpPr/>
          <p:nvPr/>
        </p:nvSpPr>
        <p:spPr>
          <a:xfrm>
            <a:off x="0" y="4800600"/>
            <a:ext cx="9144000" cy="342900"/>
          </a:xfrm>
          <a:prstGeom prst="rect">
            <a:avLst/>
          </a:prstGeom>
          <a:solidFill>
            <a:srgbClr val="E57200"/>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Proto-Persona: Coach Sarah Mitchell</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914400"/>
            <a:ext cx="2011680" cy="2377440"/>
          </a:xfrm>
          <a:prstGeom prst="rect">
            <a:avLst/>
          </a:prstGeom>
          <a:solidFill>
            <a:srgbClr val="E8EAF0"/>
          </a:solidFill>
          <a:ln w="12700">
            <a:solidFill>
              <a:srgbClr val="E0E4ED"/>
            </a:solidFill>
            <a:prstDash val="solid"/>
          </a:ln>
        </p:spPr>
      </p:sp>
      <p:sp>
        <p:nvSpPr>
          <p:cNvPr id="7" name="Text 5"/>
          <p:cNvSpPr/>
          <p:nvPr/>
        </p:nvSpPr>
        <p:spPr>
          <a:xfrm>
            <a:off x="548640" y="914400"/>
            <a:ext cx="2011680" cy="182880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[Photo</a:t>
            </a:r>
            <a:endParaRPr lang="en-US" sz="1200" dirty="0"/>
          </a:p>
          <a:p>
            <a:pPr algn="ctr" indent="0" marL="0">
              <a:buNone/>
            </a:pPr>
            <a:r>
              <a:rPr lang="en-US" sz="1200" dirty="0">
                <a:solidFill>
                  <a:srgbClr val="94A3B8"/>
                </a:solidFill>
                <a:latin typeface="Calibri" pitchFamily="34" charset="0"/>
                <a:ea typeface="Calibri" pitchFamily="34" charset="-122"/>
                <a:cs typeface="Calibri" pitchFamily="34" charset="-120"/>
              </a:rPr>
              <a:t>Placeholder]</a:t>
            </a:r>
            <a:endParaRPr lang="en-US" sz="1200" dirty="0"/>
          </a:p>
        </p:txBody>
      </p:sp>
      <p:pic>
        <p:nvPicPr>
          <p:cNvPr id="8" name="Image 0" descr="preencoded.png">    </p:cNvPr>
          <p:cNvPicPr>
            <a:picLocks noChangeAspect="1"/>
          </p:cNvPicPr>
          <p:nvPr/>
        </p:nvPicPr>
        <p:blipFill>
          <a:blip r:embed="rId1"/>
          <a:stretch>
            <a:fillRect/>
          </a:stretch>
        </p:blipFill>
        <p:spPr>
          <a:xfrm>
            <a:off x="822960" y="2834640"/>
            <a:ext cx="228600" cy="228600"/>
          </a:xfrm>
          <a:prstGeom prst="rect">
            <a:avLst/>
          </a:prstGeom>
        </p:spPr>
      </p:pic>
      <p:sp>
        <p:nvSpPr>
          <p:cNvPr id="9" name="Text 6"/>
          <p:cNvSpPr/>
          <p:nvPr/>
        </p:nvSpPr>
        <p:spPr>
          <a:xfrm>
            <a:off x="1097280" y="2834640"/>
            <a:ext cx="1371600" cy="548640"/>
          </a:xfrm>
          <a:prstGeom prst="rect">
            <a:avLst/>
          </a:prstGeom>
          <a:noFill/>
          <a:ln/>
        </p:spPr>
        <p:txBody>
          <a:bodyPr wrap="square" rtlCol="0" anchor="t"/>
          <a:lstStyle/>
          <a:p>
            <a:pPr algn="l" indent="0" marL="0">
              <a:buNone/>
            </a:pPr>
            <a:r>
              <a:rPr lang="en-US" sz="1000" b="1" dirty="0">
                <a:solidFill>
                  <a:srgbClr val="232D4B"/>
                </a:solidFill>
                <a:latin typeface="Calibri" pitchFamily="34" charset="0"/>
                <a:ea typeface="Calibri" pitchFamily="34" charset="-122"/>
                <a:cs typeface="Calibri" pitchFamily="34" charset="-120"/>
              </a:rPr>
              <a:t>Coach Sarah Mitchell</a:t>
            </a:r>
            <a:endParaRPr lang="en-US" sz="1000" dirty="0"/>
          </a:p>
          <a:p>
            <a:pPr algn="l" indent="0" marL="0">
              <a:buNone/>
            </a:pPr>
            <a:r>
              <a:rPr lang="en-US" sz="900" dirty="0">
                <a:solidFill>
                  <a:srgbClr val="475569"/>
                </a:solidFill>
                <a:latin typeface="Calibri" pitchFamily="34" charset="0"/>
                <a:ea typeface="Calibri" pitchFamily="34" charset="-122"/>
                <a:cs typeface="Calibri" pitchFamily="34" charset="-120"/>
              </a:rPr>
              <a:t>Age: 34  |  Role: Associate Head Coach</a:t>
            </a:r>
            <a:endParaRPr lang="en-US" sz="1000" dirty="0"/>
          </a:p>
          <a:p>
            <a:pPr algn="l" indent="0" marL="0">
              <a:buNone/>
            </a:pPr>
            <a:r>
              <a:rPr lang="en-US" sz="900" dirty="0">
                <a:solidFill>
                  <a:srgbClr val="475569"/>
                </a:solidFill>
                <a:latin typeface="Calibri" pitchFamily="34" charset="0"/>
                <a:ea typeface="Calibri" pitchFamily="34" charset="-122"/>
                <a:cs typeface="Calibri" pitchFamily="34" charset="-120"/>
              </a:rPr>
              <a:t>Tech Comfort: Medium-High</a:t>
            </a:r>
            <a:endParaRPr lang="en-US" sz="1000" dirty="0"/>
          </a:p>
        </p:txBody>
      </p:sp>
      <p:sp>
        <p:nvSpPr>
          <p:cNvPr id="10" name="Shape 7"/>
          <p:cNvSpPr/>
          <p:nvPr/>
        </p:nvSpPr>
        <p:spPr>
          <a:xfrm>
            <a:off x="2834640" y="914400"/>
            <a:ext cx="57607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1" name="Shape 8"/>
          <p:cNvSpPr/>
          <p:nvPr/>
        </p:nvSpPr>
        <p:spPr>
          <a:xfrm>
            <a:off x="2834640" y="914400"/>
            <a:ext cx="54864" cy="1097280"/>
          </a:xfrm>
          <a:prstGeom prst="rect">
            <a:avLst/>
          </a:prstGeom>
          <a:solidFill>
            <a:srgbClr val="232D4B"/>
          </a:solidFill>
          <a:ln/>
        </p:spPr>
      </p:sp>
      <p:sp>
        <p:nvSpPr>
          <p:cNvPr id="12" name="Text 9"/>
          <p:cNvSpPr/>
          <p:nvPr/>
        </p:nvSpPr>
        <p:spPr>
          <a:xfrm>
            <a:off x="3017520" y="914400"/>
            <a:ext cx="1828800" cy="274320"/>
          </a:xfrm>
          <a:prstGeom prst="rect">
            <a:avLst/>
          </a:prstGeom>
          <a:noFill/>
          <a:ln/>
        </p:spPr>
        <p:txBody>
          <a:bodyPr wrap="square" lIns="0" tIns="0" rIns="0" bIns="0" rtlCol="0" anchor="ctr"/>
          <a:lstStyle/>
          <a:p>
            <a:pPr algn="l" indent="0" marL="0">
              <a:buNone/>
            </a:pPr>
            <a:r>
              <a:rPr lang="en-US" sz="900" b="1" spc="100" kern="0" dirty="0">
                <a:solidFill>
                  <a:srgbClr val="232D4B"/>
                </a:solidFill>
                <a:latin typeface="Calibri" pitchFamily="34" charset="0"/>
                <a:ea typeface="Calibri" pitchFamily="34" charset="-122"/>
                <a:cs typeface="Calibri" pitchFamily="34" charset="-120"/>
              </a:rPr>
              <a:t>BACKGROUND</a:t>
            </a:r>
            <a:endParaRPr lang="en-US" sz="900" dirty="0"/>
          </a:p>
        </p:txBody>
      </p:sp>
      <p:sp>
        <p:nvSpPr>
          <p:cNvPr id="13" name="Text 10"/>
          <p:cNvSpPr/>
          <p:nvPr/>
        </p:nvSpPr>
        <p:spPr>
          <a:xfrm>
            <a:off x="3017520" y="1188720"/>
            <a:ext cx="5394960" cy="77724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Sarah is the Associate Head Coach for UVA Women's Lacrosse, responsible for offensive game planning and player development. She reviews film after every game and meets with the analytics team twice a week. She's comfortable with Excel and basic data tools, but needs something faster and more visual. Her day involves morning practice, afternoon film sessions, recruiting calls, and game-day prep.</a:t>
            </a:r>
            <a:endParaRPr lang="en-US" sz="1000" dirty="0"/>
          </a:p>
        </p:txBody>
      </p:sp>
      <p:sp>
        <p:nvSpPr>
          <p:cNvPr id="14" name="Shape 11"/>
          <p:cNvSpPr/>
          <p:nvPr/>
        </p:nvSpPr>
        <p:spPr>
          <a:xfrm>
            <a:off x="2834640" y="2148840"/>
            <a:ext cx="27889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5" name="Shape 12"/>
          <p:cNvSpPr/>
          <p:nvPr/>
        </p:nvSpPr>
        <p:spPr>
          <a:xfrm>
            <a:off x="2834640" y="2148840"/>
            <a:ext cx="54864" cy="1188720"/>
          </a:xfrm>
          <a:prstGeom prst="rect">
            <a:avLst/>
          </a:prstGeom>
          <a:solidFill>
            <a:srgbClr val="16A34A"/>
          </a:solidFill>
          <a:ln/>
        </p:spPr>
      </p:sp>
      <p:pic>
        <p:nvPicPr>
          <p:cNvPr id="16" name="Image 1" descr="preencoded.png">    </p:cNvPr>
          <p:cNvPicPr>
            <a:picLocks noChangeAspect="1"/>
          </p:cNvPicPr>
          <p:nvPr/>
        </p:nvPicPr>
        <p:blipFill>
          <a:blip r:embed="rId2"/>
          <a:stretch>
            <a:fillRect/>
          </a:stretch>
        </p:blipFill>
        <p:spPr>
          <a:xfrm>
            <a:off x="3017520" y="2194560"/>
            <a:ext cx="201168" cy="201168"/>
          </a:xfrm>
          <a:prstGeom prst="rect">
            <a:avLst/>
          </a:prstGeom>
        </p:spPr>
      </p:pic>
      <p:sp>
        <p:nvSpPr>
          <p:cNvPr id="17" name="Text 13"/>
          <p:cNvSpPr/>
          <p:nvPr/>
        </p:nvSpPr>
        <p:spPr>
          <a:xfrm>
            <a:off x="3291840" y="2176272"/>
            <a:ext cx="1828800" cy="256032"/>
          </a:xfrm>
          <a:prstGeom prst="rect">
            <a:avLst/>
          </a:prstGeom>
          <a:noFill/>
          <a:ln/>
        </p:spPr>
        <p:txBody>
          <a:bodyPr wrap="square" lIns="0" tIns="0" rIns="0" bIns="0" rtlCol="0" anchor="ctr"/>
          <a:lstStyle/>
          <a:p>
            <a:pPr algn="l" indent="0" marL="0">
              <a:buNone/>
            </a:pPr>
            <a:r>
              <a:rPr lang="en-US" sz="900" b="1" spc="100" kern="0" dirty="0">
                <a:solidFill>
                  <a:srgbClr val="16A34A"/>
                </a:solidFill>
                <a:latin typeface="Calibri" pitchFamily="34" charset="0"/>
                <a:ea typeface="Calibri" pitchFamily="34" charset="-122"/>
                <a:cs typeface="Calibri" pitchFamily="34" charset="-120"/>
              </a:rPr>
              <a:t>GOALS</a:t>
            </a:r>
            <a:endParaRPr lang="en-US" sz="900" dirty="0"/>
          </a:p>
        </p:txBody>
      </p:sp>
      <p:sp>
        <p:nvSpPr>
          <p:cNvPr id="18" name="Text 14"/>
          <p:cNvSpPr/>
          <p:nvPr/>
        </p:nvSpPr>
        <p:spPr>
          <a:xfrm>
            <a:off x="3017520" y="2468880"/>
            <a:ext cx="2468880" cy="868680"/>
          </a:xfrm>
          <a:prstGeom prst="rect">
            <a:avLst/>
          </a:prstGeom>
          <a:noFill/>
          <a:ln/>
        </p:spPr>
        <p:txBody>
          <a:bodyPr wrap="square" rtlCol="0" anchor="t"/>
          <a:lstStyle/>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Quickly identify which players performed well or poorly after each game</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Compare game performance trends across the season</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Prepare data-backed talking points for film sessions</a:t>
            </a:r>
            <a:endParaRPr lang="en-US" sz="1000" dirty="0"/>
          </a:p>
        </p:txBody>
      </p:sp>
      <p:sp>
        <p:nvSpPr>
          <p:cNvPr id="19" name="Shape 15"/>
          <p:cNvSpPr/>
          <p:nvPr/>
        </p:nvSpPr>
        <p:spPr>
          <a:xfrm>
            <a:off x="5806440" y="2148840"/>
            <a:ext cx="27889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0" name="Shape 16"/>
          <p:cNvSpPr/>
          <p:nvPr/>
        </p:nvSpPr>
        <p:spPr>
          <a:xfrm>
            <a:off x="5806440" y="2148840"/>
            <a:ext cx="54864" cy="1188720"/>
          </a:xfrm>
          <a:prstGeom prst="rect">
            <a:avLst/>
          </a:prstGeom>
          <a:solidFill>
            <a:srgbClr val="E57200"/>
          </a:solidFill>
          <a:ln/>
        </p:spPr>
      </p:sp>
      <p:pic>
        <p:nvPicPr>
          <p:cNvPr id="21" name="Image 2" descr="preencoded.png">    </p:cNvPr>
          <p:cNvPicPr>
            <a:picLocks noChangeAspect="1"/>
          </p:cNvPicPr>
          <p:nvPr/>
        </p:nvPicPr>
        <p:blipFill>
          <a:blip r:embed="rId3"/>
          <a:stretch>
            <a:fillRect/>
          </a:stretch>
        </p:blipFill>
        <p:spPr>
          <a:xfrm>
            <a:off x="5989320" y="2194560"/>
            <a:ext cx="201168" cy="201168"/>
          </a:xfrm>
          <a:prstGeom prst="rect">
            <a:avLst/>
          </a:prstGeom>
        </p:spPr>
      </p:pic>
      <p:sp>
        <p:nvSpPr>
          <p:cNvPr id="22" name="Text 17"/>
          <p:cNvSpPr/>
          <p:nvPr/>
        </p:nvSpPr>
        <p:spPr>
          <a:xfrm>
            <a:off x="6263640" y="2176272"/>
            <a:ext cx="1828800" cy="256032"/>
          </a:xfrm>
          <a:prstGeom prst="rect">
            <a:avLst/>
          </a:prstGeom>
          <a:noFill/>
          <a:ln/>
        </p:spPr>
        <p:txBody>
          <a:bodyPr wrap="square" lIns="0" tIns="0" rIns="0" bIns="0" rtlCol="0" anchor="ctr"/>
          <a:lstStyle/>
          <a:p>
            <a:pPr algn="l" indent="0" marL="0">
              <a:buNone/>
            </a:pPr>
            <a:r>
              <a:rPr lang="en-US" sz="900" b="1" spc="100" kern="0" dirty="0">
                <a:solidFill>
                  <a:srgbClr val="E57200"/>
                </a:solidFill>
                <a:latin typeface="Calibri" pitchFamily="34" charset="0"/>
                <a:ea typeface="Calibri" pitchFamily="34" charset="-122"/>
                <a:cs typeface="Calibri" pitchFamily="34" charset="-120"/>
              </a:rPr>
              <a:t>MOTIVATIONS</a:t>
            </a:r>
            <a:endParaRPr lang="en-US" sz="900" dirty="0"/>
          </a:p>
        </p:txBody>
      </p:sp>
      <p:sp>
        <p:nvSpPr>
          <p:cNvPr id="23" name="Text 18"/>
          <p:cNvSpPr/>
          <p:nvPr/>
        </p:nvSpPr>
        <p:spPr>
          <a:xfrm>
            <a:off x="5989320" y="2468880"/>
            <a:ext cx="2468880" cy="868680"/>
          </a:xfrm>
          <a:prstGeom prst="rect">
            <a:avLst/>
          </a:prstGeom>
          <a:noFill/>
          <a:ln/>
        </p:spPr>
        <p:txBody>
          <a:bodyPr wrap="square" rtlCol="0" anchor="t"/>
          <a:lstStyle/>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Win more games through smarter preparation</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Justify lineup decisions with data, not just instinct</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Save time so she can focus on coaching, not spreadsheets</a:t>
            </a:r>
            <a:endParaRPr lang="en-US" sz="1000" dirty="0"/>
          </a:p>
        </p:txBody>
      </p:sp>
      <p:sp>
        <p:nvSpPr>
          <p:cNvPr id="24" name="Shape 19"/>
          <p:cNvSpPr/>
          <p:nvPr/>
        </p:nvSpPr>
        <p:spPr>
          <a:xfrm>
            <a:off x="548640" y="3520440"/>
            <a:ext cx="8046720" cy="822960"/>
          </a:xfrm>
          <a:prstGeom prst="rect">
            <a:avLst/>
          </a:prstGeom>
          <a:solidFill>
            <a:srgbClr val="232D4B"/>
          </a:solidFill>
          <a:ln/>
        </p:spPr>
      </p:sp>
      <p:sp>
        <p:nvSpPr>
          <p:cNvPr id="25" name="Text 20"/>
          <p:cNvSpPr/>
          <p:nvPr/>
        </p:nvSpPr>
        <p:spPr>
          <a:xfrm>
            <a:off x="731520" y="3520440"/>
            <a:ext cx="7680960" cy="502920"/>
          </a:xfrm>
          <a:prstGeom prst="rect">
            <a:avLst/>
          </a:prstGeom>
          <a:noFill/>
          <a:ln/>
        </p:spPr>
        <p:txBody>
          <a:bodyPr wrap="square" rtlCol="0" anchor="ctr"/>
          <a:lstStyle/>
          <a:p>
            <a:pPr algn="l" indent="0" marL="0">
              <a:buNone/>
            </a:pPr>
            <a:r>
              <a:rPr lang="en-US" sz="2400" dirty="0">
                <a:solidFill>
                  <a:srgbClr val="E57200"/>
                </a:solidFill>
                <a:latin typeface="Georgia" pitchFamily="34" charset="0"/>
                <a:ea typeface="Georgia" pitchFamily="34" charset="-122"/>
                <a:cs typeface="Georgia" pitchFamily="34" charset="-120"/>
              </a:rPr>
              <a:t>"</a:t>
            </a:r>
            <a:pPr algn="l" indent="0" marL="0">
              <a:buNone/>
            </a:pPr>
            <a:r>
              <a:rPr lang="en-US" sz="1100" i="1" dirty="0">
                <a:solidFill>
                  <a:srgbClr val="FFFFFF"/>
                </a:solidFill>
                <a:latin typeface="Calibri" pitchFamily="34" charset="0"/>
                <a:ea typeface="Calibri" pitchFamily="34" charset="-122"/>
                <a:cs typeface="Calibri" pitchFamily="34" charset="-120"/>
              </a:rPr>
              <a:t>I don't have time to dig through spreadsheets before every film session. I need the key takeaways laid out for me.</a:t>
            </a:r>
            <a:pPr algn="l" indent="0" marL="0">
              <a:buNone/>
            </a:pPr>
            <a:r>
              <a:rPr lang="en-US" sz="2400" dirty="0">
                <a:solidFill>
                  <a:srgbClr val="E57200"/>
                </a:solidFill>
                <a:latin typeface="Georgia" pitchFamily="34" charset="0"/>
                <a:ea typeface="Georgia" pitchFamily="34" charset="-122"/>
                <a:cs typeface="Georgia" pitchFamily="34" charset="-120"/>
              </a:rPr>
              <a:t>"</a:t>
            </a:r>
            <a:endParaRPr lang="en-US" sz="2400" dirty="0"/>
          </a:p>
        </p:txBody>
      </p:sp>
      <p:sp>
        <p:nvSpPr>
          <p:cNvPr id="26" name="Text 21"/>
          <p:cNvSpPr/>
          <p:nvPr/>
        </p:nvSpPr>
        <p:spPr>
          <a:xfrm>
            <a:off x="731520" y="4023360"/>
            <a:ext cx="7680960" cy="274320"/>
          </a:xfrm>
          <a:prstGeom prst="rect">
            <a:avLst/>
          </a:prstGeom>
          <a:noFill/>
          <a:ln/>
        </p:spPr>
        <p:txBody>
          <a:bodyPr wrap="square" rtlCol="0" anchor="ctr"/>
          <a:lstStyle/>
          <a:p>
            <a:pPr algn="r" indent="0" marL="0">
              <a:buNone/>
            </a:pPr>
            <a:r>
              <a:rPr lang="en-US" sz="900" i="1" dirty="0">
                <a:solidFill>
                  <a:srgbClr val="CBD5E1"/>
                </a:solidFill>
                <a:latin typeface="Calibri" pitchFamily="34" charset="0"/>
                <a:ea typeface="Calibri" pitchFamily="34" charset="-122"/>
                <a:cs typeface="Calibri" pitchFamily="34" charset="-120"/>
              </a:rPr>
              <a:t>— Coach Sarah Mitchell, Associate Head Coach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Proto-Persona: Pain Points, Behaviors &amp; Needs</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868680"/>
            <a:ext cx="3840480" cy="20116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2011680"/>
          </a:xfrm>
          <a:prstGeom prst="rect">
            <a:avLst/>
          </a:prstGeom>
          <a:solidFill>
            <a:srgbClr val="DC2626"/>
          </a:solidFill>
          <a:ln/>
        </p:spPr>
      </p:sp>
      <p:pic>
        <p:nvPicPr>
          <p:cNvPr id="8" name="Image 0" descr="preencoded.png">    </p:cNvPr>
          <p:cNvPicPr>
            <a:picLocks noChangeAspect="1"/>
          </p:cNvPicPr>
          <p:nvPr/>
        </p:nvPicPr>
        <p:blipFill>
          <a:blip r:embed="rId1"/>
          <a:stretch>
            <a:fillRect/>
          </a:stretch>
        </p:blipFill>
        <p:spPr>
          <a:xfrm>
            <a:off x="749808" y="932688"/>
            <a:ext cx="228600" cy="228600"/>
          </a:xfrm>
          <a:prstGeom prst="rect">
            <a:avLst/>
          </a:prstGeom>
        </p:spPr>
      </p:pic>
      <p:sp>
        <p:nvSpPr>
          <p:cNvPr id="9" name="Text 6"/>
          <p:cNvSpPr/>
          <p:nvPr/>
        </p:nvSpPr>
        <p:spPr>
          <a:xfrm>
            <a:off x="1051560" y="914400"/>
            <a:ext cx="1828800" cy="274320"/>
          </a:xfrm>
          <a:prstGeom prst="rect">
            <a:avLst/>
          </a:prstGeom>
          <a:noFill/>
          <a:ln/>
        </p:spPr>
        <p:txBody>
          <a:bodyPr wrap="square" lIns="0" tIns="0" rIns="0" bIns="0" rtlCol="0" anchor="ctr"/>
          <a:lstStyle/>
          <a:p>
            <a:pPr algn="l" indent="0" marL="0">
              <a:buNone/>
            </a:pPr>
            <a:r>
              <a:rPr lang="en-US" sz="900" b="1" spc="100" kern="0" dirty="0">
                <a:solidFill>
                  <a:srgbClr val="DC2626"/>
                </a:solidFill>
                <a:latin typeface="Calibri" pitchFamily="34" charset="0"/>
                <a:ea typeface="Calibri" pitchFamily="34" charset="-122"/>
                <a:cs typeface="Calibri" pitchFamily="34" charset="-120"/>
              </a:rPr>
              <a:t>PAIN POINTS</a:t>
            </a:r>
            <a:endParaRPr lang="en-US" sz="900" dirty="0"/>
          </a:p>
        </p:txBody>
      </p:sp>
      <p:sp>
        <p:nvSpPr>
          <p:cNvPr id="10" name="Text 7"/>
          <p:cNvSpPr/>
          <p:nvPr/>
        </p:nvSpPr>
        <p:spPr>
          <a:xfrm>
            <a:off x="749808" y="1234440"/>
            <a:ext cx="3474720" cy="1554480"/>
          </a:xfrm>
          <a:prstGeom prst="rect">
            <a:avLst/>
          </a:prstGeom>
          <a:noFill/>
          <a:ln/>
        </p:spPr>
        <p:txBody>
          <a:bodyPr wrap="square" rtlCol="0" anchor="t"/>
          <a:lstStyle/>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Box scores are static Excel files — no interactivity, no filtering, no drill-down</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Comparing players requires manually flipping between multiple tabs and files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No way to visualize trends across the season or see win probability dynamics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Student analysts spend hours reformatting data that could be automated</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No centralized dashboard — data lives in email attachments and shared drives</a:t>
            </a:r>
            <a:endParaRPr lang="en-US" sz="1000" dirty="0"/>
          </a:p>
        </p:txBody>
      </p:sp>
      <p:sp>
        <p:nvSpPr>
          <p:cNvPr id="11" name="Shape 8"/>
          <p:cNvSpPr/>
          <p:nvPr/>
        </p:nvSpPr>
        <p:spPr>
          <a:xfrm>
            <a:off x="4754880" y="868680"/>
            <a:ext cx="3840480" cy="20116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2" name="Shape 9"/>
          <p:cNvSpPr/>
          <p:nvPr/>
        </p:nvSpPr>
        <p:spPr>
          <a:xfrm>
            <a:off x="4754880" y="868680"/>
            <a:ext cx="54864" cy="2011680"/>
          </a:xfrm>
          <a:prstGeom prst="rect">
            <a:avLst/>
          </a:prstGeom>
          <a:solidFill>
            <a:srgbClr val="2563EB"/>
          </a:solidFill>
          <a:ln/>
        </p:spPr>
      </p:sp>
      <p:pic>
        <p:nvPicPr>
          <p:cNvPr id="13" name="Image 1" descr="preencoded.png">    </p:cNvPr>
          <p:cNvPicPr>
            <a:picLocks noChangeAspect="1"/>
          </p:cNvPicPr>
          <p:nvPr/>
        </p:nvPicPr>
        <p:blipFill>
          <a:blip r:embed="rId2"/>
          <a:stretch>
            <a:fillRect/>
          </a:stretch>
        </p:blipFill>
        <p:spPr>
          <a:xfrm>
            <a:off x="4956048" y="932688"/>
            <a:ext cx="228600" cy="228600"/>
          </a:xfrm>
          <a:prstGeom prst="rect">
            <a:avLst/>
          </a:prstGeom>
        </p:spPr>
      </p:pic>
      <p:sp>
        <p:nvSpPr>
          <p:cNvPr id="14" name="Text 10"/>
          <p:cNvSpPr/>
          <p:nvPr/>
        </p:nvSpPr>
        <p:spPr>
          <a:xfrm>
            <a:off x="5257800" y="914400"/>
            <a:ext cx="2743200" cy="274320"/>
          </a:xfrm>
          <a:prstGeom prst="rect">
            <a:avLst/>
          </a:prstGeom>
          <a:noFill/>
          <a:ln/>
        </p:spPr>
        <p:txBody>
          <a:bodyPr wrap="square" lIns="0" tIns="0" rIns="0" bIns="0" rtlCol="0" anchor="ctr"/>
          <a:lstStyle/>
          <a:p>
            <a:pPr algn="l" indent="0" marL="0">
              <a:buNone/>
            </a:pPr>
            <a:r>
              <a:rPr lang="en-US" sz="900" b="1" spc="100" kern="0" dirty="0">
                <a:solidFill>
                  <a:srgbClr val="2563EB"/>
                </a:solidFill>
                <a:latin typeface="Calibri" pitchFamily="34" charset="0"/>
                <a:ea typeface="Calibri" pitchFamily="34" charset="-122"/>
                <a:cs typeface="Calibri" pitchFamily="34" charset="-120"/>
              </a:rPr>
              <a:t>BEHAVIORS &amp; HABITS</a:t>
            </a:r>
            <a:endParaRPr lang="en-US" sz="900" dirty="0"/>
          </a:p>
        </p:txBody>
      </p:sp>
      <p:sp>
        <p:nvSpPr>
          <p:cNvPr id="15" name="Text 11"/>
          <p:cNvSpPr/>
          <p:nvPr/>
        </p:nvSpPr>
        <p:spPr>
          <a:xfrm>
            <a:off x="4956048" y="1234440"/>
            <a:ext cx="3474720" cy="1554480"/>
          </a:xfrm>
          <a:prstGeom prst="rect">
            <a:avLst/>
          </a:prstGeom>
          <a:noFill/>
          <a:ln/>
        </p:spPr>
        <p:txBody>
          <a:bodyPr wrap="square" rtlCol="0" anchor="t"/>
          <a:lstStyle/>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Reviews game data within 24 hours of every game</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Uses a laptop during film sessions — needs large, readable visuals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Checks stats 3-4 times per week during the season</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Prefers visual summaries (charts, grades) over raw data tables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Often compares the current game to a previous matchup</a:t>
            </a:r>
            <a:endParaRPr lang="en-US" sz="1000" dirty="0"/>
          </a:p>
        </p:txBody>
      </p:sp>
      <p:sp>
        <p:nvSpPr>
          <p:cNvPr id="16" name="Shape 12"/>
          <p:cNvSpPr/>
          <p:nvPr/>
        </p:nvSpPr>
        <p:spPr>
          <a:xfrm>
            <a:off x="548640" y="3108960"/>
            <a:ext cx="3840480" cy="15544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7" name="Shape 13"/>
          <p:cNvSpPr/>
          <p:nvPr/>
        </p:nvSpPr>
        <p:spPr>
          <a:xfrm>
            <a:off x="548640" y="3108960"/>
            <a:ext cx="54864" cy="1554480"/>
          </a:xfrm>
          <a:prstGeom prst="rect">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749808" y="3172968"/>
            <a:ext cx="228600" cy="228600"/>
          </a:xfrm>
          <a:prstGeom prst="rect">
            <a:avLst/>
          </a:prstGeom>
        </p:spPr>
      </p:pic>
      <p:sp>
        <p:nvSpPr>
          <p:cNvPr id="19" name="Text 14"/>
          <p:cNvSpPr/>
          <p:nvPr/>
        </p:nvSpPr>
        <p:spPr>
          <a:xfrm>
            <a:off x="1051560" y="3154680"/>
            <a:ext cx="2743200" cy="274320"/>
          </a:xfrm>
          <a:prstGeom prst="rect">
            <a:avLst/>
          </a:prstGeom>
          <a:noFill/>
          <a:ln/>
        </p:spPr>
        <p:txBody>
          <a:bodyPr wrap="square" lIns="0" tIns="0" rIns="0" bIns="0" rtlCol="0" anchor="ctr"/>
          <a:lstStyle/>
          <a:p>
            <a:pPr algn="l" indent="0" marL="0">
              <a:buNone/>
            </a:pPr>
            <a:r>
              <a:rPr lang="en-US" sz="900" b="1" spc="100" kern="0" dirty="0">
                <a:solidFill>
                  <a:srgbClr val="0D9488"/>
                </a:solidFill>
                <a:latin typeface="Calibri" pitchFamily="34" charset="0"/>
                <a:ea typeface="Calibri" pitchFamily="34" charset="-122"/>
                <a:cs typeface="Calibri" pitchFamily="34" charset="-120"/>
              </a:rPr>
              <a:t>NEEDS / REQUIREMENTS</a:t>
            </a:r>
            <a:endParaRPr lang="en-US" sz="900" dirty="0"/>
          </a:p>
        </p:txBody>
      </p:sp>
      <p:sp>
        <p:nvSpPr>
          <p:cNvPr id="20" name="Text 15"/>
          <p:cNvSpPr/>
          <p:nvPr/>
        </p:nvSpPr>
        <p:spPr>
          <a:xfrm>
            <a:off x="749808" y="3474720"/>
            <a:ext cx="3474720" cy="1097280"/>
          </a:xfrm>
          <a:prstGeom prst="rect">
            <a:avLst/>
          </a:prstGeom>
          <a:noFill/>
          <a:ln/>
        </p:spPr>
        <p:txBody>
          <a:bodyPr wrap="square" rtlCol="0" anchor="t"/>
          <a:lstStyle/>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One-click access to any game's full breakdown</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Visual grading system that summarizes performance instantly</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Side-by-side player comparison with radar charts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Season trend visualizations and win probability models</a:t>
            </a:r>
            <a:endParaRPr lang="en-US" sz="1000" dirty="0"/>
          </a:p>
        </p:txBody>
      </p:sp>
      <p:sp>
        <p:nvSpPr>
          <p:cNvPr id="21" name="Shape 16"/>
          <p:cNvSpPr/>
          <p:nvPr/>
        </p:nvSpPr>
        <p:spPr>
          <a:xfrm>
            <a:off x="4754880" y="3108960"/>
            <a:ext cx="3840480" cy="15544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2" name="Shape 17"/>
          <p:cNvSpPr/>
          <p:nvPr/>
        </p:nvSpPr>
        <p:spPr>
          <a:xfrm>
            <a:off x="4754880" y="3108960"/>
            <a:ext cx="54864" cy="1554480"/>
          </a:xfrm>
          <a:prstGeom prst="rect">
            <a:avLst/>
          </a:prstGeom>
          <a:solidFill>
            <a:srgbClr val="7C3AED"/>
          </a:solidFill>
          <a:ln/>
        </p:spPr>
      </p:sp>
      <p:pic>
        <p:nvPicPr>
          <p:cNvPr id="23" name="Image 3" descr="preencoded.png">    </p:cNvPr>
          <p:cNvPicPr>
            <a:picLocks noChangeAspect="1"/>
          </p:cNvPicPr>
          <p:nvPr/>
        </p:nvPicPr>
        <p:blipFill>
          <a:blip r:embed="rId4"/>
          <a:stretch>
            <a:fillRect/>
          </a:stretch>
        </p:blipFill>
        <p:spPr>
          <a:xfrm>
            <a:off x="4956048" y="3172968"/>
            <a:ext cx="228600" cy="228600"/>
          </a:xfrm>
          <a:prstGeom prst="rect">
            <a:avLst/>
          </a:prstGeom>
        </p:spPr>
      </p:pic>
      <p:sp>
        <p:nvSpPr>
          <p:cNvPr id="24" name="Text 18"/>
          <p:cNvSpPr/>
          <p:nvPr/>
        </p:nvSpPr>
        <p:spPr>
          <a:xfrm>
            <a:off x="5257800" y="3154680"/>
            <a:ext cx="2743200" cy="274320"/>
          </a:xfrm>
          <a:prstGeom prst="rect">
            <a:avLst/>
          </a:prstGeom>
          <a:noFill/>
          <a:ln/>
        </p:spPr>
        <p:txBody>
          <a:bodyPr wrap="square" lIns="0" tIns="0" rIns="0" bIns="0" rtlCol="0" anchor="ctr"/>
          <a:lstStyle/>
          <a:p>
            <a:pPr algn="l" indent="0" marL="0">
              <a:buNone/>
            </a:pPr>
            <a:r>
              <a:rPr lang="en-US" sz="900" b="1" spc="100" kern="0" dirty="0">
                <a:solidFill>
                  <a:srgbClr val="7C3AED"/>
                </a:solidFill>
                <a:latin typeface="Calibri" pitchFamily="34" charset="0"/>
                <a:ea typeface="Calibri" pitchFamily="34" charset="-122"/>
                <a:cs typeface="Calibri" pitchFamily="34" charset="-120"/>
              </a:rPr>
              <a:t>SCENARIO / KEY TASK</a:t>
            </a:r>
            <a:endParaRPr lang="en-US" sz="900" dirty="0"/>
          </a:p>
        </p:txBody>
      </p:sp>
      <p:sp>
        <p:nvSpPr>
          <p:cNvPr id="25" name="Text 19"/>
          <p:cNvSpPr/>
          <p:nvPr/>
        </p:nvSpPr>
        <p:spPr>
          <a:xfrm>
            <a:off x="4956048" y="3474720"/>
            <a:ext cx="3474720" cy="109728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It's Tuesday afternoon and UVA just lost to Clemson 10-12 on Saturday. Coach Mitchell opens LaxIQ on her laptop before the 3 PM film session. She clicks the Clemson game from the schedule, reviews the letter grades (Defense: C-, Draw Unit: D+), drills into the player stats to see who underperformed, then uses the game comparison tool to pull up last year's matchup. In 5 minutes she has three data-backed talking points ready for the team.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640080" y="1463040"/>
            <a:ext cx="1097280" cy="1097280"/>
          </a:xfrm>
          <a:prstGeom prst="ellipse">
            <a:avLst/>
          </a:prstGeom>
          <a:solidFill>
            <a:srgbClr val="E57200"/>
          </a:solidFill>
          <a:ln/>
        </p:spPr>
      </p:sp>
      <p:sp>
        <p:nvSpPr>
          <p:cNvPr id="3" name="Text 1"/>
          <p:cNvSpPr/>
          <p:nvPr/>
        </p:nvSpPr>
        <p:spPr>
          <a:xfrm>
            <a:off x="640080" y="1463040"/>
            <a:ext cx="109728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4" name="Text 2"/>
          <p:cNvSpPr/>
          <p:nvPr/>
        </p:nvSpPr>
        <p:spPr>
          <a:xfrm>
            <a:off x="2011680" y="1280160"/>
            <a:ext cx="6400800" cy="7315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Usability Targets</a:t>
            </a:r>
            <a:endParaRPr lang="en-US" sz="3600" dirty="0"/>
          </a:p>
        </p:txBody>
      </p:sp>
      <p:sp>
        <p:nvSpPr>
          <p:cNvPr id="5" name="Text 3"/>
          <p:cNvSpPr/>
          <p:nvPr/>
        </p:nvSpPr>
        <p:spPr>
          <a:xfrm>
            <a:off x="2011680" y="2011680"/>
            <a:ext cx="6400800" cy="548640"/>
          </a:xfrm>
          <a:prstGeom prst="rect">
            <a:avLst/>
          </a:prstGeom>
          <a:noFill/>
          <a:ln/>
        </p:spPr>
        <p:txBody>
          <a:bodyPr wrap="square" rtlCol="0" anchor="t"/>
          <a:lstStyle/>
          <a:p>
            <a:pPr algn="l" indent="0" marL="0">
              <a:buNone/>
            </a:pPr>
            <a:r>
              <a:rPr lang="en-US" sz="1400" dirty="0">
                <a:solidFill>
                  <a:srgbClr val="94A3B8"/>
                </a:solidFill>
                <a:latin typeface="Calibri" pitchFamily="34" charset="0"/>
                <a:ea typeface="Calibri" pitchFamily="34" charset="-122"/>
                <a:cs typeface="Calibri" pitchFamily="34" charset="-120"/>
              </a:rPr>
              <a:t>ISO Usability Metrics + Five Components of Usability  |  20 pts</a:t>
            </a:r>
            <a:endParaRPr lang="en-US" sz="1400" dirty="0"/>
          </a:p>
        </p:txBody>
      </p:sp>
      <p:sp>
        <p:nvSpPr>
          <p:cNvPr id="6" name="Shape 4"/>
          <p:cNvSpPr/>
          <p:nvPr/>
        </p:nvSpPr>
        <p:spPr>
          <a:xfrm>
            <a:off x="0" y="4800600"/>
            <a:ext cx="9144000" cy="342900"/>
          </a:xfrm>
          <a:prstGeom prst="rect">
            <a:avLst/>
          </a:prstGeom>
          <a:solidFill>
            <a:srgbClr val="E57200"/>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ISO Usability Metrics (ISO 9241-11)</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868680"/>
            <a:ext cx="8046720" cy="126187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1261872"/>
          </a:xfrm>
          <a:prstGeom prst="rect">
            <a:avLst/>
          </a:prstGeom>
          <a:solidFill>
            <a:srgbClr val="16A34A"/>
          </a:solidFill>
          <a:ln/>
        </p:spPr>
      </p:sp>
      <p:pic>
        <p:nvPicPr>
          <p:cNvPr id="8" name="Image 0" descr="preencoded.png">    </p:cNvPr>
          <p:cNvPicPr>
            <a:picLocks noChangeAspect="1"/>
          </p:cNvPicPr>
          <p:nvPr/>
        </p:nvPicPr>
        <p:blipFill>
          <a:blip r:embed="rId1"/>
          <a:stretch>
            <a:fillRect/>
          </a:stretch>
        </p:blipFill>
        <p:spPr>
          <a:xfrm>
            <a:off x="749808" y="941832"/>
            <a:ext cx="274320" cy="274320"/>
          </a:xfrm>
          <a:prstGeom prst="rect">
            <a:avLst/>
          </a:prstGeom>
        </p:spPr>
      </p:pic>
      <p:sp>
        <p:nvSpPr>
          <p:cNvPr id="9" name="Text 6"/>
          <p:cNvSpPr/>
          <p:nvPr/>
        </p:nvSpPr>
        <p:spPr>
          <a:xfrm>
            <a:off x="1097280" y="914400"/>
            <a:ext cx="1645920" cy="320040"/>
          </a:xfrm>
          <a:prstGeom prst="rect">
            <a:avLst/>
          </a:prstGeom>
          <a:noFill/>
          <a:ln/>
        </p:spPr>
        <p:txBody>
          <a:bodyPr wrap="square" lIns="0" tIns="0" rIns="0" bIns="0" rtlCol="0" anchor="ctr"/>
          <a:lstStyle/>
          <a:p>
            <a:pPr algn="l" indent="0" marL="0">
              <a:buNone/>
            </a:pPr>
            <a:r>
              <a:rPr lang="en-US" sz="1400" b="1" dirty="0">
                <a:solidFill>
                  <a:srgbClr val="16A34A"/>
                </a:solidFill>
                <a:latin typeface="Calibri" pitchFamily="34" charset="0"/>
                <a:ea typeface="Calibri" pitchFamily="34" charset="-122"/>
                <a:cs typeface="Calibri" pitchFamily="34" charset="-120"/>
              </a:rPr>
              <a:t>Effectiveness</a:t>
            </a:r>
            <a:endParaRPr lang="en-US" sz="1400" dirty="0"/>
          </a:p>
        </p:txBody>
      </p:sp>
      <p:sp>
        <p:nvSpPr>
          <p:cNvPr id="10" name="Text 7"/>
          <p:cNvSpPr/>
          <p:nvPr/>
        </p:nvSpPr>
        <p:spPr>
          <a:xfrm>
            <a:off x="2560320" y="914400"/>
            <a:ext cx="5852160" cy="32004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What does "success" mean for LaxIQ?</a:t>
            </a:r>
            <a:endParaRPr lang="en-US" sz="1000" dirty="0"/>
          </a:p>
        </p:txBody>
      </p:sp>
      <p:sp>
        <p:nvSpPr>
          <p:cNvPr id="11" name="Text 8"/>
          <p:cNvSpPr/>
          <p:nvPr/>
        </p:nvSpPr>
        <p:spPr>
          <a:xfrm>
            <a:off x="749808" y="1234440"/>
            <a:ext cx="5943600" cy="685800"/>
          </a:xfrm>
          <a:prstGeom prst="rect">
            <a:avLst/>
          </a:prstGeom>
          <a:noFill/>
          <a:ln/>
        </p:spPr>
        <p:txBody>
          <a:bodyPr wrap="square" rtlCol="0" anchor="t"/>
          <a:lstStyle/>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User selects a game from the schedule and sees the full game breakdown with grades — success = grades visible + player stats loaded</a:t>
            </a:r>
            <a:endParaRPr lang="en-US" sz="950" dirty="0"/>
          </a:p>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User compares two players on the Player Intelligence page — success = both radar charts rendered side by side</a:t>
            </a:r>
            <a:endParaRPr lang="en-US" sz="950" dirty="0"/>
          </a:p>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User asks LaxIQ Assistant a question and receives a data-backed response — success = response includes specific stats from the dataset</a:t>
            </a:r>
            <a:endParaRPr lang="en-US" sz="950" dirty="0"/>
          </a:p>
        </p:txBody>
      </p:sp>
      <p:sp>
        <p:nvSpPr>
          <p:cNvPr id="12" name="Shape 9"/>
          <p:cNvSpPr/>
          <p:nvPr/>
        </p:nvSpPr>
        <p:spPr>
          <a:xfrm>
            <a:off x="6675120" y="1325880"/>
            <a:ext cx="1828800" cy="457200"/>
          </a:xfrm>
          <a:prstGeom prst="rect">
            <a:avLst/>
          </a:prstGeom>
          <a:solidFill>
            <a:srgbClr val="16A34A">
              <a:alpha val="15000"/>
            </a:srgbClr>
          </a:solidFill>
          <a:ln w="12700">
            <a:solidFill>
              <a:srgbClr val="16A34A"/>
            </a:solidFill>
            <a:prstDash val="solid"/>
          </a:ln>
        </p:spPr>
      </p:sp>
      <p:sp>
        <p:nvSpPr>
          <p:cNvPr id="13" name="Text 10"/>
          <p:cNvSpPr/>
          <p:nvPr/>
        </p:nvSpPr>
        <p:spPr>
          <a:xfrm>
            <a:off x="6675120" y="1325880"/>
            <a:ext cx="1828800" cy="457200"/>
          </a:xfrm>
          <a:prstGeom prst="rect">
            <a:avLst/>
          </a:prstGeom>
          <a:noFill/>
          <a:ln/>
        </p:spPr>
        <p:txBody>
          <a:bodyPr wrap="square" rtlCol="0" anchor="ctr"/>
          <a:lstStyle/>
          <a:p>
            <a:pPr algn="ctr" indent="0" marL="0">
              <a:buNone/>
            </a:pPr>
            <a:r>
              <a:rPr lang="en-US" sz="800" b="1" dirty="0">
                <a:solidFill>
                  <a:srgbClr val="16A34A"/>
                </a:solidFill>
                <a:latin typeface="Calibri" pitchFamily="34" charset="0"/>
                <a:ea typeface="Calibri" pitchFamily="34" charset="-122"/>
                <a:cs typeface="Calibri" pitchFamily="34" charset="-120"/>
              </a:rPr>
              <a:t>≥ 90% task completion rate across all three core tasks</a:t>
            </a:r>
            <a:endParaRPr lang="en-US" sz="800" dirty="0"/>
          </a:p>
        </p:txBody>
      </p:sp>
      <p:sp>
        <p:nvSpPr>
          <p:cNvPr id="14" name="Shape 11"/>
          <p:cNvSpPr/>
          <p:nvPr/>
        </p:nvSpPr>
        <p:spPr>
          <a:xfrm>
            <a:off x="548640" y="2240280"/>
            <a:ext cx="8046720" cy="126187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5" name="Shape 12"/>
          <p:cNvSpPr/>
          <p:nvPr/>
        </p:nvSpPr>
        <p:spPr>
          <a:xfrm>
            <a:off x="548640" y="2240280"/>
            <a:ext cx="54864" cy="1261872"/>
          </a:xfrm>
          <a:prstGeom prst="rect">
            <a:avLst/>
          </a:prstGeom>
          <a:solidFill>
            <a:srgbClr val="0D9488"/>
          </a:solidFill>
          <a:ln/>
        </p:spPr>
      </p:sp>
      <p:pic>
        <p:nvPicPr>
          <p:cNvPr id="16" name="Image 1" descr="preencoded.png">    </p:cNvPr>
          <p:cNvPicPr>
            <a:picLocks noChangeAspect="1"/>
          </p:cNvPicPr>
          <p:nvPr/>
        </p:nvPicPr>
        <p:blipFill>
          <a:blip r:embed="rId2"/>
          <a:stretch>
            <a:fillRect/>
          </a:stretch>
        </p:blipFill>
        <p:spPr>
          <a:xfrm>
            <a:off x="749808" y="2313432"/>
            <a:ext cx="274320" cy="274320"/>
          </a:xfrm>
          <a:prstGeom prst="rect">
            <a:avLst/>
          </a:prstGeom>
        </p:spPr>
      </p:pic>
      <p:sp>
        <p:nvSpPr>
          <p:cNvPr id="17" name="Text 13"/>
          <p:cNvSpPr/>
          <p:nvPr/>
        </p:nvSpPr>
        <p:spPr>
          <a:xfrm>
            <a:off x="1097280" y="2286000"/>
            <a:ext cx="1645920" cy="320040"/>
          </a:xfrm>
          <a:prstGeom prst="rect">
            <a:avLst/>
          </a:prstGeom>
          <a:noFill/>
          <a:ln/>
        </p:spPr>
        <p:txBody>
          <a:bodyPr wrap="square" lIns="0" tIns="0" rIns="0" bIns="0" rtlCol="0" anchor="ctr"/>
          <a:lstStyle/>
          <a:p>
            <a:pPr algn="l" indent="0" marL="0">
              <a:buNone/>
            </a:pPr>
            <a:r>
              <a:rPr lang="en-US" sz="1400" b="1" dirty="0">
                <a:solidFill>
                  <a:srgbClr val="0D9488"/>
                </a:solidFill>
                <a:latin typeface="Calibri" pitchFamily="34" charset="0"/>
                <a:ea typeface="Calibri" pitchFamily="34" charset="-122"/>
                <a:cs typeface="Calibri" pitchFamily="34" charset="-120"/>
              </a:rPr>
              <a:t>Efficiency</a:t>
            </a:r>
            <a:endParaRPr lang="en-US" sz="1400" dirty="0"/>
          </a:p>
        </p:txBody>
      </p:sp>
      <p:sp>
        <p:nvSpPr>
          <p:cNvPr id="18" name="Text 14"/>
          <p:cNvSpPr/>
          <p:nvPr/>
        </p:nvSpPr>
        <p:spPr>
          <a:xfrm>
            <a:off x="2560320" y="2286000"/>
            <a:ext cx="5852160" cy="32004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What does "fast enough" mean?</a:t>
            </a:r>
            <a:endParaRPr lang="en-US" sz="1000" dirty="0"/>
          </a:p>
        </p:txBody>
      </p:sp>
      <p:sp>
        <p:nvSpPr>
          <p:cNvPr id="19" name="Text 15"/>
          <p:cNvSpPr/>
          <p:nvPr/>
        </p:nvSpPr>
        <p:spPr>
          <a:xfrm>
            <a:off x="749808" y="2606040"/>
            <a:ext cx="5943600" cy="685800"/>
          </a:xfrm>
          <a:prstGeom prst="rect">
            <a:avLst/>
          </a:prstGeom>
          <a:noFill/>
          <a:ln/>
        </p:spPr>
        <p:txBody>
          <a:bodyPr wrap="square" rtlCol="0" anchor="t"/>
          <a:lstStyle/>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User navigates from Home to a specific game's full breakdown in under 15 seconds (2 clicks max)</a:t>
            </a:r>
            <a:endParaRPr lang="en-US" sz="950" dirty="0"/>
          </a:p>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User generates a player comparison with radar charts in under 30 seconds</a:t>
            </a:r>
            <a:endParaRPr lang="en-US" sz="950" dirty="0"/>
          </a:p>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User gets a meaningful LaxIQ Assistant response within 10 seconds of sending a question</a:t>
            </a:r>
            <a:endParaRPr lang="en-US" sz="950" dirty="0"/>
          </a:p>
        </p:txBody>
      </p:sp>
      <p:sp>
        <p:nvSpPr>
          <p:cNvPr id="20" name="Shape 16"/>
          <p:cNvSpPr/>
          <p:nvPr/>
        </p:nvSpPr>
        <p:spPr>
          <a:xfrm>
            <a:off x="6675120" y="2697480"/>
            <a:ext cx="1828800" cy="457200"/>
          </a:xfrm>
          <a:prstGeom prst="rect">
            <a:avLst/>
          </a:prstGeom>
          <a:solidFill>
            <a:srgbClr val="0D9488">
              <a:alpha val="15000"/>
            </a:srgbClr>
          </a:solidFill>
          <a:ln w="12700">
            <a:solidFill>
              <a:srgbClr val="0D9488"/>
            </a:solidFill>
            <a:prstDash val="solid"/>
          </a:ln>
        </p:spPr>
      </p:sp>
      <p:sp>
        <p:nvSpPr>
          <p:cNvPr id="21" name="Text 17"/>
          <p:cNvSpPr/>
          <p:nvPr/>
        </p:nvSpPr>
        <p:spPr>
          <a:xfrm>
            <a:off x="6675120" y="2697480"/>
            <a:ext cx="1828800" cy="457200"/>
          </a:xfrm>
          <a:prstGeom prst="rect">
            <a:avLst/>
          </a:prstGeom>
          <a:noFill/>
          <a:ln/>
        </p:spPr>
        <p:txBody>
          <a:bodyPr wrap="square"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Core tasks completed in ≤ 30 seconds for first-time users, ≤ 15 seconds for returning users</a:t>
            </a:r>
            <a:endParaRPr lang="en-US" sz="800" dirty="0"/>
          </a:p>
        </p:txBody>
      </p:sp>
      <p:sp>
        <p:nvSpPr>
          <p:cNvPr id="22" name="Shape 18"/>
          <p:cNvSpPr/>
          <p:nvPr/>
        </p:nvSpPr>
        <p:spPr>
          <a:xfrm>
            <a:off x="548640" y="3611880"/>
            <a:ext cx="8046720" cy="126187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3" name="Shape 19"/>
          <p:cNvSpPr/>
          <p:nvPr/>
        </p:nvSpPr>
        <p:spPr>
          <a:xfrm>
            <a:off x="548640" y="3611880"/>
            <a:ext cx="54864" cy="1261872"/>
          </a:xfrm>
          <a:prstGeom prst="rect">
            <a:avLst/>
          </a:prstGeom>
          <a:solidFill>
            <a:srgbClr val="E57200"/>
          </a:solidFill>
          <a:ln/>
        </p:spPr>
      </p:sp>
      <p:pic>
        <p:nvPicPr>
          <p:cNvPr id="24" name="Image 2" descr="preencoded.png">    </p:cNvPr>
          <p:cNvPicPr>
            <a:picLocks noChangeAspect="1"/>
          </p:cNvPicPr>
          <p:nvPr/>
        </p:nvPicPr>
        <p:blipFill>
          <a:blip r:embed="rId3"/>
          <a:stretch>
            <a:fillRect/>
          </a:stretch>
        </p:blipFill>
        <p:spPr>
          <a:xfrm>
            <a:off x="749808" y="3685032"/>
            <a:ext cx="274320" cy="274320"/>
          </a:xfrm>
          <a:prstGeom prst="rect">
            <a:avLst/>
          </a:prstGeom>
        </p:spPr>
      </p:pic>
      <p:sp>
        <p:nvSpPr>
          <p:cNvPr id="25" name="Text 20"/>
          <p:cNvSpPr/>
          <p:nvPr/>
        </p:nvSpPr>
        <p:spPr>
          <a:xfrm>
            <a:off x="1097280" y="3657600"/>
            <a:ext cx="1645920" cy="320040"/>
          </a:xfrm>
          <a:prstGeom prst="rect">
            <a:avLst/>
          </a:prstGeom>
          <a:noFill/>
          <a:ln/>
        </p:spPr>
        <p:txBody>
          <a:bodyPr wrap="square" lIns="0" tIns="0" rIns="0" bIns="0" rtlCol="0" anchor="ctr"/>
          <a:lstStyle/>
          <a:p>
            <a:pPr algn="l" indent="0" marL="0">
              <a:buNone/>
            </a:pPr>
            <a:r>
              <a:rPr lang="en-US" sz="1400" b="1" dirty="0">
                <a:solidFill>
                  <a:srgbClr val="E57200"/>
                </a:solidFill>
                <a:latin typeface="Calibri" pitchFamily="34" charset="0"/>
                <a:ea typeface="Calibri" pitchFamily="34" charset="-122"/>
                <a:cs typeface="Calibri" pitchFamily="34" charset="-120"/>
              </a:rPr>
              <a:t>Satisfaction</a:t>
            </a:r>
            <a:endParaRPr lang="en-US" sz="1400" dirty="0"/>
          </a:p>
        </p:txBody>
      </p:sp>
      <p:sp>
        <p:nvSpPr>
          <p:cNvPr id="26" name="Text 21"/>
          <p:cNvSpPr/>
          <p:nvPr/>
        </p:nvSpPr>
        <p:spPr>
          <a:xfrm>
            <a:off x="2560320" y="3657600"/>
            <a:ext cx="5852160" cy="32004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How will we gauge it?</a:t>
            </a:r>
            <a:endParaRPr lang="en-US" sz="1000" dirty="0"/>
          </a:p>
        </p:txBody>
      </p:sp>
      <p:sp>
        <p:nvSpPr>
          <p:cNvPr id="27" name="Text 22"/>
          <p:cNvSpPr/>
          <p:nvPr/>
        </p:nvSpPr>
        <p:spPr>
          <a:xfrm>
            <a:off x="749808" y="3977640"/>
            <a:ext cx="5943600" cy="685800"/>
          </a:xfrm>
          <a:prstGeom prst="rect">
            <a:avLst/>
          </a:prstGeom>
          <a:noFill/>
          <a:ln/>
        </p:spPr>
        <p:txBody>
          <a:bodyPr wrap="square" rtlCol="0" anchor="t"/>
          <a:lstStyle/>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Post-task ease rating of 4+ out of 5 on the Single Ease Question (SEQ)</a:t>
            </a:r>
            <a:endParaRPr lang="en-US" sz="950" dirty="0"/>
          </a:p>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System Usability Scale (SUS) score of ≥ 75 (above-average usability)</a:t>
            </a:r>
            <a:endParaRPr lang="en-US" sz="950" dirty="0"/>
          </a:p>
          <a:p>
            <a:pPr algn="l" marL="342900" indent="-342900">
              <a:buSzPct val="100000"/>
              <a:buChar char="•"/>
            </a:pPr>
            <a:r>
              <a:rPr lang="en-US" sz="950" dirty="0">
                <a:solidFill>
                  <a:srgbClr val="475569"/>
                </a:solidFill>
                <a:latin typeface="Calibri" pitchFamily="34" charset="0"/>
                <a:ea typeface="Calibri" pitchFamily="34" charset="-122"/>
                <a:cs typeface="Calibri" pitchFamily="34" charset="-120"/>
              </a:rPr>
              <a:t>Qualitative: Users describe the tool as "fast," "clear," or "useful" in post-session feedback</a:t>
            </a:r>
            <a:endParaRPr lang="en-US" sz="950" dirty="0"/>
          </a:p>
        </p:txBody>
      </p:sp>
      <p:sp>
        <p:nvSpPr>
          <p:cNvPr id="28" name="Shape 23"/>
          <p:cNvSpPr/>
          <p:nvPr/>
        </p:nvSpPr>
        <p:spPr>
          <a:xfrm>
            <a:off x="6675120" y="4069080"/>
            <a:ext cx="1828800" cy="457200"/>
          </a:xfrm>
          <a:prstGeom prst="rect">
            <a:avLst/>
          </a:prstGeom>
          <a:solidFill>
            <a:srgbClr val="E57200">
              <a:alpha val="15000"/>
            </a:srgbClr>
          </a:solidFill>
          <a:ln w="12700">
            <a:solidFill>
              <a:srgbClr val="E57200"/>
            </a:solidFill>
            <a:prstDash val="solid"/>
          </a:ln>
        </p:spPr>
      </p:sp>
      <p:sp>
        <p:nvSpPr>
          <p:cNvPr id="29" name="Text 24"/>
          <p:cNvSpPr/>
          <p:nvPr/>
        </p:nvSpPr>
        <p:spPr>
          <a:xfrm>
            <a:off x="6675120" y="4069080"/>
            <a:ext cx="1828800" cy="457200"/>
          </a:xfrm>
          <a:prstGeom prst="rect">
            <a:avLst/>
          </a:prstGeom>
          <a:noFill/>
          <a:ln/>
        </p:spPr>
        <p:txBody>
          <a:bodyPr wrap="square" rtlCol="0" anchor="ctr"/>
          <a:lstStyle/>
          <a:p>
            <a:pPr algn="ctr" indent="0" marL="0">
              <a:buNone/>
            </a:pPr>
            <a:r>
              <a:rPr lang="en-US" sz="800" b="1" dirty="0">
                <a:solidFill>
                  <a:srgbClr val="E57200"/>
                </a:solidFill>
                <a:latin typeface="Calibri" pitchFamily="34" charset="0"/>
                <a:ea typeface="Calibri" pitchFamily="34" charset="-122"/>
                <a:cs typeface="Calibri" pitchFamily="34" charset="-120"/>
              </a:rPr>
              <a:t>Average SUS score ≥ 75; Average SEQ ≥ 4.0/5.0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Five Components of Usability (Nielsen)</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868680"/>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713232"/>
          </a:xfrm>
          <a:prstGeom prst="rect">
            <a:avLst/>
          </a:prstGeom>
          <a:solidFill>
            <a:srgbClr val="232D4B"/>
          </a:solidFill>
          <a:ln/>
        </p:spPr>
      </p:sp>
      <p:pic>
        <p:nvPicPr>
          <p:cNvPr id="8" name="Image 0" descr="preencoded.png">    </p:cNvPr>
          <p:cNvPicPr>
            <a:picLocks noChangeAspect="1"/>
          </p:cNvPicPr>
          <p:nvPr/>
        </p:nvPicPr>
        <p:blipFill>
          <a:blip r:embed="rId1"/>
          <a:stretch>
            <a:fillRect/>
          </a:stretch>
        </p:blipFill>
        <p:spPr>
          <a:xfrm>
            <a:off x="749808" y="1024128"/>
            <a:ext cx="320040" cy="320040"/>
          </a:xfrm>
          <a:prstGeom prst="rect">
            <a:avLst/>
          </a:prstGeom>
        </p:spPr>
      </p:pic>
      <p:sp>
        <p:nvSpPr>
          <p:cNvPr id="9" name="Text 6"/>
          <p:cNvSpPr/>
          <p:nvPr/>
        </p:nvSpPr>
        <p:spPr>
          <a:xfrm>
            <a:off x="1188720" y="868680"/>
            <a:ext cx="1371600" cy="320040"/>
          </a:xfrm>
          <a:prstGeom prst="rect">
            <a:avLst/>
          </a:prstGeom>
          <a:noFill/>
          <a:ln/>
        </p:spPr>
        <p:txBody>
          <a:bodyPr wrap="square" lIns="0" tIns="0" rIns="0" bIns="0" rtlCol="0" anchor="b"/>
          <a:lstStyle/>
          <a:p>
            <a:pPr algn="l" indent="0" marL="0">
              <a:buNone/>
            </a:pPr>
            <a:r>
              <a:rPr lang="en-US" sz="1200" b="1" dirty="0">
                <a:solidFill>
                  <a:srgbClr val="232D4B"/>
                </a:solidFill>
                <a:latin typeface="Calibri" pitchFamily="34" charset="0"/>
                <a:ea typeface="Calibri" pitchFamily="34" charset="-122"/>
                <a:cs typeface="Calibri" pitchFamily="34" charset="-120"/>
              </a:rPr>
              <a:t>Learnability</a:t>
            </a:r>
            <a:endParaRPr lang="en-US" sz="1200" dirty="0"/>
          </a:p>
        </p:txBody>
      </p:sp>
      <p:sp>
        <p:nvSpPr>
          <p:cNvPr id="10" name="Text 7"/>
          <p:cNvSpPr/>
          <p:nvPr/>
        </p:nvSpPr>
        <p:spPr>
          <a:xfrm>
            <a:off x="1188720" y="1161288"/>
            <a:ext cx="1645920" cy="320040"/>
          </a:xfrm>
          <a:prstGeom prst="rect">
            <a:avLst/>
          </a:prstGeom>
          <a:noFill/>
          <a:ln/>
        </p:spPr>
        <p:txBody>
          <a:bodyPr wrap="square" lIns="0" tIns="0" rIns="0" bIns="0" rtlCol="0" anchor="t"/>
          <a:lstStyle/>
          <a:p>
            <a:pPr algn="l" indent="0" marL="0">
              <a:buNone/>
            </a:pPr>
            <a:r>
              <a:rPr lang="en-US" sz="800" i="1" dirty="0">
                <a:solidFill>
                  <a:srgbClr val="94A3B8"/>
                </a:solidFill>
                <a:latin typeface="Calibri" pitchFamily="34" charset="0"/>
                <a:ea typeface="Calibri" pitchFamily="34" charset="-122"/>
                <a:cs typeface="Calibri" pitchFamily="34" charset="-120"/>
              </a:rPr>
              <a:t>How easy is it for new users to accomplish basic tasks?</a:t>
            </a:r>
            <a:endParaRPr lang="en-US" sz="800" dirty="0"/>
          </a:p>
        </p:txBody>
      </p:sp>
      <p:sp>
        <p:nvSpPr>
          <p:cNvPr id="11" name="Text 8"/>
          <p:cNvSpPr/>
          <p:nvPr/>
        </p:nvSpPr>
        <p:spPr>
          <a:xfrm>
            <a:off x="2926080" y="868680"/>
            <a:ext cx="3474720" cy="713232"/>
          </a:xfrm>
          <a:prstGeom prst="rect">
            <a:avLst/>
          </a:prstGeom>
          <a:noFill/>
          <a:ln/>
        </p:spPr>
        <p:txBody>
          <a:bodyPr wrap="square" rtlCol="0" anchor="ctr"/>
          <a:lstStyle/>
          <a:p>
            <a:pPr algn="l" indent="0" marL="0">
              <a:buNone/>
            </a:pPr>
            <a:r>
              <a:rPr lang="en-US" sz="950" dirty="0">
                <a:solidFill>
                  <a:srgbClr val="475569"/>
                </a:solidFill>
                <a:latin typeface="Calibri" pitchFamily="34" charset="0"/>
                <a:ea typeface="Calibri" pitchFamily="34" charset="-122"/>
                <a:cs typeface="Calibri" pitchFamily="34" charset="-120"/>
              </a:rPr>
              <a:t>A first-time user (coach unfamiliar with the tool) can navigate from the Home page to a specific game's grade breakdown within 30 seconds without assistance.</a:t>
            </a:r>
            <a:endParaRPr lang="en-US" sz="950" dirty="0"/>
          </a:p>
        </p:txBody>
      </p:sp>
      <p:sp>
        <p:nvSpPr>
          <p:cNvPr id="12" name="Text 9"/>
          <p:cNvSpPr/>
          <p:nvPr/>
        </p:nvSpPr>
        <p:spPr>
          <a:xfrm>
            <a:off x="6492240" y="868680"/>
            <a:ext cx="2011680" cy="713232"/>
          </a:xfrm>
          <a:prstGeom prst="rect">
            <a:avLst/>
          </a:prstGeom>
          <a:noFill/>
          <a:ln/>
        </p:spPr>
        <p:txBody>
          <a:bodyPr wrap="square" rtlCol="0" anchor="ctr"/>
          <a:lstStyle/>
          <a:p>
            <a:pPr algn="l" indent="0" marL="0">
              <a:buNone/>
            </a:pPr>
            <a:r>
              <a:rPr lang="en-US" sz="800" b="1" dirty="0">
                <a:solidFill>
                  <a:srgbClr val="232D4B"/>
                </a:solidFill>
                <a:latin typeface="Calibri" pitchFamily="34" charset="0"/>
                <a:ea typeface="Calibri" pitchFamily="34" charset="-122"/>
                <a:cs typeface="Calibri" pitchFamily="34" charset="-120"/>
              </a:rPr>
              <a:t>Metric: Time-to-first-success on Task 1; Target: &lt; 30s for 80% of first-time users</a:t>
            </a:r>
            <a:endParaRPr lang="en-US" sz="800" dirty="0"/>
          </a:p>
        </p:txBody>
      </p:sp>
      <p:sp>
        <p:nvSpPr>
          <p:cNvPr id="13" name="Shape 10"/>
          <p:cNvSpPr/>
          <p:nvPr/>
        </p:nvSpPr>
        <p:spPr>
          <a:xfrm>
            <a:off x="548640" y="1673352"/>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4" name="Shape 11"/>
          <p:cNvSpPr/>
          <p:nvPr/>
        </p:nvSpPr>
        <p:spPr>
          <a:xfrm>
            <a:off x="548640" y="1673352"/>
            <a:ext cx="54864" cy="713232"/>
          </a:xfrm>
          <a:prstGeom prst="rect">
            <a:avLst/>
          </a:prstGeom>
          <a:solidFill>
            <a:srgbClr val="0D9488"/>
          </a:solidFill>
          <a:ln/>
        </p:spPr>
      </p:sp>
      <p:pic>
        <p:nvPicPr>
          <p:cNvPr id="15" name="Image 1" descr="preencoded.png">    </p:cNvPr>
          <p:cNvPicPr>
            <a:picLocks noChangeAspect="1"/>
          </p:cNvPicPr>
          <p:nvPr/>
        </p:nvPicPr>
        <p:blipFill>
          <a:blip r:embed="rId2"/>
          <a:stretch>
            <a:fillRect/>
          </a:stretch>
        </p:blipFill>
        <p:spPr>
          <a:xfrm>
            <a:off x="749808" y="1828800"/>
            <a:ext cx="320040" cy="320040"/>
          </a:xfrm>
          <a:prstGeom prst="rect">
            <a:avLst/>
          </a:prstGeom>
        </p:spPr>
      </p:pic>
      <p:sp>
        <p:nvSpPr>
          <p:cNvPr id="16" name="Text 12"/>
          <p:cNvSpPr/>
          <p:nvPr/>
        </p:nvSpPr>
        <p:spPr>
          <a:xfrm>
            <a:off x="1188720" y="1673352"/>
            <a:ext cx="1371600" cy="320040"/>
          </a:xfrm>
          <a:prstGeom prst="rect">
            <a:avLst/>
          </a:prstGeom>
          <a:noFill/>
          <a:ln/>
        </p:spPr>
        <p:txBody>
          <a:bodyPr wrap="square" lIns="0" tIns="0" rIns="0" bIns="0" rtlCol="0" anchor="b"/>
          <a:lstStyle/>
          <a:p>
            <a:pPr algn="l" indent="0" marL="0">
              <a:buNone/>
            </a:pPr>
            <a:r>
              <a:rPr lang="en-US" sz="1200" b="1" dirty="0">
                <a:solidFill>
                  <a:srgbClr val="0D9488"/>
                </a:solidFill>
                <a:latin typeface="Calibri" pitchFamily="34" charset="0"/>
                <a:ea typeface="Calibri" pitchFamily="34" charset="-122"/>
                <a:cs typeface="Calibri" pitchFamily="34" charset="-120"/>
              </a:rPr>
              <a:t>Efficiency</a:t>
            </a:r>
            <a:endParaRPr lang="en-US" sz="1200" dirty="0"/>
          </a:p>
        </p:txBody>
      </p:sp>
      <p:sp>
        <p:nvSpPr>
          <p:cNvPr id="17" name="Text 13"/>
          <p:cNvSpPr/>
          <p:nvPr/>
        </p:nvSpPr>
        <p:spPr>
          <a:xfrm>
            <a:off x="1188720" y="1965960"/>
            <a:ext cx="1645920" cy="320040"/>
          </a:xfrm>
          <a:prstGeom prst="rect">
            <a:avLst/>
          </a:prstGeom>
          <a:noFill/>
          <a:ln/>
        </p:spPr>
        <p:txBody>
          <a:bodyPr wrap="square" lIns="0" tIns="0" rIns="0" bIns="0" rtlCol="0" anchor="t"/>
          <a:lstStyle/>
          <a:p>
            <a:pPr algn="l" indent="0" marL="0">
              <a:buNone/>
            </a:pPr>
            <a:r>
              <a:rPr lang="en-US" sz="800" i="1" dirty="0">
                <a:solidFill>
                  <a:srgbClr val="94A3B8"/>
                </a:solidFill>
                <a:latin typeface="Calibri" pitchFamily="34" charset="0"/>
                <a:ea typeface="Calibri" pitchFamily="34" charset="-122"/>
                <a:cs typeface="Calibri" pitchFamily="34" charset="-120"/>
              </a:rPr>
              <a:t>Once learned, how quickly can users perform tasks?</a:t>
            </a:r>
            <a:endParaRPr lang="en-US" sz="800" dirty="0"/>
          </a:p>
        </p:txBody>
      </p:sp>
      <p:sp>
        <p:nvSpPr>
          <p:cNvPr id="18" name="Text 14"/>
          <p:cNvSpPr/>
          <p:nvPr/>
        </p:nvSpPr>
        <p:spPr>
          <a:xfrm>
            <a:off x="2926080" y="1673352"/>
            <a:ext cx="3474720" cy="713232"/>
          </a:xfrm>
          <a:prstGeom prst="rect">
            <a:avLst/>
          </a:prstGeom>
          <a:noFill/>
          <a:ln/>
        </p:spPr>
        <p:txBody>
          <a:bodyPr wrap="square" rtlCol="0" anchor="ctr"/>
          <a:lstStyle/>
          <a:p>
            <a:pPr algn="l" indent="0" marL="0">
              <a:buNone/>
            </a:pPr>
            <a:r>
              <a:rPr lang="en-US" sz="950" dirty="0">
                <a:solidFill>
                  <a:srgbClr val="475569"/>
                </a:solidFill>
                <a:latin typeface="Calibri" pitchFamily="34" charset="0"/>
                <a:ea typeface="Calibri" pitchFamily="34" charset="-122"/>
                <a:cs typeface="Calibri" pitchFamily="34" charset="-120"/>
              </a:rPr>
              <a:t>A returning user can complete a player comparison (select two players, view radar charts) in under 20 seconds.</a:t>
            </a:r>
            <a:endParaRPr lang="en-US" sz="950" dirty="0"/>
          </a:p>
        </p:txBody>
      </p:sp>
      <p:sp>
        <p:nvSpPr>
          <p:cNvPr id="19" name="Text 15"/>
          <p:cNvSpPr/>
          <p:nvPr/>
        </p:nvSpPr>
        <p:spPr>
          <a:xfrm>
            <a:off x="6492240" y="1673352"/>
            <a:ext cx="2011680" cy="713232"/>
          </a:xfrm>
          <a:prstGeom prst="rect">
            <a:avLst/>
          </a:prstGeom>
          <a:noFill/>
          <a:ln/>
        </p:spPr>
        <p:txBody>
          <a:bodyPr wrap="square" rtlCol="0" anchor="ctr"/>
          <a:lstStyle/>
          <a:p>
            <a:pPr algn="l" indent="0" marL="0">
              <a:buNone/>
            </a:pPr>
            <a:r>
              <a:rPr lang="en-US" sz="800" b="1" dirty="0">
                <a:solidFill>
                  <a:srgbClr val="0D9488"/>
                </a:solidFill>
                <a:latin typeface="Calibri" pitchFamily="34" charset="0"/>
                <a:ea typeface="Calibri" pitchFamily="34" charset="-122"/>
                <a:cs typeface="Calibri" pitchFamily="34" charset="-120"/>
              </a:rPr>
              <a:t>Metric: Task completion time on 2nd attempt; Target: 40% faster than 1st attempt</a:t>
            </a:r>
            <a:endParaRPr lang="en-US" sz="800" dirty="0"/>
          </a:p>
        </p:txBody>
      </p:sp>
      <p:sp>
        <p:nvSpPr>
          <p:cNvPr id="20" name="Shape 16"/>
          <p:cNvSpPr/>
          <p:nvPr/>
        </p:nvSpPr>
        <p:spPr>
          <a:xfrm>
            <a:off x="548640" y="2478024"/>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1" name="Shape 17"/>
          <p:cNvSpPr/>
          <p:nvPr/>
        </p:nvSpPr>
        <p:spPr>
          <a:xfrm>
            <a:off x="548640" y="2478024"/>
            <a:ext cx="54864" cy="713232"/>
          </a:xfrm>
          <a:prstGeom prst="rect">
            <a:avLst/>
          </a:prstGeom>
          <a:solidFill>
            <a:srgbClr val="7C3AED"/>
          </a:solidFill>
          <a:ln/>
        </p:spPr>
      </p:sp>
      <p:pic>
        <p:nvPicPr>
          <p:cNvPr id="22" name="Image 2" descr="preencoded.png">    </p:cNvPr>
          <p:cNvPicPr>
            <a:picLocks noChangeAspect="1"/>
          </p:cNvPicPr>
          <p:nvPr/>
        </p:nvPicPr>
        <p:blipFill>
          <a:blip r:embed="rId3"/>
          <a:stretch>
            <a:fillRect/>
          </a:stretch>
        </p:blipFill>
        <p:spPr>
          <a:xfrm>
            <a:off x="749808" y="2633472"/>
            <a:ext cx="320040" cy="320040"/>
          </a:xfrm>
          <a:prstGeom prst="rect">
            <a:avLst/>
          </a:prstGeom>
        </p:spPr>
      </p:pic>
      <p:sp>
        <p:nvSpPr>
          <p:cNvPr id="23" name="Text 18"/>
          <p:cNvSpPr/>
          <p:nvPr/>
        </p:nvSpPr>
        <p:spPr>
          <a:xfrm>
            <a:off x="1188720" y="2478024"/>
            <a:ext cx="1371600" cy="320040"/>
          </a:xfrm>
          <a:prstGeom prst="rect">
            <a:avLst/>
          </a:prstGeom>
          <a:noFill/>
          <a:ln/>
        </p:spPr>
        <p:txBody>
          <a:bodyPr wrap="square" lIns="0" tIns="0" rIns="0" bIns="0" rtlCol="0" anchor="b"/>
          <a:lstStyle/>
          <a:p>
            <a:pPr algn="l" indent="0" marL="0">
              <a:buNone/>
            </a:pPr>
            <a:r>
              <a:rPr lang="en-US" sz="1200" b="1" dirty="0">
                <a:solidFill>
                  <a:srgbClr val="7C3AED"/>
                </a:solidFill>
                <a:latin typeface="Calibri" pitchFamily="34" charset="0"/>
                <a:ea typeface="Calibri" pitchFamily="34" charset="-122"/>
                <a:cs typeface="Calibri" pitchFamily="34" charset="-120"/>
              </a:rPr>
              <a:t>Memorability</a:t>
            </a:r>
            <a:endParaRPr lang="en-US" sz="1200" dirty="0"/>
          </a:p>
        </p:txBody>
      </p:sp>
      <p:sp>
        <p:nvSpPr>
          <p:cNvPr id="24" name="Text 19"/>
          <p:cNvSpPr/>
          <p:nvPr/>
        </p:nvSpPr>
        <p:spPr>
          <a:xfrm>
            <a:off x="1188720" y="2770632"/>
            <a:ext cx="1645920" cy="320040"/>
          </a:xfrm>
          <a:prstGeom prst="rect">
            <a:avLst/>
          </a:prstGeom>
          <a:noFill/>
          <a:ln/>
        </p:spPr>
        <p:txBody>
          <a:bodyPr wrap="square" lIns="0" tIns="0" rIns="0" bIns="0" rtlCol="0" anchor="t"/>
          <a:lstStyle/>
          <a:p>
            <a:pPr algn="l" indent="0" marL="0">
              <a:buNone/>
            </a:pPr>
            <a:r>
              <a:rPr lang="en-US" sz="800" i="1" dirty="0">
                <a:solidFill>
                  <a:srgbClr val="94A3B8"/>
                </a:solidFill>
                <a:latin typeface="Calibri" pitchFamily="34" charset="0"/>
                <a:ea typeface="Calibri" pitchFamily="34" charset="-122"/>
                <a:cs typeface="Calibri" pitchFamily="34" charset="-120"/>
              </a:rPr>
              <a:t>How easily can returning users re-establish proficiency?</a:t>
            </a:r>
            <a:endParaRPr lang="en-US" sz="800" dirty="0"/>
          </a:p>
        </p:txBody>
      </p:sp>
      <p:sp>
        <p:nvSpPr>
          <p:cNvPr id="25" name="Text 20"/>
          <p:cNvSpPr/>
          <p:nvPr/>
        </p:nvSpPr>
        <p:spPr>
          <a:xfrm>
            <a:off x="2926080" y="2478024"/>
            <a:ext cx="3474720" cy="713232"/>
          </a:xfrm>
          <a:prstGeom prst="rect">
            <a:avLst/>
          </a:prstGeom>
          <a:noFill/>
          <a:ln/>
        </p:spPr>
        <p:txBody>
          <a:bodyPr wrap="square" rtlCol="0" anchor="ctr"/>
          <a:lstStyle/>
          <a:p>
            <a:pPr algn="l" indent="0" marL="0">
              <a:buNone/>
            </a:pPr>
            <a:r>
              <a:rPr lang="en-US" sz="950" dirty="0">
                <a:solidFill>
                  <a:srgbClr val="475569"/>
                </a:solidFill>
                <a:latin typeface="Calibri" pitchFamily="34" charset="0"/>
                <a:ea typeface="Calibri" pitchFamily="34" charset="-122"/>
                <a:cs typeface="Calibri" pitchFamily="34" charset="-120"/>
              </a:rPr>
              <a:t>After one week away, a returning user can repeat the same tasks with ≤ 10% increase in completion time and zero additional errors.</a:t>
            </a:r>
            <a:endParaRPr lang="en-US" sz="950" dirty="0"/>
          </a:p>
        </p:txBody>
      </p:sp>
      <p:sp>
        <p:nvSpPr>
          <p:cNvPr id="26" name="Text 21"/>
          <p:cNvSpPr/>
          <p:nvPr/>
        </p:nvSpPr>
        <p:spPr>
          <a:xfrm>
            <a:off x="6492240" y="2478024"/>
            <a:ext cx="2011680" cy="713232"/>
          </a:xfrm>
          <a:prstGeom prst="rect">
            <a:avLst/>
          </a:prstGeom>
          <a:noFill/>
          <a:ln/>
        </p:spPr>
        <p:txBody>
          <a:bodyPr wrap="square" rtlCol="0" anchor="ctr"/>
          <a:lstStyle/>
          <a:p>
            <a:pPr algn="l" indent="0" marL="0">
              <a:buNone/>
            </a:pPr>
            <a:r>
              <a:rPr lang="en-US" sz="800" b="1" dirty="0">
                <a:solidFill>
                  <a:srgbClr val="7C3AED"/>
                </a:solidFill>
                <a:latin typeface="Calibri" pitchFamily="34" charset="0"/>
                <a:ea typeface="Calibri" pitchFamily="34" charset="-122"/>
                <a:cs typeface="Calibri" pitchFamily="34" charset="-120"/>
              </a:rPr>
              <a:t>Metric: Time delta between sessions; Target: &lt; 10% slowdown after 7-day gap</a:t>
            </a:r>
            <a:endParaRPr lang="en-US" sz="800" dirty="0"/>
          </a:p>
        </p:txBody>
      </p:sp>
      <p:sp>
        <p:nvSpPr>
          <p:cNvPr id="27" name="Shape 22"/>
          <p:cNvSpPr/>
          <p:nvPr/>
        </p:nvSpPr>
        <p:spPr>
          <a:xfrm>
            <a:off x="548640" y="3282696"/>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8" name="Shape 23"/>
          <p:cNvSpPr/>
          <p:nvPr/>
        </p:nvSpPr>
        <p:spPr>
          <a:xfrm>
            <a:off x="548640" y="3282696"/>
            <a:ext cx="54864" cy="713232"/>
          </a:xfrm>
          <a:prstGeom prst="rect">
            <a:avLst/>
          </a:prstGeom>
          <a:solidFill>
            <a:srgbClr val="DC2626"/>
          </a:solidFill>
          <a:ln/>
        </p:spPr>
      </p:sp>
      <p:pic>
        <p:nvPicPr>
          <p:cNvPr id="29" name="Image 3" descr="preencoded.png">    </p:cNvPr>
          <p:cNvPicPr>
            <a:picLocks noChangeAspect="1"/>
          </p:cNvPicPr>
          <p:nvPr/>
        </p:nvPicPr>
        <p:blipFill>
          <a:blip r:embed="rId4"/>
          <a:stretch>
            <a:fillRect/>
          </a:stretch>
        </p:blipFill>
        <p:spPr>
          <a:xfrm>
            <a:off x="749808" y="3438144"/>
            <a:ext cx="320040" cy="320040"/>
          </a:xfrm>
          <a:prstGeom prst="rect">
            <a:avLst/>
          </a:prstGeom>
        </p:spPr>
      </p:pic>
      <p:sp>
        <p:nvSpPr>
          <p:cNvPr id="30" name="Text 24"/>
          <p:cNvSpPr/>
          <p:nvPr/>
        </p:nvSpPr>
        <p:spPr>
          <a:xfrm>
            <a:off x="1188720" y="3282696"/>
            <a:ext cx="1371600" cy="320040"/>
          </a:xfrm>
          <a:prstGeom prst="rect">
            <a:avLst/>
          </a:prstGeom>
          <a:noFill/>
          <a:ln/>
        </p:spPr>
        <p:txBody>
          <a:bodyPr wrap="square" lIns="0" tIns="0" rIns="0" bIns="0" rtlCol="0" anchor="b"/>
          <a:lstStyle/>
          <a:p>
            <a:pPr algn="l" indent="0" marL="0">
              <a:buNone/>
            </a:pPr>
            <a:r>
              <a:rPr lang="en-US" sz="1200" b="1" dirty="0">
                <a:solidFill>
                  <a:srgbClr val="DC2626"/>
                </a:solidFill>
                <a:latin typeface="Calibri" pitchFamily="34" charset="0"/>
                <a:ea typeface="Calibri" pitchFamily="34" charset="-122"/>
                <a:cs typeface="Calibri" pitchFamily="34" charset="-120"/>
              </a:rPr>
              <a:t>Errors</a:t>
            </a:r>
            <a:endParaRPr lang="en-US" sz="1200" dirty="0"/>
          </a:p>
        </p:txBody>
      </p:sp>
      <p:sp>
        <p:nvSpPr>
          <p:cNvPr id="31" name="Text 25"/>
          <p:cNvSpPr/>
          <p:nvPr/>
        </p:nvSpPr>
        <p:spPr>
          <a:xfrm>
            <a:off x="1188720" y="3575304"/>
            <a:ext cx="1645920" cy="320040"/>
          </a:xfrm>
          <a:prstGeom prst="rect">
            <a:avLst/>
          </a:prstGeom>
          <a:noFill/>
          <a:ln/>
        </p:spPr>
        <p:txBody>
          <a:bodyPr wrap="square" lIns="0" tIns="0" rIns="0" bIns="0" rtlCol="0" anchor="t"/>
          <a:lstStyle/>
          <a:p>
            <a:pPr algn="l" indent="0" marL="0">
              <a:buNone/>
            </a:pPr>
            <a:r>
              <a:rPr lang="en-US" sz="800" i="1" dirty="0">
                <a:solidFill>
                  <a:srgbClr val="94A3B8"/>
                </a:solidFill>
                <a:latin typeface="Calibri" pitchFamily="34" charset="0"/>
                <a:ea typeface="Calibri" pitchFamily="34" charset="-122"/>
                <a:cs typeface="Calibri" pitchFamily="34" charset="-120"/>
              </a:rPr>
              <a:t>How many errors occur, and how easily can users recover?</a:t>
            </a:r>
            <a:endParaRPr lang="en-US" sz="800" dirty="0"/>
          </a:p>
        </p:txBody>
      </p:sp>
      <p:sp>
        <p:nvSpPr>
          <p:cNvPr id="32" name="Text 26"/>
          <p:cNvSpPr/>
          <p:nvPr/>
        </p:nvSpPr>
        <p:spPr>
          <a:xfrm>
            <a:off x="2926080" y="3282696"/>
            <a:ext cx="3474720" cy="713232"/>
          </a:xfrm>
          <a:prstGeom prst="rect">
            <a:avLst/>
          </a:prstGeom>
          <a:noFill/>
          <a:ln/>
        </p:spPr>
        <p:txBody>
          <a:bodyPr wrap="square" rtlCol="0" anchor="ctr"/>
          <a:lstStyle/>
          <a:p>
            <a:pPr algn="l" indent="0" marL="0">
              <a:buNone/>
            </a:pPr>
            <a:r>
              <a:rPr lang="en-US" sz="950" dirty="0">
                <a:solidFill>
                  <a:srgbClr val="475569"/>
                </a:solidFill>
                <a:latin typeface="Calibri" pitchFamily="34" charset="0"/>
                <a:ea typeface="Calibri" pitchFamily="34" charset="-122"/>
                <a:cs typeface="Calibri" pitchFamily="34" charset="-120"/>
              </a:rPr>
              <a:t>Users encounter ≤ 1 error per task on average. Dead ends (no way to proceed) should be zero. All errors are recoverable within 5 seconds via clear error messages or undo actions.</a:t>
            </a:r>
            <a:endParaRPr lang="en-US" sz="950" dirty="0"/>
          </a:p>
        </p:txBody>
      </p:sp>
      <p:sp>
        <p:nvSpPr>
          <p:cNvPr id="33" name="Text 27"/>
          <p:cNvSpPr/>
          <p:nvPr/>
        </p:nvSpPr>
        <p:spPr>
          <a:xfrm>
            <a:off x="6492240" y="3282696"/>
            <a:ext cx="2011680" cy="713232"/>
          </a:xfrm>
          <a:prstGeom prst="rect">
            <a:avLst/>
          </a:prstGeom>
          <a:noFill/>
          <a:ln/>
        </p:spPr>
        <p:txBody>
          <a:bodyPr wrap="square" rtlCol="0" anchor="ctr"/>
          <a:lstStyle/>
          <a:p>
            <a:pPr algn="l" indent="0" marL="0">
              <a:buNone/>
            </a:pPr>
            <a:r>
              <a:rPr lang="en-US" sz="800" b="1" dirty="0">
                <a:solidFill>
                  <a:srgbClr val="DC2626"/>
                </a:solidFill>
                <a:latin typeface="Calibri" pitchFamily="34" charset="0"/>
                <a:ea typeface="Calibri" pitchFamily="34" charset="-122"/>
                <a:cs typeface="Calibri" pitchFamily="34" charset="-120"/>
              </a:rPr>
              <a:t>Metric: Errors/task ≤ 1; Dead ends = 0; Recovery time &lt; 5s</a:t>
            </a:r>
            <a:endParaRPr lang="en-US" sz="800" dirty="0"/>
          </a:p>
        </p:txBody>
      </p:sp>
      <p:sp>
        <p:nvSpPr>
          <p:cNvPr id="34" name="Shape 28"/>
          <p:cNvSpPr/>
          <p:nvPr/>
        </p:nvSpPr>
        <p:spPr>
          <a:xfrm>
            <a:off x="548640" y="4087368"/>
            <a:ext cx="8046720" cy="713232"/>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35" name="Shape 29"/>
          <p:cNvSpPr/>
          <p:nvPr/>
        </p:nvSpPr>
        <p:spPr>
          <a:xfrm>
            <a:off x="548640" y="4087368"/>
            <a:ext cx="54864" cy="713232"/>
          </a:xfrm>
          <a:prstGeom prst="rect">
            <a:avLst/>
          </a:prstGeom>
          <a:solidFill>
            <a:srgbClr val="E57200"/>
          </a:solidFill>
          <a:ln/>
        </p:spPr>
      </p:sp>
      <p:pic>
        <p:nvPicPr>
          <p:cNvPr id="36" name="Image 4" descr="preencoded.png">    </p:cNvPr>
          <p:cNvPicPr>
            <a:picLocks noChangeAspect="1"/>
          </p:cNvPicPr>
          <p:nvPr/>
        </p:nvPicPr>
        <p:blipFill>
          <a:blip r:embed="rId5"/>
          <a:stretch>
            <a:fillRect/>
          </a:stretch>
        </p:blipFill>
        <p:spPr>
          <a:xfrm>
            <a:off x="749808" y="4242816"/>
            <a:ext cx="320040" cy="320040"/>
          </a:xfrm>
          <a:prstGeom prst="rect">
            <a:avLst/>
          </a:prstGeom>
        </p:spPr>
      </p:pic>
      <p:sp>
        <p:nvSpPr>
          <p:cNvPr id="37" name="Text 30"/>
          <p:cNvSpPr/>
          <p:nvPr/>
        </p:nvSpPr>
        <p:spPr>
          <a:xfrm>
            <a:off x="1188720" y="4087368"/>
            <a:ext cx="1371600" cy="320040"/>
          </a:xfrm>
          <a:prstGeom prst="rect">
            <a:avLst/>
          </a:prstGeom>
          <a:noFill/>
          <a:ln/>
        </p:spPr>
        <p:txBody>
          <a:bodyPr wrap="square" lIns="0" tIns="0" rIns="0" bIns="0" rtlCol="0" anchor="b"/>
          <a:lstStyle/>
          <a:p>
            <a:pPr algn="l" indent="0" marL="0">
              <a:buNone/>
            </a:pPr>
            <a:r>
              <a:rPr lang="en-US" sz="1200" b="1" dirty="0">
                <a:solidFill>
                  <a:srgbClr val="E57200"/>
                </a:solidFill>
                <a:latin typeface="Calibri" pitchFamily="34" charset="0"/>
                <a:ea typeface="Calibri" pitchFamily="34" charset="-122"/>
                <a:cs typeface="Calibri" pitchFamily="34" charset="-120"/>
              </a:rPr>
              <a:t>Satisfaction</a:t>
            </a:r>
            <a:endParaRPr lang="en-US" sz="1200" dirty="0"/>
          </a:p>
        </p:txBody>
      </p:sp>
      <p:sp>
        <p:nvSpPr>
          <p:cNvPr id="38" name="Text 31"/>
          <p:cNvSpPr/>
          <p:nvPr/>
        </p:nvSpPr>
        <p:spPr>
          <a:xfrm>
            <a:off x="1188720" y="4379976"/>
            <a:ext cx="1645920" cy="320040"/>
          </a:xfrm>
          <a:prstGeom prst="rect">
            <a:avLst/>
          </a:prstGeom>
          <a:noFill/>
          <a:ln/>
        </p:spPr>
        <p:txBody>
          <a:bodyPr wrap="square" lIns="0" tIns="0" rIns="0" bIns="0" rtlCol="0" anchor="t"/>
          <a:lstStyle/>
          <a:p>
            <a:pPr algn="l" indent="0" marL="0">
              <a:buNone/>
            </a:pPr>
            <a:r>
              <a:rPr lang="en-US" sz="800" i="1" dirty="0">
                <a:solidFill>
                  <a:srgbClr val="94A3B8"/>
                </a:solidFill>
                <a:latin typeface="Calibri" pitchFamily="34" charset="0"/>
                <a:ea typeface="Calibri" pitchFamily="34" charset="-122"/>
                <a:cs typeface="Calibri" pitchFamily="34" charset="-120"/>
              </a:rPr>
              <a:t>How pleasant is the design to use?</a:t>
            </a:r>
            <a:endParaRPr lang="en-US" sz="800" dirty="0"/>
          </a:p>
        </p:txBody>
      </p:sp>
      <p:sp>
        <p:nvSpPr>
          <p:cNvPr id="39" name="Text 32"/>
          <p:cNvSpPr/>
          <p:nvPr/>
        </p:nvSpPr>
        <p:spPr>
          <a:xfrm>
            <a:off x="2926080" y="4087368"/>
            <a:ext cx="3474720" cy="713232"/>
          </a:xfrm>
          <a:prstGeom prst="rect">
            <a:avLst/>
          </a:prstGeom>
          <a:noFill/>
          <a:ln/>
        </p:spPr>
        <p:txBody>
          <a:bodyPr wrap="square" rtlCol="0" anchor="ctr"/>
          <a:lstStyle/>
          <a:p>
            <a:pPr algn="l" indent="0" marL="0">
              <a:buNone/>
            </a:pPr>
            <a:r>
              <a:rPr lang="en-US" sz="950" dirty="0">
                <a:solidFill>
                  <a:srgbClr val="475569"/>
                </a:solidFill>
                <a:latin typeface="Calibri" pitchFamily="34" charset="0"/>
                <a:ea typeface="Calibri" pitchFamily="34" charset="-122"/>
                <a:cs typeface="Calibri" pitchFamily="34" charset="-120"/>
              </a:rPr>
              <a:t>Users rate the visual design and interaction quality at 4+/5 on a post-task questionnaire. Qualitative feedback should mention clarity, speed, or professional appearance.</a:t>
            </a:r>
            <a:endParaRPr lang="en-US" sz="950" dirty="0"/>
          </a:p>
        </p:txBody>
      </p:sp>
      <p:sp>
        <p:nvSpPr>
          <p:cNvPr id="40" name="Text 33"/>
          <p:cNvSpPr/>
          <p:nvPr/>
        </p:nvSpPr>
        <p:spPr>
          <a:xfrm>
            <a:off x="6492240" y="4087368"/>
            <a:ext cx="2011680" cy="713232"/>
          </a:xfrm>
          <a:prstGeom prst="rect">
            <a:avLst/>
          </a:prstGeom>
          <a:noFill/>
          <a:ln/>
        </p:spPr>
        <p:txBody>
          <a:bodyPr wrap="square" rtlCol="0" anchor="ctr"/>
          <a:lstStyle/>
          <a:p>
            <a:pPr algn="l" indent="0" marL="0">
              <a:buNone/>
            </a:pPr>
            <a:r>
              <a:rPr lang="en-US" sz="800" b="1" dirty="0">
                <a:solidFill>
                  <a:srgbClr val="E57200"/>
                </a:solidFill>
                <a:latin typeface="Calibri" pitchFamily="34" charset="0"/>
                <a:ea typeface="Calibri" pitchFamily="34" charset="-122"/>
                <a:cs typeface="Calibri" pitchFamily="34" charset="-120"/>
              </a:rPr>
              <a:t>Metric: Post-task rating ≥ 4.0/5.0; SUS ≥ 75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640080" y="1463040"/>
            <a:ext cx="1097280" cy="1097280"/>
          </a:xfrm>
          <a:prstGeom prst="ellipse">
            <a:avLst/>
          </a:prstGeom>
          <a:solidFill>
            <a:srgbClr val="E57200"/>
          </a:solidFill>
          <a:ln/>
        </p:spPr>
      </p:sp>
      <p:sp>
        <p:nvSpPr>
          <p:cNvPr id="3" name="Text 1"/>
          <p:cNvSpPr/>
          <p:nvPr/>
        </p:nvSpPr>
        <p:spPr>
          <a:xfrm>
            <a:off x="640080" y="1463040"/>
            <a:ext cx="109728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4" name="Text 2"/>
          <p:cNvSpPr/>
          <p:nvPr/>
        </p:nvSpPr>
        <p:spPr>
          <a:xfrm>
            <a:off x="2011680" y="1280160"/>
            <a:ext cx="6400800" cy="7315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Core Design Principles</a:t>
            </a:r>
            <a:endParaRPr lang="en-US" sz="3600" dirty="0"/>
          </a:p>
        </p:txBody>
      </p:sp>
      <p:sp>
        <p:nvSpPr>
          <p:cNvPr id="5" name="Text 3"/>
          <p:cNvSpPr/>
          <p:nvPr/>
        </p:nvSpPr>
        <p:spPr>
          <a:xfrm>
            <a:off x="2011680" y="2011680"/>
            <a:ext cx="6400800" cy="548640"/>
          </a:xfrm>
          <a:prstGeom prst="rect">
            <a:avLst/>
          </a:prstGeom>
          <a:noFill/>
          <a:ln/>
        </p:spPr>
        <p:txBody>
          <a:bodyPr wrap="square" rtlCol="0" anchor="t"/>
          <a:lstStyle/>
          <a:p>
            <a:pPr algn="l" indent="0" marL="0">
              <a:buNone/>
            </a:pPr>
            <a:r>
              <a:rPr lang="en-US" sz="1400" dirty="0">
                <a:solidFill>
                  <a:srgbClr val="94A3B8"/>
                </a:solidFill>
                <a:latin typeface="Calibri" pitchFamily="34" charset="0"/>
                <a:ea typeface="Calibri" pitchFamily="34" charset="-122"/>
                <a:cs typeface="Calibri" pitchFamily="34" charset="-120"/>
              </a:rPr>
              <a:t>5 principles connecting persona needs to design decisions  |  15 pts</a:t>
            </a:r>
            <a:endParaRPr lang="en-US" sz="1400" dirty="0"/>
          </a:p>
        </p:txBody>
      </p:sp>
      <p:sp>
        <p:nvSpPr>
          <p:cNvPr id="6" name="Shape 4"/>
          <p:cNvSpPr/>
          <p:nvPr/>
        </p:nvSpPr>
        <p:spPr>
          <a:xfrm>
            <a:off x="0" y="4800600"/>
            <a:ext cx="9144000" cy="342900"/>
          </a:xfrm>
          <a:prstGeom prst="rect">
            <a:avLst/>
          </a:prstGeom>
          <a:solidFill>
            <a:srgbClr val="E57200"/>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Core Design Principles (1-3)</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86868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1188720"/>
          </a:xfrm>
          <a:prstGeom prst="rect">
            <a:avLst/>
          </a:prstGeom>
          <a:solidFill>
            <a:srgbClr val="2563EB"/>
          </a:solidFill>
          <a:ln/>
        </p:spPr>
      </p:sp>
      <p:sp>
        <p:nvSpPr>
          <p:cNvPr id="8" name="Shape 6"/>
          <p:cNvSpPr/>
          <p:nvPr/>
        </p:nvSpPr>
        <p:spPr>
          <a:xfrm>
            <a:off x="713232" y="941832"/>
            <a:ext cx="365760" cy="365760"/>
          </a:xfrm>
          <a:prstGeom prst="ellipse">
            <a:avLst/>
          </a:prstGeom>
          <a:solidFill>
            <a:srgbClr val="2563EB"/>
          </a:solidFill>
          <a:ln/>
        </p:spPr>
      </p:sp>
      <p:sp>
        <p:nvSpPr>
          <p:cNvPr id="9" name="Text 7"/>
          <p:cNvSpPr/>
          <p:nvPr/>
        </p:nvSpPr>
        <p:spPr>
          <a:xfrm>
            <a:off x="713232" y="941832"/>
            <a:ext cx="365760" cy="3657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188720" y="914400"/>
            <a:ext cx="2743200" cy="365760"/>
          </a:xfrm>
          <a:prstGeom prst="rect">
            <a:avLst/>
          </a:prstGeom>
          <a:noFill/>
          <a:ln/>
        </p:spPr>
        <p:txBody>
          <a:bodyPr wrap="square" lIns="0" tIns="0" rIns="0" bIns="0" rtlCol="0" anchor="ctr"/>
          <a:lstStyle/>
          <a:p>
            <a:pPr algn="l" indent="0" marL="0">
              <a:buNone/>
            </a:pPr>
            <a:r>
              <a:rPr lang="en-US" sz="1400" b="1" dirty="0">
                <a:solidFill>
                  <a:srgbClr val="2563EB"/>
                </a:solidFill>
                <a:latin typeface="Calibri" pitchFamily="34" charset="0"/>
                <a:ea typeface="Calibri" pitchFamily="34" charset="-122"/>
                <a:cs typeface="Calibri" pitchFamily="34" charset="-120"/>
              </a:rPr>
              <a:t>Progressive Disclosure</a:t>
            </a:r>
            <a:endParaRPr lang="en-US" sz="1400" dirty="0"/>
          </a:p>
        </p:txBody>
      </p:sp>
      <p:sp>
        <p:nvSpPr>
          <p:cNvPr id="11" name="Text 9"/>
          <p:cNvSpPr/>
          <p:nvPr/>
        </p:nvSpPr>
        <p:spPr>
          <a:xfrm>
            <a:off x="1188720" y="1252728"/>
            <a:ext cx="7315200" cy="365760"/>
          </a:xfrm>
          <a:prstGeom prst="rect">
            <a:avLst/>
          </a:prstGeom>
          <a:noFill/>
          <a:ln/>
        </p:spPr>
        <p:txBody>
          <a:bodyPr wrap="square" rtlCol="0" anchor="t"/>
          <a:lstStyle/>
          <a:p>
            <a:pPr algn="l" indent="0" marL="0">
              <a:buNone/>
            </a:pPr>
            <a:r>
              <a:rPr lang="en-US" sz="950" b="1" dirty="0">
                <a:solidFill>
                  <a:srgbClr val="232D4B"/>
                </a:solidFill>
                <a:latin typeface="Calibri" pitchFamily="34" charset="0"/>
                <a:ea typeface="Calibri" pitchFamily="34" charset="-122"/>
                <a:cs typeface="Calibri" pitchFamily="34" charset="-120"/>
              </a:rPr>
              <a:t>Where applied: </a:t>
            </a:r>
            <a:pPr algn="l" indent="0" marL="0">
              <a:buNone/>
            </a:pPr>
            <a:r>
              <a:rPr lang="en-US" sz="950" dirty="0">
                <a:solidFill>
                  <a:srgbClr val="475569"/>
                </a:solidFill>
                <a:latin typeface="Calibri" pitchFamily="34" charset="0"/>
                <a:ea typeface="Calibri" pitchFamily="34" charset="-122"/>
                <a:cs typeface="Calibri" pitchFamily="34" charset="-120"/>
              </a:rPr>
              <a:t>Home page shows high-level KPIs and grades first. Detailed stats, play-by-play, and win probability are revealed only when the user drills into a specific game or tab.</a:t>
            </a:r>
            <a:endParaRPr lang="en-US" sz="950" dirty="0"/>
          </a:p>
        </p:txBody>
      </p:sp>
      <p:sp>
        <p:nvSpPr>
          <p:cNvPr id="12" name="Text 10"/>
          <p:cNvSpPr/>
          <p:nvPr/>
        </p:nvSpPr>
        <p:spPr>
          <a:xfrm>
            <a:off x="1188720" y="1581912"/>
            <a:ext cx="7315200" cy="411480"/>
          </a:xfrm>
          <a:prstGeom prst="rect">
            <a:avLst/>
          </a:prstGeom>
          <a:noFill/>
          <a:ln/>
        </p:spPr>
        <p:txBody>
          <a:bodyPr wrap="square" rtlCol="0" anchor="t"/>
          <a:lstStyle/>
          <a:p>
            <a:pPr algn="l" indent="0" marL="0">
              <a:buNone/>
            </a:pPr>
            <a:r>
              <a:rPr lang="en-US" sz="950" b="1" dirty="0">
                <a:solidFill>
                  <a:srgbClr val="232D4B"/>
                </a:solidFill>
                <a:latin typeface="Calibri" pitchFamily="34" charset="0"/>
                <a:ea typeface="Calibri" pitchFamily="34" charset="-122"/>
                <a:cs typeface="Calibri" pitchFamily="34" charset="-120"/>
              </a:rPr>
              <a:t>Why it matters for our persona: </a:t>
            </a:r>
            <a:pPr algn="l" indent="0" marL="0">
              <a:buNone/>
            </a:pPr>
            <a:r>
              <a:rPr lang="en-US" sz="950" dirty="0">
                <a:solidFill>
                  <a:srgbClr val="475569"/>
                </a:solidFill>
                <a:latin typeface="Calibri" pitchFamily="34" charset="0"/>
                <a:ea typeface="Calibri" pitchFamily="34" charset="-122"/>
                <a:cs typeface="Calibri" pitchFamily="34" charset="-120"/>
              </a:rPr>
              <a:t>Coach Mitchell doesn't want information overload. She needs the summary first ("Did we win? How did we play?"), then the option to go deeper. This reduces cognitive load and matches her film session workflow — start broad, drill into specifics.</a:t>
            </a:r>
            <a:endParaRPr lang="en-US" sz="950" dirty="0"/>
          </a:p>
        </p:txBody>
      </p:sp>
      <p:sp>
        <p:nvSpPr>
          <p:cNvPr id="13" name="Shape 11"/>
          <p:cNvSpPr/>
          <p:nvPr/>
        </p:nvSpPr>
        <p:spPr>
          <a:xfrm>
            <a:off x="548640" y="219456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548640" y="2194560"/>
            <a:ext cx="54864" cy="1188720"/>
          </a:xfrm>
          <a:prstGeom prst="rect">
            <a:avLst/>
          </a:prstGeom>
          <a:solidFill>
            <a:srgbClr val="16A34A"/>
          </a:solidFill>
          <a:ln/>
        </p:spPr>
      </p:sp>
      <p:sp>
        <p:nvSpPr>
          <p:cNvPr id="15" name="Shape 13"/>
          <p:cNvSpPr/>
          <p:nvPr/>
        </p:nvSpPr>
        <p:spPr>
          <a:xfrm>
            <a:off x="713232" y="2267712"/>
            <a:ext cx="365760" cy="365760"/>
          </a:xfrm>
          <a:prstGeom prst="ellipse">
            <a:avLst/>
          </a:prstGeom>
          <a:solidFill>
            <a:srgbClr val="16A34A"/>
          </a:solidFill>
          <a:ln/>
        </p:spPr>
      </p:sp>
      <p:sp>
        <p:nvSpPr>
          <p:cNvPr id="16" name="Text 14"/>
          <p:cNvSpPr/>
          <p:nvPr/>
        </p:nvSpPr>
        <p:spPr>
          <a:xfrm>
            <a:off x="713232" y="2267712"/>
            <a:ext cx="365760" cy="3657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Text 15"/>
          <p:cNvSpPr/>
          <p:nvPr/>
        </p:nvSpPr>
        <p:spPr>
          <a:xfrm>
            <a:off x="1188720" y="2240280"/>
            <a:ext cx="2743200" cy="365760"/>
          </a:xfrm>
          <a:prstGeom prst="rect">
            <a:avLst/>
          </a:prstGeom>
          <a:noFill/>
          <a:ln/>
        </p:spPr>
        <p:txBody>
          <a:bodyPr wrap="square" lIns="0" tIns="0" rIns="0" bIns="0" rtlCol="0" anchor="ctr"/>
          <a:lstStyle/>
          <a:p>
            <a:pPr algn="l" indent="0" marL="0">
              <a:buNone/>
            </a:pPr>
            <a:r>
              <a:rPr lang="en-US" sz="1400" b="1" dirty="0">
                <a:solidFill>
                  <a:srgbClr val="16A34A"/>
                </a:solidFill>
                <a:latin typeface="Calibri" pitchFamily="34" charset="0"/>
                <a:ea typeface="Calibri" pitchFamily="34" charset="-122"/>
                <a:cs typeface="Calibri" pitchFamily="34" charset="-120"/>
              </a:rPr>
              <a:t>Recognition Over Recall</a:t>
            </a:r>
            <a:endParaRPr lang="en-US" sz="1400" dirty="0"/>
          </a:p>
        </p:txBody>
      </p:sp>
      <p:sp>
        <p:nvSpPr>
          <p:cNvPr id="18" name="Text 16"/>
          <p:cNvSpPr/>
          <p:nvPr/>
        </p:nvSpPr>
        <p:spPr>
          <a:xfrm>
            <a:off x="1188720" y="2578608"/>
            <a:ext cx="7315200" cy="365760"/>
          </a:xfrm>
          <a:prstGeom prst="rect">
            <a:avLst/>
          </a:prstGeom>
          <a:noFill/>
          <a:ln/>
        </p:spPr>
        <p:txBody>
          <a:bodyPr wrap="square" rtlCol="0" anchor="t"/>
          <a:lstStyle/>
          <a:p>
            <a:pPr algn="l" indent="0" marL="0">
              <a:buNone/>
            </a:pPr>
            <a:r>
              <a:rPr lang="en-US" sz="950" b="1" dirty="0">
                <a:solidFill>
                  <a:srgbClr val="232D4B"/>
                </a:solidFill>
                <a:latin typeface="Calibri" pitchFamily="34" charset="0"/>
                <a:ea typeface="Calibri" pitchFamily="34" charset="-122"/>
                <a:cs typeface="Calibri" pitchFamily="34" charset="-120"/>
              </a:rPr>
              <a:t>Where applied: </a:t>
            </a:r>
            <a:pPr algn="l" indent="0" marL="0">
              <a:buNone/>
            </a:pPr>
            <a:r>
              <a:rPr lang="en-US" sz="950" dirty="0">
                <a:solidFill>
                  <a:srgbClr val="475569"/>
                </a:solidFill>
                <a:latin typeface="Calibri" pitchFamily="34" charset="0"/>
                <a:ea typeface="Calibri" pitchFamily="34" charset="-122"/>
                <a:cs typeface="Calibri" pitchFamily="34" charset="-120"/>
              </a:rPr>
              <a:t>Color-coded grades (A=green, B=blue, C=yellow, D=orange, F=red), labeled metric cards, descriptive tab names ("Win Probability &amp; WPA"), and the always-visible sidebar navigation.</a:t>
            </a:r>
            <a:endParaRPr lang="en-US" sz="950" dirty="0"/>
          </a:p>
        </p:txBody>
      </p:sp>
      <p:sp>
        <p:nvSpPr>
          <p:cNvPr id="19" name="Text 17"/>
          <p:cNvSpPr/>
          <p:nvPr/>
        </p:nvSpPr>
        <p:spPr>
          <a:xfrm>
            <a:off x="1188720" y="2907792"/>
            <a:ext cx="7315200" cy="411480"/>
          </a:xfrm>
          <a:prstGeom prst="rect">
            <a:avLst/>
          </a:prstGeom>
          <a:noFill/>
          <a:ln/>
        </p:spPr>
        <p:txBody>
          <a:bodyPr wrap="square" rtlCol="0" anchor="t"/>
          <a:lstStyle/>
          <a:p>
            <a:pPr algn="l" indent="0" marL="0">
              <a:buNone/>
            </a:pPr>
            <a:r>
              <a:rPr lang="en-US" sz="950" b="1" dirty="0">
                <a:solidFill>
                  <a:srgbClr val="232D4B"/>
                </a:solidFill>
                <a:latin typeface="Calibri" pitchFamily="34" charset="0"/>
                <a:ea typeface="Calibri" pitchFamily="34" charset="-122"/>
                <a:cs typeface="Calibri" pitchFamily="34" charset="-120"/>
              </a:rPr>
              <a:t>Why it matters for our persona: </a:t>
            </a:r>
            <a:pPr algn="l" indent="0" marL="0">
              <a:buNone/>
            </a:pPr>
            <a:r>
              <a:rPr lang="en-US" sz="950" dirty="0">
                <a:solidFill>
                  <a:srgbClr val="475569"/>
                </a:solidFill>
                <a:latin typeface="Calibri" pitchFamily="34" charset="0"/>
                <a:ea typeface="Calibri" pitchFamily="34" charset="-122"/>
                <a:cs typeface="Calibri" pitchFamily="34" charset="-120"/>
              </a:rPr>
              <a:t>Coach Mitchell uses the tool intermittently (after each game, not daily). She shouldn't have to remember where features are or what abbreviations mean. Visual cues and consistent labeling let her recognize what she needs rather than recall it from memory.</a:t>
            </a:r>
            <a:endParaRPr lang="en-US" sz="950" dirty="0"/>
          </a:p>
        </p:txBody>
      </p:sp>
      <p:sp>
        <p:nvSpPr>
          <p:cNvPr id="20" name="Shape 18"/>
          <p:cNvSpPr/>
          <p:nvPr/>
        </p:nvSpPr>
        <p:spPr>
          <a:xfrm>
            <a:off x="548640" y="352044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1" name="Shape 19"/>
          <p:cNvSpPr/>
          <p:nvPr/>
        </p:nvSpPr>
        <p:spPr>
          <a:xfrm>
            <a:off x="548640" y="3520440"/>
            <a:ext cx="54864" cy="1188720"/>
          </a:xfrm>
          <a:prstGeom prst="rect">
            <a:avLst/>
          </a:prstGeom>
          <a:solidFill>
            <a:srgbClr val="E57200"/>
          </a:solidFill>
          <a:ln/>
        </p:spPr>
      </p:sp>
      <p:sp>
        <p:nvSpPr>
          <p:cNvPr id="22" name="Shape 20"/>
          <p:cNvSpPr/>
          <p:nvPr/>
        </p:nvSpPr>
        <p:spPr>
          <a:xfrm>
            <a:off x="713232" y="3593592"/>
            <a:ext cx="365760" cy="365760"/>
          </a:xfrm>
          <a:prstGeom prst="ellipse">
            <a:avLst/>
          </a:prstGeom>
          <a:solidFill>
            <a:srgbClr val="E57200"/>
          </a:solidFill>
          <a:ln/>
        </p:spPr>
      </p:sp>
      <p:sp>
        <p:nvSpPr>
          <p:cNvPr id="23" name="Text 21"/>
          <p:cNvSpPr/>
          <p:nvPr/>
        </p:nvSpPr>
        <p:spPr>
          <a:xfrm>
            <a:off x="713232" y="3593592"/>
            <a:ext cx="365760" cy="3657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4" name="Text 22"/>
          <p:cNvSpPr/>
          <p:nvPr/>
        </p:nvSpPr>
        <p:spPr>
          <a:xfrm>
            <a:off x="1188720" y="3566160"/>
            <a:ext cx="2743200" cy="365760"/>
          </a:xfrm>
          <a:prstGeom prst="rect">
            <a:avLst/>
          </a:prstGeom>
          <a:noFill/>
          <a:ln/>
        </p:spPr>
        <p:txBody>
          <a:bodyPr wrap="square" lIns="0" tIns="0" rIns="0" bIns="0" rtlCol="0" anchor="ctr"/>
          <a:lstStyle/>
          <a:p>
            <a:pPr algn="l" indent="0" marL="0">
              <a:buNone/>
            </a:pPr>
            <a:r>
              <a:rPr lang="en-US" sz="1400" b="1" dirty="0">
                <a:solidFill>
                  <a:srgbClr val="E57200"/>
                </a:solidFill>
                <a:latin typeface="Calibri" pitchFamily="34" charset="0"/>
                <a:ea typeface="Calibri" pitchFamily="34" charset="-122"/>
                <a:cs typeface="Calibri" pitchFamily="34" charset="-120"/>
              </a:rPr>
              <a:t>Immediate Feedback</a:t>
            </a:r>
            <a:endParaRPr lang="en-US" sz="1400" dirty="0"/>
          </a:p>
        </p:txBody>
      </p:sp>
      <p:sp>
        <p:nvSpPr>
          <p:cNvPr id="25" name="Text 23"/>
          <p:cNvSpPr/>
          <p:nvPr/>
        </p:nvSpPr>
        <p:spPr>
          <a:xfrm>
            <a:off x="1188720" y="3904488"/>
            <a:ext cx="7315200" cy="365760"/>
          </a:xfrm>
          <a:prstGeom prst="rect">
            <a:avLst/>
          </a:prstGeom>
          <a:noFill/>
          <a:ln/>
        </p:spPr>
        <p:txBody>
          <a:bodyPr wrap="square" rtlCol="0" anchor="t"/>
          <a:lstStyle/>
          <a:p>
            <a:pPr algn="l" indent="0" marL="0">
              <a:buNone/>
            </a:pPr>
            <a:r>
              <a:rPr lang="en-US" sz="950" b="1" dirty="0">
                <a:solidFill>
                  <a:srgbClr val="232D4B"/>
                </a:solidFill>
                <a:latin typeface="Calibri" pitchFamily="34" charset="0"/>
                <a:ea typeface="Calibri" pitchFamily="34" charset="-122"/>
                <a:cs typeface="Calibri" pitchFamily="34" charset="-120"/>
              </a:rPr>
              <a:t>Where applied: </a:t>
            </a:r>
            <a:pPr algn="l" indent="0" marL="0">
              <a:buNone/>
            </a:pPr>
            <a:r>
              <a:rPr lang="en-US" sz="950" dirty="0">
                <a:solidFill>
                  <a:srgbClr val="475569"/>
                </a:solidFill>
                <a:latin typeface="Calibri" pitchFamily="34" charset="0"/>
                <a:ea typeface="Calibri" pitchFamily="34" charset="-122"/>
                <a:cs typeface="Calibri" pitchFamily="34" charset="-120"/>
              </a:rPr>
              <a:t>Spinners on API calls (weather, team info), st.toast notifications on chat clear, loading states on data processing, real-time chart updates when filters change.</a:t>
            </a:r>
            <a:endParaRPr lang="en-US" sz="950" dirty="0"/>
          </a:p>
        </p:txBody>
      </p:sp>
      <p:sp>
        <p:nvSpPr>
          <p:cNvPr id="26" name="Text 24"/>
          <p:cNvSpPr/>
          <p:nvPr/>
        </p:nvSpPr>
        <p:spPr>
          <a:xfrm>
            <a:off x="1188720" y="4233672"/>
            <a:ext cx="7315200" cy="411480"/>
          </a:xfrm>
          <a:prstGeom prst="rect">
            <a:avLst/>
          </a:prstGeom>
          <a:noFill/>
          <a:ln/>
        </p:spPr>
        <p:txBody>
          <a:bodyPr wrap="square" rtlCol="0" anchor="t"/>
          <a:lstStyle/>
          <a:p>
            <a:pPr algn="l" indent="0" marL="0">
              <a:buNone/>
            </a:pPr>
            <a:r>
              <a:rPr lang="en-US" sz="950" b="1" dirty="0">
                <a:solidFill>
                  <a:srgbClr val="232D4B"/>
                </a:solidFill>
                <a:latin typeface="Calibri" pitchFamily="34" charset="0"/>
                <a:ea typeface="Calibri" pitchFamily="34" charset="-122"/>
                <a:cs typeface="Calibri" pitchFamily="34" charset="-120"/>
              </a:rPr>
              <a:t>Why it matters for our persona: </a:t>
            </a:r>
            <a:pPr algn="l" indent="0" marL="0">
              <a:buNone/>
            </a:pPr>
            <a:r>
              <a:rPr lang="en-US" sz="950" dirty="0">
                <a:solidFill>
                  <a:srgbClr val="475569"/>
                </a:solidFill>
                <a:latin typeface="Calibri" pitchFamily="34" charset="0"/>
                <a:ea typeface="Calibri" pitchFamily="34" charset="-122"/>
                <a:cs typeface="Calibri" pitchFamily="34" charset="-120"/>
              </a:rPr>
              <a:t>Film sessions are time-pressured. If Coach Mitchell clicks something and nothing happens for 3 seconds, she'll assume it's broken. Immediate visual feedback (spinners, toasts) keeps her confident the system is working.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Core Design Principles (4-5)</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868680"/>
            <a:ext cx="8046720" cy="173736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1737360"/>
          </a:xfrm>
          <a:prstGeom prst="rect">
            <a:avLst/>
          </a:prstGeom>
          <a:solidFill>
            <a:srgbClr val="7C3AED"/>
          </a:solidFill>
          <a:ln/>
        </p:spPr>
      </p:sp>
      <p:sp>
        <p:nvSpPr>
          <p:cNvPr id="8" name="Shape 6"/>
          <p:cNvSpPr/>
          <p:nvPr/>
        </p:nvSpPr>
        <p:spPr>
          <a:xfrm>
            <a:off x="713232" y="941832"/>
            <a:ext cx="365760" cy="365760"/>
          </a:xfrm>
          <a:prstGeom prst="ellipse">
            <a:avLst/>
          </a:prstGeom>
          <a:solidFill>
            <a:srgbClr val="7C3AED"/>
          </a:solidFill>
          <a:ln/>
        </p:spPr>
      </p:sp>
      <p:sp>
        <p:nvSpPr>
          <p:cNvPr id="9" name="Text 7"/>
          <p:cNvSpPr/>
          <p:nvPr/>
        </p:nvSpPr>
        <p:spPr>
          <a:xfrm>
            <a:off x="713232" y="941832"/>
            <a:ext cx="365760" cy="3657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0" name="Text 8"/>
          <p:cNvSpPr/>
          <p:nvPr/>
        </p:nvSpPr>
        <p:spPr>
          <a:xfrm>
            <a:off x="1188720" y="914400"/>
            <a:ext cx="2743200" cy="365760"/>
          </a:xfrm>
          <a:prstGeom prst="rect">
            <a:avLst/>
          </a:prstGeom>
          <a:noFill/>
          <a:ln/>
        </p:spPr>
        <p:txBody>
          <a:bodyPr wrap="square" lIns="0" tIns="0" rIns="0" bIns="0" rtlCol="0" anchor="ctr"/>
          <a:lstStyle/>
          <a:p>
            <a:pPr algn="l" indent="0" marL="0">
              <a:buNone/>
            </a:pPr>
            <a:r>
              <a:rPr lang="en-US" sz="1400" b="1" dirty="0">
                <a:solidFill>
                  <a:srgbClr val="7C3AED"/>
                </a:solidFill>
                <a:latin typeface="Calibri" pitchFamily="34" charset="0"/>
                <a:ea typeface="Calibri" pitchFamily="34" charset="-122"/>
                <a:cs typeface="Calibri" pitchFamily="34" charset="-120"/>
              </a:rPr>
              <a:t>Consistency &amp; Standards</a:t>
            </a:r>
            <a:endParaRPr lang="en-US" sz="1400" dirty="0"/>
          </a:p>
        </p:txBody>
      </p:sp>
      <p:sp>
        <p:nvSpPr>
          <p:cNvPr id="11" name="Text 9"/>
          <p:cNvSpPr/>
          <p:nvPr/>
        </p:nvSpPr>
        <p:spPr>
          <a:xfrm>
            <a:off x="1188720" y="1280160"/>
            <a:ext cx="7315200" cy="640080"/>
          </a:xfrm>
          <a:prstGeom prst="rect">
            <a:avLst/>
          </a:prstGeom>
          <a:noFill/>
          <a:ln/>
        </p:spPr>
        <p:txBody>
          <a:bodyPr wrap="square" rtlCol="0" anchor="t"/>
          <a:lstStyle/>
          <a:p>
            <a:pPr algn="l" indent="0" marL="0">
              <a:buNone/>
            </a:pPr>
            <a:r>
              <a:rPr lang="en-US" sz="1000" b="1" dirty="0">
                <a:solidFill>
                  <a:srgbClr val="232D4B"/>
                </a:solidFill>
                <a:latin typeface="Calibri" pitchFamily="34" charset="0"/>
                <a:ea typeface="Calibri" pitchFamily="34" charset="-122"/>
                <a:cs typeface="Calibri" pitchFamily="34" charset="-120"/>
              </a:rPr>
              <a:t>Where applied: </a:t>
            </a:r>
            <a:pPr algn="l" indent="0" marL="0">
              <a:buNone/>
            </a:pPr>
            <a:r>
              <a:rPr lang="en-US" sz="1000" dirty="0">
                <a:solidFill>
                  <a:srgbClr val="475569"/>
                </a:solidFill>
                <a:latin typeface="Calibri" pitchFamily="34" charset="0"/>
                <a:ea typeface="Calibri" pitchFamily="34" charset="-122"/>
                <a:cs typeface="Calibri" pitchFamily="34" charset="-120"/>
              </a:rPr>
              <a:t>UVA brand colors (Navy #232D4B, Orange #E57200) used consistently. Bebas Neue for headers, DM Sans for body. Same card styling, shadow, and border radius across all pages. Sidebar navigation is identical on every page. Metric cards follow the same format (value + label + color).</a:t>
            </a:r>
            <a:endParaRPr lang="en-US" sz="1000" dirty="0"/>
          </a:p>
        </p:txBody>
      </p:sp>
      <p:sp>
        <p:nvSpPr>
          <p:cNvPr id="12" name="Text 10"/>
          <p:cNvSpPr/>
          <p:nvPr/>
        </p:nvSpPr>
        <p:spPr>
          <a:xfrm>
            <a:off x="1188720" y="1874520"/>
            <a:ext cx="7315200" cy="640080"/>
          </a:xfrm>
          <a:prstGeom prst="rect">
            <a:avLst/>
          </a:prstGeom>
          <a:noFill/>
          <a:ln/>
        </p:spPr>
        <p:txBody>
          <a:bodyPr wrap="square" rtlCol="0" anchor="t"/>
          <a:lstStyle/>
          <a:p>
            <a:pPr algn="l" indent="0" marL="0">
              <a:buNone/>
            </a:pPr>
            <a:r>
              <a:rPr lang="en-US" sz="1000" b="1" dirty="0">
                <a:solidFill>
                  <a:srgbClr val="232D4B"/>
                </a:solidFill>
                <a:latin typeface="Calibri" pitchFamily="34" charset="0"/>
                <a:ea typeface="Calibri" pitchFamily="34" charset="-122"/>
                <a:cs typeface="Calibri" pitchFamily="34" charset="-120"/>
              </a:rPr>
              <a:t>Why it matters for our persona: </a:t>
            </a:r>
            <a:pPr algn="l" indent="0" marL="0">
              <a:buNone/>
            </a:pPr>
            <a:r>
              <a:rPr lang="en-US" sz="1000" dirty="0">
                <a:solidFill>
                  <a:srgbClr val="475569"/>
                </a:solidFill>
                <a:latin typeface="Calibri" pitchFamily="34" charset="0"/>
                <a:ea typeface="Calibri" pitchFamily="34" charset="-122"/>
                <a:cs typeface="Calibri" pitchFamily="34" charset="-120"/>
              </a:rPr>
              <a:t>Coach Mitchell will use LaxIQ across multiple pages in a single session. If the Game Analysis page looks different from Player Intelligence, she'll waste time re-orienting. Consistent design creates a mental model she can transfer across pages.</a:t>
            </a:r>
            <a:endParaRPr lang="en-US" sz="1000" dirty="0"/>
          </a:p>
        </p:txBody>
      </p:sp>
      <p:sp>
        <p:nvSpPr>
          <p:cNvPr id="13" name="Shape 11"/>
          <p:cNvSpPr/>
          <p:nvPr/>
        </p:nvSpPr>
        <p:spPr>
          <a:xfrm>
            <a:off x="548640" y="2788920"/>
            <a:ext cx="8046720" cy="173736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4" name="Shape 12"/>
          <p:cNvSpPr/>
          <p:nvPr/>
        </p:nvSpPr>
        <p:spPr>
          <a:xfrm>
            <a:off x="548640" y="2788920"/>
            <a:ext cx="54864" cy="1737360"/>
          </a:xfrm>
          <a:prstGeom prst="rect">
            <a:avLst/>
          </a:prstGeom>
          <a:solidFill>
            <a:srgbClr val="DC2626"/>
          </a:solidFill>
          <a:ln/>
        </p:spPr>
      </p:sp>
      <p:sp>
        <p:nvSpPr>
          <p:cNvPr id="15" name="Shape 13"/>
          <p:cNvSpPr/>
          <p:nvPr/>
        </p:nvSpPr>
        <p:spPr>
          <a:xfrm>
            <a:off x="713232" y="2862072"/>
            <a:ext cx="365760" cy="365760"/>
          </a:xfrm>
          <a:prstGeom prst="ellipse">
            <a:avLst/>
          </a:prstGeom>
          <a:solidFill>
            <a:srgbClr val="DC2626"/>
          </a:solidFill>
          <a:ln/>
        </p:spPr>
      </p:sp>
      <p:sp>
        <p:nvSpPr>
          <p:cNvPr id="16" name="Text 14"/>
          <p:cNvSpPr/>
          <p:nvPr/>
        </p:nvSpPr>
        <p:spPr>
          <a:xfrm>
            <a:off x="713232" y="2862072"/>
            <a:ext cx="365760" cy="3657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17" name="Text 15"/>
          <p:cNvSpPr/>
          <p:nvPr/>
        </p:nvSpPr>
        <p:spPr>
          <a:xfrm>
            <a:off x="1188720" y="2834640"/>
            <a:ext cx="2743200" cy="365760"/>
          </a:xfrm>
          <a:prstGeom prst="rect">
            <a:avLst/>
          </a:prstGeom>
          <a:noFill/>
          <a:ln/>
        </p:spPr>
        <p:txBody>
          <a:bodyPr wrap="square" lIns="0" tIns="0" rIns="0" bIns="0" rtlCol="0" anchor="ctr"/>
          <a:lstStyle/>
          <a:p>
            <a:pPr algn="l" indent="0" marL="0">
              <a:buNone/>
            </a:pPr>
            <a:r>
              <a:rPr lang="en-US" sz="1400" b="1" dirty="0">
                <a:solidFill>
                  <a:srgbClr val="DC2626"/>
                </a:solidFill>
                <a:latin typeface="Calibri" pitchFamily="34" charset="0"/>
                <a:ea typeface="Calibri" pitchFamily="34" charset="-122"/>
                <a:cs typeface="Calibri" pitchFamily="34" charset="-120"/>
              </a:rPr>
              <a:t>Error Prevention &amp; Recovery</a:t>
            </a:r>
            <a:endParaRPr lang="en-US" sz="1400" dirty="0"/>
          </a:p>
        </p:txBody>
      </p:sp>
      <p:sp>
        <p:nvSpPr>
          <p:cNvPr id="18" name="Text 16"/>
          <p:cNvSpPr/>
          <p:nvPr/>
        </p:nvSpPr>
        <p:spPr>
          <a:xfrm>
            <a:off x="1188720" y="3200400"/>
            <a:ext cx="7315200" cy="640080"/>
          </a:xfrm>
          <a:prstGeom prst="rect">
            <a:avLst/>
          </a:prstGeom>
          <a:noFill/>
          <a:ln/>
        </p:spPr>
        <p:txBody>
          <a:bodyPr wrap="square" rtlCol="0" anchor="t"/>
          <a:lstStyle/>
          <a:p>
            <a:pPr algn="l" indent="0" marL="0">
              <a:buNone/>
            </a:pPr>
            <a:r>
              <a:rPr lang="en-US" sz="1000" b="1" dirty="0">
                <a:solidFill>
                  <a:srgbClr val="232D4B"/>
                </a:solidFill>
                <a:latin typeface="Calibri" pitchFamily="34" charset="0"/>
                <a:ea typeface="Calibri" pitchFamily="34" charset="-122"/>
                <a:cs typeface="Calibri" pitchFamily="34" charset="-120"/>
              </a:rPr>
              <a:t>Where applied: </a:t>
            </a:r>
            <a:pPr algn="l" indent="0" marL="0">
              <a:buNone/>
            </a:pPr>
            <a:r>
              <a:rPr lang="en-US" sz="1000" dirty="0">
                <a:solidFill>
                  <a:srgbClr val="475569"/>
                </a:solidFill>
                <a:latin typeface="Calibri" pitchFamily="34" charset="0"/>
                <a:ea typeface="Calibri" pitchFamily="34" charset="-122"/>
                <a:cs typeface="Calibri" pitchFamily="34" charset="-120"/>
              </a:rPr>
              <a:t>Chat input validation (empty check, 2000-char limit, prompt injection regex), API error handling with user-friendly messages (rate limit, timeout, auth failure), graceful fallbacks when data is missing ("Player stats unavailable" instead of a crash), default selections in dropdowns to prevent empty states.</a:t>
            </a:r>
            <a:endParaRPr lang="en-US" sz="1000" dirty="0"/>
          </a:p>
        </p:txBody>
      </p:sp>
      <p:sp>
        <p:nvSpPr>
          <p:cNvPr id="19" name="Text 17"/>
          <p:cNvSpPr/>
          <p:nvPr/>
        </p:nvSpPr>
        <p:spPr>
          <a:xfrm>
            <a:off x="1188720" y="3794760"/>
            <a:ext cx="7315200" cy="640080"/>
          </a:xfrm>
          <a:prstGeom prst="rect">
            <a:avLst/>
          </a:prstGeom>
          <a:noFill/>
          <a:ln/>
        </p:spPr>
        <p:txBody>
          <a:bodyPr wrap="square" rtlCol="0" anchor="t"/>
          <a:lstStyle/>
          <a:p>
            <a:pPr algn="l" indent="0" marL="0">
              <a:buNone/>
            </a:pPr>
            <a:r>
              <a:rPr lang="en-US" sz="1000" b="1" dirty="0">
                <a:solidFill>
                  <a:srgbClr val="232D4B"/>
                </a:solidFill>
                <a:latin typeface="Calibri" pitchFamily="34" charset="0"/>
                <a:ea typeface="Calibri" pitchFamily="34" charset="-122"/>
                <a:cs typeface="Calibri" pitchFamily="34" charset="-120"/>
              </a:rPr>
              <a:t>Why it matters for our persona: </a:t>
            </a:r>
            <a:pPr algn="l" indent="0" marL="0">
              <a:buNone/>
            </a:pPr>
            <a:r>
              <a:rPr lang="en-US" sz="1000" dirty="0">
                <a:solidFill>
                  <a:srgbClr val="475569"/>
                </a:solidFill>
                <a:latin typeface="Calibri" pitchFamily="34" charset="0"/>
                <a:ea typeface="Calibri" pitchFamily="34" charset="-122"/>
                <a:cs typeface="Calibri" pitchFamily="34" charset="-120"/>
              </a:rPr>
              <a:t>Coach Mitchell isn't a technical user. If she types a long question or the API rate-limits, she shouldn't see a stack trace. Friendly error messages and input guardrails keep the experience smooth and prevent confusion during time-pressured film sessions.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640080" y="1463040"/>
            <a:ext cx="1097280" cy="1097280"/>
          </a:xfrm>
          <a:prstGeom prst="ellipse">
            <a:avLst/>
          </a:prstGeom>
          <a:solidFill>
            <a:srgbClr val="E57200"/>
          </a:solidFill>
          <a:ln/>
        </p:spPr>
      </p:sp>
      <p:sp>
        <p:nvSpPr>
          <p:cNvPr id="3" name="Text 1"/>
          <p:cNvSpPr/>
          <p:nvPr/>
        </p:nvSpPr>
        <p:spPr>
          <a:xfrm>
            <a:off x="640080" y="1463040"/>
            <a:ext cx="109728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4" name="Text 2"/>
          <p:cNvSpPr/>
          <p:nvPr/>
        </p:nvSpPr>
        <p:spPr>
          <a:xfrm>
            <a:off x="2011680" y="1280160"/>
            <a:ext cx="6400800" cy="7315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Heuristic Evaluation</a:t>
            </a:r>
            <a:endParaRPr lang="en-US" sz="3600" dirty="0"/>
          </a:p>
        </p:txBody>
      </p:sp>
      <p:sp>
        <p:nvSpPr>
          <p:cNvPr id="5" name="Text 3"/>
          <p:cNvSpPr/>
          <p:nvPr/>
        </p:nvSpPr>
        <p:spPr>
          <a:xfrm>
            <a:off x="2011680" y="2011680"/>
            <a:ext cx="6400800" cy="548640"/>
          </a:xfrm>
          <a:prstGeom prst="rect">
            <a:avLst/>
          </a:prstGeom>
          <a:noFill/>
          <a:ln/>
        </p:spPr>
        <p:txBody>
          <a:bodyPr wrap="square" rtlCol="0" anchor="t"/>
          <a:lstStyle/>
          <a:p>
            <a:pPr algn="l" indent="0" marL="0">
              <a:buNone/>
            </a:pPr>
            <a:r>
              <a:rPr lang="en-US" sz="1400" dirty="0">
                <a:solidFill>
                  <a:srgbClr val="94A3B8"/>
                </a:solidFill>
                <a:latin typeface="Calibri" pitchFamily="34" charset="0"/>
                <a:ea typeface="Calibri" pitchFamily="34" charset="-122"/>
                <a:cs typeface="Calibri" pitchFamily="34" charset="-120"/>
              </a:rPr>
              <a:t>Jakob Nielsen's 10 Heuristics applied to comparable interfaces  |  10 pts</a:t>
            </a:r>
            <a:endParaRPr lang="en-US" sz="1400" dirty="0"/>
          </a:p>
        </p:txBody>
      </p:sp>
      <p:sp>
        <p:nvSpPr>
          <p:cNvPr id="6" name="Shape 4"/>
          <p:cNvSpPr/>
          <p:nvPr/>
        </p:nvSpPr>
        <p:spPr>
          <a:xfrm>
            <a:off x="0" y="4800600"/>
            <a:ext cx="9144000" cy="342900"/>
          </a:xfrm>
          <a:prstGeom prst="rect">
            <a:avLst/>
          </a:prstGeom>
          <a:solidFill>
            <a:srgbClr val="E57200"/>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Comparable Interfaces Evaluated</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17</a:t>
            </a:r>
            <a:endParaRPr lang="en-US" sz="1000" dirty="0"/>
          </a:p>
        </p:txBody>
      </p:sp>
      <p:sp>
        <p:nvSpPr>
          <p:cNvPr id="6" name="Text 4"/>
          <p:cNvSpPr/>
          <p:nvPr/>
        </p:nvSpPr>
        <p:spPr>
          <a:xfrm>
            <a:off x="548640" y="868680"/>
            <a:ext cx="8046720" cy="365760"/>
          </a:xfrm>
          <a:prstGeom prst="rect">
            <a:avLst/>
          </a:prstGeom>
          <a:noFill/>
          <a:ln/>
        </p:spPr>
        <p:txBody>
          <a:bodyPr wrap="square"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We evaluated three comparable lacrosse analytics platforms using Nielsen's 10 usability heuristics and identified one critical issue from each.</a:t>
            </a:r>
            <a:endParaRPr lang="en-US" sz="1100" dirty="0"/>
          </a:p>
        </p:txBody>
      </p:sp>
      <p:sp>
        <p:nvSpPr>
          <p:cNvPr id="7" name="Shape 5"/>
          <p:cNvSpPr/>
          <p:nvPr/>
        </p:nvSpPr>
        <p:spPr>
          <a:xfrm>
            <a:off x="548640" y="1463040"/>
            <a:ext cx="8046720" cy="82296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8" name="Shape 6"/>
          <p:cNvSpPr/>
          <p:nvPr/>
        </p:nvSpPr>
        <p:spPr>
          <a:xfrm>
            <a:off x="548640" y="1463040"/>
            <a:ext cx="54864" cy="822960"/>
          </a:xfrm>
          <a:prstGeom prst="rect">
            <a:avLst/>
          </a:prstGeom>
          <a:solidFill>
            <a:srgbClr val="232D4B"/>
          </a:solidFill>
          <a:ln/>
        </p:spPr>
      </p:sp>
      <p:pic>
        <p:nvPicPr>
          <p:cNvPr id="9" name="Image 0" descr="preencoded.png">    </p:cNvPr>
          <p:cNvPicPr>
            <a:picLocks noChangeAspect="1"/>
          </p:cNvPicPr>
          <p:nvPr/>
        </p:nvPicPr>
        <p:blipFill>
          <a:blip r:embed="rId1"/>
          <a:stretch>
            <a:fillRect/>
          </a:stretch>
        </p:blipFill>
        <p:spPr>
          <a:xfrm>
            <a:off x="777240" y="1664208"/>
            <a:ext cx="365760" cy="365760"/>
          </a:xfrm>
          <a:prstGeom prst="rect">
            <a:avLst/>
          </a:prstGeom>
        </p:spPr>
      </p:pic>
      <p:sp>
        <p:nvSpPr>
          <p:cNvPr id="10" name="Text 7"/>
          <p:cNvSpPr/>
          <p:nvPr/>
        </p:nvSpPr>
        <p:spPr>
          <a:xfrm>
            <a:off x="1280160" y="1463040"/>
            <a:ext cx="2743200" cy="411480"/>
          </a:xfrm>
          <a:prstGeom prst="rect">
            <a:avLst/>
          </a:prstGeom>
          <a:noFill/>
          <a:ln/>
        </p:spPr>
        <p:txBody>
          <a:bodyPr wrap="square" lIns="0" tIns="0" rIns="0" bIns="0" rtlCol="0" anchor="b"/>
          <a:lstStyle/>
          <a:p>
            <a:pPr algn="l" indent="0" marL="0">
              <a:buNone/>
            </a:pPr>
            <a:r>
              <a:rPr lang="en-US" sz="1300" b="1" dirty="0">
                <a:solidFill>
                  <a:srgbClr val="232D4B"/>
                </a:solidFill>
                <a:latin typeface="Calibri" pitchFamily="34" charset="0"/>
                <a:ea typeface="Calibri" pitchFamily="34" charset="-122"/>
                <a:cs typeface="Calibri" pitchFamily="34" charset="-120"/>
              </a:rPr>
              <a:t>LacrosseReference.com</a:t>
            </a:r>
            <a:endParaRPr lang="en-US" sz="1300" dirty="0"/>
          </a:p>
        </p:txBody>
      </p:sp>
      <p:sp>
        <p:nvSpPr>
          <p:cNvPr id="11" name="Text 8"/>
          <p:cNvSpPr/>
          <p:nvPr/>
        </p:nvSpPr>
        <p:spPr>
          <a:xfrm>
            <a:off x="1280160" y="1847088"/>
            <a:ext cx="7132320" cy="3657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Community lacrosse statistics reference site with historical data, team/player stats, and season-by-season comparisons</a:t>
            </a:r>
            <a:endParaRPr lang="en-US" sz="1000" dirty="0"/>
          </a:p>
        </p:txBody>
      </p:sp>
      <p:sp>
        <p:nvSpPr>
          <p:cNvPr id="12" name="Shape 9"/>
          <p:cNvSpPr/>
          <p:nvPr/>
        </p:nvSpPr>
        <p:spPr>
          <a:xfrm>
            <a:off x="548640" y="2468880"/>
            <a:ext cx="8046720" cy="82296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3" name="Shape 10"/>
          <p:cNvSpPr/>
          <p:nvPr/>
        </p:nvSpPr>
        <p:spPr>
          <a:xfrm>
            <a:off x="548640" y="2468880"/>
            <a:ext cx="54864" cy="822960"/>
          </a:xfrm>
          <a:prstGeom prst="rect">
            <a:avLst/>
          </a:prstGeom>
          <a:solidFill>
            <a:srgbClr val="2563EB"/>
          </a:solidFill>
          <a:ln/>
        </p:spPr>
      </p:sp>
      <p:pic>
        <p:nvPicPr>
          <p:cNvPr id="14" name="Image 1" descr="preencoded.png">    </p:cNvPr>
          <p:cNvPicPr>
            <a:picLocks noChangeAspect="1"/>
          </p:cNvPicPr>
          <p:nvPr/>
        </p:nvPicPr>
        <p:blipFill>
          <a:blip r:embed="rId2"/>
          <a:stretch>
            <a:fillRect/>
          </a:stretch>
        </p:blipFill>
        <p:spPr>
          <a:xfrm>
            <a:off x="777240" y="2670048"/>
            <a:ext cx="365760" cy="365760"/>
          </a:xfrm>
          <a:prstGeom prst="rect">
            <a:avLst/>
          </a:prstGeom>
        </p:spPr>
      </p:pic>
      <p:sp>
        <p:nvSpPr>
          <p:cNvPr id="15" name="Text 11"/>
          <p:cNvSpPr/>
          <p:nvPr/>
        </p:nvSpPr>
        <p:spPr>
          <a:xfrm>
            <a:off x="1280160" y="2468880"/>
            <a:ext cx="2743200" cy="411480"/>
          </a:xfrm>
          <a:prstGeom prst="rect">
            <a:avLst/>
          </a:prstGeom>
          <a:noFill/>
          <a:ln/>
        </p:spPr>
        <p:txBody>
          <a:bodyPr wrap="square" lIns="0" tIns="0" rIns="0" bIns="0" rtlCol="0" anchor="b"/>
          <a:lstStyle/>
          <a:p>
            <a:pPr algn="l" indent="0" marL="0">
              <a:buNone/>
            </a:pPr>
            <a:r>
              <a:rPr lang="en-US" sz="1300" b="1" dirty="0">
                <a:solidFill>
                  <a:srgbClr val="2563EB"/>
                </a:solidFill>
                <a:latin typeface="Calibri" pitchFamily="34" charset="0"/>
                <a:ea typeface="Calibri" pitchFamily="34" charset="-122"/>
                <a:cs typeface="Calibri" pitchFamily="34" charset="-120"/>
              </a:rPr>
              <a:t>NCAA Stats (stats.ncaa.org)</a:t>
            </a:r>
            <a:endParaRPr lang="en-US" sz="1300" dirty="0"/>
          </a:p>
        </p:txBody>
      </p:sp>
      <p:sp>
        <p:nvSpPr>
          <p:cNvPr id="16" name="Text 12"/>
          <p:cNvSpPr/>
          <p:nvPr/>
        </p:nvSpPr>
        <p:spPr>
          <a:xfrm>
            <a:off x="1280160" y="2852928"/>
            <a:ext cx="7132320" cy="3657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Official NCAA statistics portal with sortable tables, rankings, and team/player search across all divisions</a:t>
            </a:r>
            <a:endParaRPr lang="en-US" sz="1000" dirty="0"/>
          </a:p>
        </p:txBody>
      </p:sp>
      <p:sp>
        <p:nvSpPr>
          <p:cNvPr id="17" name="Shape 13"/>
          <p:cNvSpPr/>
          <p:nvPr/>
        </p:nvSpPr>
        <p:spPr>
          <a:xfrm>
            <a:off x="548640" y="3474720"/>
            <a:ext cx="8046720" cy="82296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8" name="Shape 14"/>
          <p:cNvSpPr/>
          <p:nvPr/>
        </p:nvSpPr>
        <p:spPr>
          <a:xfrm>
            <a:off x="548640" y="3474720"/>
            <a:ext cx="54864" cy="822960"/>
          </a:xfrm>
          <a:prstGeom prst="rect">
            <a:avLst/>
          </a:prstGeom>
          <a:solidFill>
            <a:srgbClr val="0D9488"/>
          </a:solidFill>
          <a:ln/>
        </p:spPr>
      </p:sp>
      <p:pic>
        <p:nvPicPr>
          <p:cNvPr id="19" name="Image 2" descr="preencoded.png">    </p:cNvPr>
          <p:cNvPicPr>
            <a:picLocks noChangeAspect="1"/>
          </p:cNvPicPr>
          <p:nvPr/>
        </p:nvPicPr>
        <p:blipFill>
          <a:blip r:embed="rId3"/>
          <a:stretch>
            <a:fillRect/>
          </a:stretch>
        </p:blipFill>
        <p:spPr>
          <a:xfrm>
            <a:off x="777240" y="3675888"/>
            <a:ext cx="365760" cy="365760"/>
          </a:xfrm>
          <a:prstGeom prst="rect">
            <a:avLst/>
          </a:prstGeom>
        </p:spPr>
      </p:pic>
      <p:sp>
        <p:nvSpPr>
          <p:cNvPr id="20" name="Text 15"/>
          <p:cNvSpPr/>
          <p:nvPr/>
        </p:nvSpPr>
        <p:spPr>
          <a:xfrm>
            <a:off x="1280160" y="3474720"/>
            <a:ext cx="2743200" cy="411480"/>
          </a:xfrm>
          <a:prstGeom prst="rect">
            <a:avLst/>
          </a:prstGeom>
          <a:noFill/>
          <a:ln/>
        </p:spPr>
        <p:txBody>
          <a:bodyPr wrap="square" lIns="0" tIns="0" rIns="0" bIns="0" rtlCol="0" anchor="b"/>
          <a:lstStyle/>
          <a:p>
            <a:pPr algn="l" indent="0" marL="0">
              <a:buNone/>
            </a:pPr>
            <a:r>
              <a:rPr lang="en-US" sz="1300" b="1" dirty="0">
                <a:solidFill>
                  <a:srgbClr val="0D9488"/>
                </a:solidFill>
                <a:latin typeface="Calibri" pitchFamily="34" charset="0"/>
                <a:ea typeface="Calibri" pitchFamily="34" charset="-122"/>
                <a:cs typeface="Calibri" pitchFamily="34" charset="-120"/>
              </a:rPr>
              <a:t>Inside Lacrosse Analytics</a:t>
            </a:r>
            <a:endParaRPr lang="en-US" sz="1300" dirty="0"/>
          </a:p>
        </p:txBody>
      </p:sp>
      <p:sp>
        <p:nvSpPr>
          <p:cNvPr id="21" name="Text 16"/>
          <p:cNvSpPr/>
          <p:nvPr/>
        </p:nvSpPr>
        <p:spPr>
          <a:xfrm>
            <a:off x="1280160" y="3858768"/>
            <a:ext cx="7132320" cy="365760"/>
          </a:xfrm>
          <a:prstGeom prst="rect">
            <a:avLst/>
          </a:prstGeom>
          <a:noFill/>
          <a:ln/>
        </p:spPr>
        <p:txBody>
          <a:bodyPr wrap="square" rtlCol="0" anchor="t"/>
          <a:lstStyle/>
          <a:p>
            <a:pPr algn="l" indent="0" marL="0">
              <a:buNone/>
            </a:pPr>
            <a:r>
              <a:rPr lang="en-US" sz="1000" dirty="0">
                <a:solidFill>
                  <a:srgbClr val="475569"/>
                </a:solidFill>
                <a:latin typeface="Calibri" pitchFamily="34" charset="0"/>
                <a:ea typeface="Calibri" pitchFamily="34" charset="-122"/>
                <a:cs typeface="Calibri" pitchFamily="34" charset="-120"/>
              </a:rPr>
              <a:t>Premium lacrosse media platform with power rankings, advanced metrics, and editorial analytics content</a:t>
            </a:r>
            <a:endParaRPr lang="en-US" sz="1000" dirty="0"/>
          </a:p>
        </p:txBody>
      </p:sp>
      <p:sp>
        <p:nvSpPr>
          <p:cNvPr id="22" name="Shape 17"/>
          <p:cNvSpPr/>
          <p:nvPr/>
        </p:nvSpPr>
        <p:spPr>
          <a:xfrm>
            <a:off x="548640" y="4526280"/>
            <a:ext cx="8046720" cy="457200"/>
          </a:xfrm>
          <a:prstGeom prst="rect">
            <a:avLst/>
          </a:prstGeom>
          <a:solidFill>
            <a:srgbClr val="232D4B">
              <a:alpha val="10000"/>
            </a:srgbClr>
          </a:solidFill>
          <a:ln w="6350">
            <a:solidFill>
              <a:srgbClr val="232D4B"/>
            </a:solidFill>
            <a:prstDash val="solid"/>
          </a:ln>
        </p:spPr>
      </p:sp>
      <p:sp>
        <p:nvSpPr>
          <p:cNvPr id="23" name="Text 18"/>
          <p:cNvSpPr/>
          <p:nvPr/>
        </p:nvSpPr>
        <p:spPr>
          <a:xfrm>
            <a:off x="731520" y="4526280"/>
            <a:ext cx="7680960" cy="457200"/>
          </a:xfrm>
          <a:prstGeom prst="rect">
            <a:avLst/>
          </a:prstGeom>
          <a:noFill/>
          <a:ln/>
        </p:spPr>
        <p:txBody>
          <a:bodyPr wrap="square" rtlCol="0" anchor="ctr"/>
          <a:lstStyle/>
          <a:p>
            <a:pPr algn="l" indent="0" marL="0">
              <a:buNone/>
            </a:pPr>
            <a:r>
              <a:rPr lang="en-US" sz="750" dirty="0">
                <a:solidFill>
                  <a:srgbClr val="232D4B"/>
                </a:solidFill>
                <a:latin typeface="Calibri" pitchFamily="34" charset="0"/>
                <a:ea typeface="Calibri" pitchFamily="34" charset="-122"/>
                <a:cs typeface="Calibri" pitchFamily="34" charset="-120"/>
              </a:rPr>
              <a:t>Nielsen's 10 Heuristics: (1) Visibility of System Status  (2) Match Real World  (3) User Control  (4) Consistency  (5) Error Prevention  (6) Recognition &gt; Recall  (7) Flexibility  (8) Aesthetic Design  (9) Error Recovery  (10) Help &amp; Documentation</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Heuristic Issue #1 — LacrosseReference.com</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18</a:t>
            </a:r>
            <a:endParaRPr lang="en-US" sz="1000" dirty="0"/>
          </a:p>
        </p:txBody>
      </p:sp>
      <p:sp>
        <p:nvSpPr>
          <p:cNvPr id="6" name="Shape 4"/>
          <p:cNvSpPr/>
          <p:nvPr/>
        </p:nvSpPr>
        <p:spPr>
          <a:xfrm>
            <a:off x="548640" y="868680"/>
            <a:ext cx="8046720" cy="3474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3474720"/>
          </a:xfrm>
          <a:prstGeom prst="rect">
            <a:avLst/>
          </a:prstGeom>
          <a:solidFill>
            <a:srgbClr val="DC2626"/>
          </a:solidFill>
          <a:ln/>
        </p:spPr>
      </p:sp>
      <p:sp>
        <p:nvSpPr>
          <p:cNvPr id="8" name="Text 6"/>
          <p:cNvSpPr/>
          <p:nvPr/>
        </p:nvSpPr>
        <p:spPr>
          <a:xfrm>
            <a:off x="777240" y="91440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VIOLATED HEURISTIC</a:t>
            </a:r>
            <a:endParaRPr lang="en-US" sz="800" dirty="0"/>
          </a:p>
        </p:txBody>
      </p:sp>
      <p:sp>
        <p:nvSpPr>
          <p:cNvPr id="9" name="Text 7"/>
          <p:cNvSpPr/>
          <p:nvPr/>
        </p:nvSpPr>
        <p:spPr>
          <a:xfrm>
            <a:off x="777240" y="1143000"/>
            <a:ext cx="4572000" cy="320040"/>
          </a:xfrm>
          <a:prstGeom prst="rect">
            <a:avLst/>
          </a:prstGeom>
          <a:noFill/>
          <a:ln/>
        </p:spPr>
        <p:txBody>
          <a:bodyPr wrap="square" lIns="0" tIns="0" rIns="0" bIns="0" rtlCol="0" anchor="ctr"/>
          <a:lstStyle/>
          <a:p>
            <a:pPr algn="l" indent="0" marL="0">
              <a:buNone/>
            </a:pPr>
            <a:r>
              <a:rPr lang="en-US" sz="1600" b="1" dirty="0">
                <a:solidFill>
                  <a:srgbClr val="232D4B"/>
                </a:solidFill>
                <a:latin typeface="Calibri" pitchFamily="34" charset="0"/>
                <a:ea typeface="Calibri" pitchFamily="34" charset="-122"/>
                <a:cs typeface="Calibri" pitchFamily="34" charset="-120"/>
              </a:rPr>
              <a:t>#6 — Recognition Rather Than Recall</a:t>
            </a:r>
            <a:endParaRPr lang="en-US" sz="1600" dirty="0"/>
          </a:p>
        </p:txBody>
      </p:sp>
      <p:sp>
        <p:nvSpPr>
          <p:cNvPr id="10" name="Shape 8"/>
          <p:cNvSpPr/>
          <p:nvPr/>
        </p:nvSpPr>
        <p:spPr>
          <a:xfrm>
            <a:off x="6858000" y="1005840"/>
            <a:ext cx="1554480" cy="457200"/>
          </a:xfrm>
          <a:prstGeom prst="rect">
            <a:avLst/>
          </a:prstGeom>
          <a:solidFill>
            <a:srgbClr val="DC2626"/>
          </a:solidFill>
          <a:ln/>
        </p:spPr>
      </p:sp>
      <p:sp>
        <p:nvSpPr>
          <p:cNvPr id="11" name="Text 9"/>
          <p:cNvSpPr/>
          <p:nvPr/>
        </p:nvSpPr>
        <p:spPr>
          <a:xfrm>
            <a:off x="6858000" y="1005840"/>
            <a:ext cx="15544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Severity: 3</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MAJOR</a:t>
            </a:r>
            <a:endParaRPr lang="en-US" sz="1000" dirty="0"/>
          </a:p>
        </p:txBody>
      </p:sp>
      <p:sp>
        <p:nvSpPr>
          <p:cNvPr id="12" name="Text 10"/>
          <p:cNvSpPr/>
          <p:nvPr/>
        </p:nvSpPr>
        <p:spPr>
          <a:xfrm>
            <a:off x="777240" y="160020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WHY IT MATTERS</a:t>
            </a:r>
            <a:endParaRPr lang="en-US" sz="800" dirty="0"/>
          </a:p>
        </p:txBody>
      </p:sp>
      <p:sp>
        <p:nvSpPr>
          <p:cNvPr id="13" name="Text 11"/>
          <p:cNvSpPr/>
          <p:nvPr/>
        </p:nvSpPr>
        <p:spPr>
          <a:xfrm>
            <a:off x="777240" y="1828800"/>
            <a:ext cx="7589520" cy="914400"/>
          </a:xfrm>
          <a:prstGeom prst="rect">
            <a:avLst/>
          </a:prstGeom>
          <a:noFill/>
          <a:ln/>
        </p:spPr>
        <p:txBody>
          <a:bodyPr wrap="square"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The site uses dense, unsorted data tables with dozens of columns and no visual hierarchy. Users must scroll horizontally and remember which column contains the stat they need. There are no sorting indicators, no column highlighting, and no sticky headers. Finding a specific player's draw control numbers requires scanning through 15+ columns with cryptic abbreviations (DC, GBs, CT, TO) that are never defined on-screen. This forces heavy reliance on recall rather than recognition, dramatically increasing cognitive load during time-sensitive research.</a:t>
            </a:r>
            <a:endParaRPr lang="en-US" sz="1100" dirty="0"/>
          </a:p>
        </p:txBody>
      </p:sp>
      <p:sp>
        <p:nvSpPr>
          <p:cNvPr id="14" name="Text 12"/>
          <p:cNvSpPr/>
          <p:nvPr/>
        </p:nvSpPr>
        <p:spPr>
          <a:xfrm>
            <a:off x="777240" y="288036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SUGGESTED FIX</a:t>
            </a:r>
            <a:endParaRPr lang="en-US" sz="800" dirty="0"/>
          </a:p>
        </p:txBody>
      </p:sp>
      <p:sp>
        <p:nvSpPr>
          <p:cNvPr id="15" name="Shape 13"/>
          <p:cNvSpPr/>
          <p:nvPr/>
        </p:nvSpPr>
        <p:spPr>
          <a:xfrm>
            <a:off x="777240" y="3108960"/>
            <a:ext cx="7589520" cy="457200"/>
          </a:xfrm>
          <a:prstGeom prst="rect">
            <a:avLst/>
          </a:prstGeom>
          <a:solidFill>
            <a:srgbClr val="16A34A">
              <a:alpha val="15000"/>
            </a:srgbClr>
          </a:solidFill>
          <a:ln w="12700">
            <a:solidFill>
              <a:srgbClr val="16A34A"/>
            </a:solidFill>
            <a:prstDash val="solid"/>
          </a:ln>
        </p:spPr>
      </p:sp>
      <p:sp>
        <p:nvSpPr>
          <p:cNvPr id="16" name="Text 14"/>
          <p:cNvSpPr/>
          <p:nvPr/>
        </p:nvSpPr>
        <p:spPr>
          <a:xfrm>
            <a:off x="914400" y="3108960"/>
            <a:ext cx="7315200" cy="457200"/>
          </a:xfrm>
          <a:prstGeom prst="rect">
            <a:avLst/>
          </a:prstGeom>
          <a:noFill/>
          <a:ln/>
        </p:spPr>
        <p:txBody>
          <a:bodyPr wrap="square" rtlCol="0" anchor="ctr"/>
          <a:lstStyle/>
          <a:p>
            <a:pPr algn="l" indent="0" marL="0">
              <a:buNone/>
            </a:pPr>
            <a:r>
              <a:rPr lang="en-US" sz="1000" dirty="0">
                <a:solidFill>
                  <a:srgbClr val="16A34A"/>
                </a:solidFill>
                <a:latin typeface="Calibri" pitchFamily="34" charset="0"/>
                <a:ea typeface="Calibri" pitchFamily="34" charset="-122"/>
                <a:cs typeface="Calibri" pitchFamily="34" charset="-120"/>
              </a:rPr>
              <a:t>Add sortable column headers with tooltip definitions, sticky row/column headers, a column visibility toggle so users can show only the stats they care about, and a search/filter bar for player names.</a:t>
            </a:r>
            <a:endParaRPr lang="en-US" sz="1000" dirty="0"/>
          </a:p>
        </p:txBody>
      </p:sp>
      <p:sp>
        <p:nvSpPr>
          <p:cNvPr id="17" name="Shape 15"/>
          <p:cNvSpPr/>
          <p:nvPr/>
        </p:nvSpPr>
        <p:spPr>
          <a:xfrm>
            <a:off x="777240" y="3749040"/>
            <a:ext cx="7589520" cy="457200"/>
          </a:xfrm>
          <a:prstGeom prst="rect">
            <a:avLst/>
          </a:prstGeom>
          <a:solidFill>
            <a:srgbClr val="232D4B">
              <a:alpha val="10000"/>
            </a:srgbClr>
          </a:solidFill>
          <a:ln w="6350">
            <a:solidFill>
              <a:srgbClr val="232D4B"/>
            </a:solidFill>
            <a:prstDash val="solid"/>
          </a:ln>
        </p:spPr>
      </p:sp>
      <p:sp>
        <p:nvSpPr>
          <p:cNvPr id="18" name="Text 16"/>
          <p:cNvSpPr/>
          <p:nvPr/>
        </p:nvSpPr>
        <p:spPr>
          <a:xfrm>
            <a:off x="914400" y="3749040"/>
            <a:ext cx="7315200" cy="457200"/>
          </a:xfrm>
          <a:prstGeom prst="rect">
            <a:avLst/>
          </a:prstGeom>
          <a:noFill/>
          <a:ln/>
        </p:spPr>
        <p:txBody>
          <a:bodyPr wrap="square" rtlCol="0" anchor="ctr"/>
          <a:lstStyle/>
          <a:p>
            <a:pPr algn="l" indent="0" marL="0">
              <a:buNone/>
            </a:pPr>
            <a:r>
              <a:rPr lang="en-US" sz="900" b="1" dirty="0">
                <a:solidFill>
                  <a:srgbClr val="232D4B"/>
                </a:solidFill>
                <a:latin typeface="Calibri" pitchFamily="34" charset="0"/>
                <a:ea typeface="Calibri" pitchFamily="34" charset="-122"/>
                <a:cs typeface="Calibri" pitchFamily="34" charset="-120"/>
              </a:rPr>
              <a:t>How LaxIQ addresses this: </a:t>
            </a:r>
            <a:pPr algn="l" indent="0" marL="0">
              <a:buNone/>
            </a:pPr>
            <a:r>
              <a:rPr lang="en-US" sz="900" dirty="0">
                <a:solidFill>
                  <a:srgbClr val="475569"/>
                </a:solidFill>
                <a:latin typeface="Calibri" pitchFamily="34" charset="0"/>
                <a:ea typeface="Calibri" pitchFamily="34" charset="-122"/>
                <a:cs typeface="Calibri" pitchFamily="34" charset="-120"/>
              </a:rPr>
              <a:t>Stat abbreviations are defined in the glossary and LaxIQ Assistant. Tables are sortable via Streamlit's built-in dataframe sorting. Visual grading (A-F with colors) reduces the need to read raw numbers.</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Heuristic Issue #2 — NCAA Stats Portal</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19</a:t>
            </a:r>
            <a:endParaRPr lang="en-US" sz="1000" dirty="0"/>
          </a:p>
        </p:txBody>
      </p:sp>
      <p:sp>
        <p:nvSpPr>
          <p:cNvPr id="6" name="Shape 4"/>
          <p:cNvSpPr/>
          <p:nvPr/>
        </p:nvSpPr>
        <p:spPr>
          <a:xfrm>
            <a:off x="548640" y="868680"/>
            <a:ext cx="8046720" cy="3474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3474720"/>
          </a:xfrm>
          <a:prstGeom prst="rect">
            <a:avLst/>
          </a:prstGeom>
          <a:solidFill>
            <a:srgbClr val="D97706"/>
          </a:solidFill>
          <a:ln/>
        </p:spPr>
      </p:sp>
      <p:sp>
        <p:nvSpPr>
          <p:cNvPr id="8" name="Text 6"/>
          <p:cNvSpPr/>
          <p:nvPr/>
        </p:nvSpPr>
        <p:spPr>
          <a:xfrm>
            <a:off x="777240" y="91440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VIOLATED HEURISTIC</a:t>
            </a:r>
            <a:endParaRPr lang="en-US" sz="800" dirty="0"/>
          </a:p>
        </p:txBody>
      </p:sp>
      <p:sp>
        <p:nvSpPr>
          <p:cNvPr id="9" name="Text 7"/>
          <p:cNvSpPr/>
          <p:nvPr/>
        </p:nvSpPr>
        <p:spPr>
          <a:xfrm>
            <a:off x="777240" y="1143000"/>
            <a:ext cx="4572000" cy="320040"/>
          </a:xfrm>
          <a:prstGeom prst="rect">
            <a:avLst/>
          </a:prstGeom>
          <a:noFill/>
          <a:ln/>
        </p:spPr>
        <p:txBody>
          <a:bodyPr wrap="square" lIns="0" tIns="0" rIns="0" bIns="0" rtlCol="0" anchor="ctr"/>
          <a:lstStyle/>
          <a:p>
            <a:pPr algn="l" indent="0" marL="0">
              <a:buNone/>
            </a:pPr>
            <a:r>
              <a:rPr lang="en-US" sz="1600" b="1" dirty="0">
                <a:solidFill>
                  <a:srgbClr val="232D4B"/>
                </a:solidFill>
                <a:latin typeface="Calibri" pitchFamily="34" charset="0"/>
                <a:ea typeface="Calibri" pitchFamily="34" charset="-122"/>
                <a:cs typeface="Calibri" pitchFamily="34" charset="-120"/>
              </a:rPr>
              <a:t>#1 — Visibility of System Status</a:t>
            </a:r>
            <a:endParaRPr lang="en-US" sz="1600" dirty="0"/>
          </a:p>
        </p:txBody>
      </p:sp>
      <p:sp>
        <p:nvSpPr>
          <p:cNvPr id="10" name="Shape 8"/>
          <p:cNvSpPr/>
          <p:nvPr/>
        </p:nvSpPr>
        <p:spPr>
          <a:xfrm>
            <a:off x="6858000" y="1005840"/>
            <a:ext cx="1554480" cy="457200"/>
          </a:xfrm>
          <a:prstGeom prst="rect">
            <a:avLst/>
          </a:prstGeom>
          <a:solidFill>
            <a:srgbClr val="D97706"/>
          </a:solidFill>
          <a:ln/>
        </p:spPr>
      </p:sp>
      <p:sp>
        <p:nvSpPr>
          <p:cNvPr id="11" name="Text 9"/>
          <p:cNvSpPr/>
          <p:nvPr/>
        </p:nvSpPr>
        <p:spPr>
          <a:xfrm>
            <a:off x="6858000" y="1005840"/>
            <a:ext cx="15544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Severity: 2</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MINOR</a:t>
            </a:r>
            <a:endParaRPr lang="en-US" sz="1000" dirty="0"/>
          </a:p>
        </p:txBody>
      </p:sp>
      <p:sp>
        <p:nvSpPr>
          <p:cNvPr id="12" name="Text 10"/>
          <p:cNvSpPr/>
          <p:nvPr/>
        </p:nvSpPr>
        <p:spPr>
          <a:xfrm>
            <a:off x="777240" y="160020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WHY IT MATTERS</a:t>
            </a:r>
            <a:endParaRPr lang="en-US" sz="800" dirty="0"/>
          </a:p>
        </p:txBody>
      </p:sp>
      <p:sp>
        <p:nvSpPr>
          <p:cNvPr id="13" name="Text 11"/>
          <p:cNvSpPr/>
          <p:nvPr/>
        </p:nvSpPr>
        <p:spPr>
          <a:xfrm>
            <a:off x="777240" y="1828800"/>
            <a:ext cx="7589520" cy="1005840"/>
          </a:xfrm>
          <a:prstGeom prst="rect">
            <a:avLst/>
          </a:prstGeom>
          <a:noFill/>
          <a:ln/>
        </p:spPr>
        <p:txBody>
          <a:bodyPr wrap="square"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When switching between sports, divisions, or seasons using the dropdown filters, the page provides no loading indicator or progress feedback. The user selects "Women's Lacrosse" and "Division I" from cascading dropdowns, then the page silently reloads with no spinner, no progress bar, and no confirmation that the filters were applied. On slower connections, users may re-click the filter (causing duplicate requests) or navigate away thinking the site is broken. The active filter state is also not clearly highlighted — it's easy to forget which division or season is currently selected.</a:t>
            </a:r>
            <a:endParaRPr lang="en-US" sz="1100" dirty="0"/>
          </a:p>
        </p:txBody>
      </p:sp>
      <p:sp>
        <p:nvSpPr>
          <p:cNvPr id="14" name="Text 12"/>
          <p:cNvSpPr/>
          <p:nvPr/>
        </p:nvSpPr>
        <p:spPr>
          <a:xfrm>
            <a:off x="777240" y="292608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SUGGESTED FIX</a:t>
            </a:r>
            <a:endParaRPr lang="en-US" sz="800" dirty="0"/>
          </a:p>
        </p:txBody>
      </p:sp>
      <p:sp>
        <p:nvSpPr>
          <p:cNvPr id="15" name="Shape 13"/>
          <p:cNvSpPr/>
          <p:nvPr/>
        </p:nvSpPr>
        <p:spPr>
          <a:xfrm>
            <a:off x="777240" y="3154680"/>
            <a:ext cx="7589520" cy="457200"/>
          </a:xfrm>
          <a:prstGeom prst="rect">
            <a:avLst/>
          </a:prstGeom>
          <a:solidFill>
            <a:srgbClr val="16A34A">
              <a:alpha val="15000"/>
            </a:srgbClr>
          </a:solidFill>
          <a:ln w="12700">
            <a:solidFill>
              <a:srgbClr val="16A34A"/>
            </a:solidFill>
            <a:prstDash val="solid"/>
          </a:ln>
        </p:spPr>
      </p:sp>
      <p:sp>
        <p:nvSpPr>
          <p:cNvPr id="16" name="Text 14"/>
          <p:cNvSpPr/>
          <p:nvPr/>
        </p:nvSpPr>
        <p:spPr>
          <a:xfrm>
            <a:off x="914400" y="3154680"/>
            <a:ext cx="7315200" cy="457200"/>
          </a:xfrm>
          <a:prstGeom prst="rect">
            <a:avLst/>
          </a:prstGeom>
          <a:noFill/>
          <a:ln/>
        </p:spPr>
        <p:txBody>
          <a:bodyPr wrap="square" rtlCol="0" anchor="ctr"/>
          <a:lstStyle/>
          <a:p>
            <a:pPr algn="l" indent="0" marL="0">
              <a:buNone/>
            </a:pPr>
            <a:r>
              <a:rPr lang="en-US" sz="1000" dirty="0">
                <a:solidFill>
                  <a:srgbClr val="16A34A"/>
                </a:solidFill>
                <a:latin typeface="Calibri" pitchFamily="34" charset="0"/>
                <a:ea typeface="Calibri" pitchFamily="34" charset="-122"/>
                <a:cs typeface="Calibri" pitchFamily="34" charset="-120"/>
              </a:rPr>
              <a:t>Add a loading spinner or progress bar when data refreshes after filter changes. Highlight active filters with a bold color/border so users always know what data context they're viewing.</a:t>
            </a:r>
            <a:endParaRPr lang="en-US" sz="1000" dirty="0"/>
          </a:p>
        </p:txBody>
      </p:sp>
      <p:sp>
        <p:nvSpPr>
          <p:cNvPr id="17" name="Shape 15"/>
          <p:cNvSpPr/>
          <p:nvPr/>
        </p:nvSpPr>
        <p:spPr>
          <a:xfrm>
            <a:off x="777240" y="3794760"/>
            <a:ext cx="7589520" cy="457200"/>
          </a:xfrm>
          <a:prstGeom prst="rect">
            <a:avLst/>
          </a:prstGeom>
          <a:solidFill>
            <a:srgbClr val="232D4B">
              <a:alpha val="10000"/>
            </a:srgbClr>
          </a:solidFill>
          <a:ln w="6350">
            <a:solidFill>
              <a:srgbClr val="232D4B"/>
            </a:solidFill>
            <a:prstDash val="solid"/>
          </a:ln>
        </p:spPr>
      </p:sp>
      <p:sp>
        <p:nvSpPr>
          <p:cNvPr id="18" name="Text 16"/>
          <p:cNvSpPr/>
          <p:nvPr/>
        </p:nvSpPr>
        <p:spPr>
          <a:xfrm>
            <a:off x="914400" y="3794760"/>
            <a:ext cx="7315200" cy="457200"/>
          </a:xfrm>
          <a:prstGeom prst="rect">
            <a:avLst/>
          </a:prstGeom>
          <a:noFill/>
          <a:ln/>
        </p:spPr>
        <p:txBody>
          <a:bodyPr wrap="square" rtlCol="0" anchor="ctr"/>
          <a:lstStyle/>
          <a:p>
            <a:pPr algn="l" indent="0" marL="0">
              <a:buNone/>
            </a:pPr>
            <a:r>
              <a:rPr lang="en-US" sz="900" b="1" dirty="0">
                <a:solidFill>
                  <a:srgbClr val="232D4B"/>
                </a:solidFill>
                <a:latin typeface="Calibri" pitchFamily="34" charset="0"/>
                <a:ea typeface="Calibri" pitchFamily="34" charset="-122"/>
                <a:cs typeface="Calibri" pitchFamily="34" charset="-120"/>
              </a:rPr>
              <a:t>How LaxIQ addresses this: </a:t>
            </a:r>
            <a:pPr algn="l" indent="0" marL="0">
              <a:buNone/>
            </a:pPr>
            <a:r>
              <a:rPr lang="en-US" sz="900" dirty="0">
                <a:solidFill>
                  <a:srgbClr val="475569"/>
                </a:solidFill>
                <a:latin typeface="Calibri" pitchFamily="34" charset="0"/>
                <a:ea typeface="Calibri" pitchFamily="34" charset="-122"/>
                <a:cs typeface="Calibri" pitchFamily="34" charset="-120"/>
              </a:rPr>
              <a:t>Streamlit's built-in spinners show loading state on every data operation. The selected game is displayed in the header banner and sidebar. Filter changes trigger immediate visual feedback via st.spinner and st.toast.</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Heuristic Issue #3 — Inside Lacrosse</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548640" y="868680"/>
            <a:ext cx="8046720" cy="3474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3474720"/>
          </a:xfrm>
          <a:prstGeom prst="rect">
            <a:avLst/>
          </a:prstGeom>
          <a:solidFill>
            <a:srgbClr val="7C3AED"/>
          </a:solidFill>
          <a:ln/>
        </p:spPr>
      </p:sp>
      <p:sp>
        <p:nvSpPr>
          <p:cNvPr id="8" name="Text 6"/>
          <p:cNvSpPr/>
          <p:nvPr/>
        </p:nvSpPr>
        <p:spPr>
          <a:xfrm>
            <a:off x="777240" y="91440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VIOLATED HEURISTIC</a:t>
            </a:r>
            <a:endParaRPr lang="en-US" sz="800" dirty="0"/>
          </a:p>
        </p:txBody>
      </p:sp>
      <p:sp>
        <p:nvSpPr>
          <p:cNvPr id="9" name="Text 7"/>
          <p:cNvSpPr/>
          <p:nvPr/>
        </p:nvSpPr>
        <p:spPr>
          <a:xfrm>
            <a:off x="777240" y="1143000"/>
            <a:ext cx="4572000" cy="320040"/>
          </a:xfrm>
          <a:prstGeom prst="rect">
            <a:avLst/>
          </a:prstGeom>
          <a:noFill/>
          <a:ln/>
        </p:spPr>
        <p:txBody>
          <a:bodyPr wrap="square" lIns="0" tIns="0" rIns="0" bIns="0" rtlCol="0" anchor="ctr"/>
          <a:lstStyle/>
          <a:p>
            <a:pPr algn="l" indent="0" marL="0">
              <a:buNone/>
            </a:pPr>
            <a:r>
              <a:rPr lang="en-US" sz="1600" b="1" dirty="0">
                <a:solidFill>
                  <a:srgbClr val="232D4B"/>
                </a:solidFill>
                <a:latin typeface="Calibri" pitchFamily="34" charset="0"/>
                <a:ea typeface="Calibri" pitchFamily="34" charset="-122"/>
                <a:cs typeface="Calibri" pitchFamily="34" charset="-120"/>
              </a:rPr>
              <a:t>#7 — Flexibility and Efficiency of Use</a:t>
            </a:r>
            <a:endParaRPr lang="en-US" sz="1600" dirty="0"/>
          </a:p>
        </p:txBody>
      </p:sp>
      <p:sp>
        <p:nvSpPr>
          <p:cNvPr id="10" name="Shape 8"/>
          <p:cNvSpPr/>
          <p:nvPr/>
        </p:nvSpPr>
        <p:spPr>
          <a:xfrm>
            <a:off x="6858000" y="1005840"/>
            <a:ext cx="1554480" cy="457200"/>
          </a:xfrm>
          <a:prstGeom prst="rect">
            <a:avLst/>
          </a:prstGeom>
          <a:solidFill>
            <a:srgbClr val="DC2626"/>
          </a:solidFill>
          <a:ln/>
        </p:spPr>
      </p:sp>
      <p:sp>
        <p:nvSpPr>
          <p:cNvPr id="11" name="Text 9"/>
          <p:cNvSpPr/>
          <p:nvPr/>
        </p:nvSpPr>
        <p:spPr>
          <a:xfrm>
            <a:off x="6858000" y="1005840"/>
            <a:ext cx="1554480" cy="45720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Severity: 3</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MAJOR</a:t>
            </a:r>
            <a:endParaRPr lang="en-US" sz="1000" dirty="0"/>
          </a:p>
        </p:txBody>
      </p:sp>
      <p:sp>
        <p:nvSpPr>
          <p:cNvPr id="12" name="Text 10"/>
          <p:cNvSpPr/>
          <p:nvPr/>
        </p:nvSpPr>
        <p:spPr>
          <a:xfrm>
            <a:off x="777240" y="160020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WHY IT MATTERS</a:t>
            </a:r>
            <a:endParaRPr lang="en-US" sz="800" dirty="0"/>
          </a:p>
        </p:txBody>
      </p:sp>
      <p:sp>
        <p:nvSpPr>
          <p:cNvPr id="13" name="Text 11"/>
          <p:cNvSpPr/>
          <p:nvPr/>
        </p:nvSpPr>
        <p:spPr>
          <a:xfrm>
            <a:off x="777240" y="1828800"/>
            <a:ext cx="7589520" cy="1005840"/>
          </a:xfrm>
          <a:prstGeom prst="rect">
            <a:avLst/>
          </a:prstGeom>
          <a:noFill/>
          <a:ln/>
        </p:spPr>
        <p:txBody>
          <a:bodyPr wrap="square" rtlCol="0" anchor="t"/>
          <a:lstStyle/>
          <a:p>
            <a:pPr algn="l" indent="0" marL="0">
              <a:buNone/>
            </a:pPr>
            <a:r>
              <a:rPr lang="en-US" sz="1100" dirty="0">
                <a:solidFill>
                  <a:srgbClr val="475569"/>
                </a:solidFill>
                <a:latin typeface="Calibri" pitchFamily="34" charset="0"/>
                <a:ea typeface="Calibri" pitchFamily="34" charset="-122"/>
                <a:cs typeface="Calibri" pitchFamily="34" charset="-120"/>
              </a:rPr>
              <a:t>The analytics section offers no customization or shortcut paths for power users. Every visit requires clicking through the same navigation hierarchy to reach the same data. There are no bookmarkable views, no saved filters, no keyboard shortcuts, and no quick-access panel for frequently viewed teams or metrics. A coach who checks the same team's stats weekly must repeat the identical 4-click navigation path every time. This lack of flexibility penalizes experienced users and makes the tool feel rigid compared to a custom spreadsheet where users can organize data to their preferences.</a:t>
            </a:r>
            <a:endParaRPr lang="en-US" sz="1100" dirty="0"/>
          </a:p>
        </p:txBody>
      </p:sp>
      <p:sp>
        <p:nvSpPr>
          <p:cNvPr id="14" name="Text 12"/>
          <p:cNvSpPr/>
          <p:nvPr/>
        </p:nvSpPr>
        <p:spPr>
          <a:xfrm>
            <a:off x="777240" y="2926080"/>
            <a:ext cx="1828800" cy="274320"/>
          </a:xfrm>
          <a:prstGeom prst="rect">
            <a:avLst/>
          </a:prstGeom>
          <a:noFill/>
          <a:ln/>
        </p:spPr>
        <p:txBody>
          <a:bodyPr wrap="square" rtlCol="0" anchor="ctr"/>
          <a:lstStyle/>
          <a:p>
            <a:pPr indent="0" marL="0">
              <a:buNone/>
            </a:pPr>
            <a:r>
              <a:rPr lang="en-US" sz="800" b="1" spc="100" kern="0" dirty="0">
                <a:solidFill>
                  <a:srgbClr val="94A3B8"/>
                </a:solidFill>
                <a:latin typeface="Calibri" pitchFamily="34" charset="0"/>
                <a:ea typeface="Calibri" pitchFamily="34" charset="-122"/>
                <a:cs typeface="Calibri" pitchFamily="34" charset="-120"/>
              </a:rPr>
              <a:t>SUGGESTED FIX</a:t>
            </a:r>
            <a:endParaRPr lang="en-US" sz="800" dirty="0"/>
          </a:p>
        </p:txBody>
      </p:sp>
      <p:sp>
        <p:nvSpPr>
          <p:cNvPr id="15" name="Shape 13"/>
          <p:cNvSpPr/>
          <p:nvPr/>
        </p:nvSpPr>
        <p:spPr>
          <a:xfrm>
            <a:off x="777240" y="3154680"/>
            <a:ext cx="7589520" cy="457200"/>
          </a:xfrm>
          <a:prstGeom prst="rect">
            <a:avLst/>
          </a:prstGeom>
          <a:solidFill>
            <a:srgbClr val="16A34A">
              <a:alpha val="15000"/>
            </a:srgbClr>
          </a:solidFill>
          <a:ln w="12700">
            <a:solidFill>
              <a:srgbClr val="16A34A"/>
            </a:solidFill>
            <a:prstDash val="solid"/>
          </a:ln>
        </p:spPr>
      </p:sp>
      <p:sp>
        <p:nvSpPr>
          <p:cNvPr id="16" name="Text 14"/>
          <p:cNvSpPr/>
          <p:nvPr/>
        </p:nvSpPr>
        <p:spPr>
          <a:xfrm>
            <a:off x="914400" y="3154680"/>
            <a:ext cx="7315200" cy="457200"/>
          </a:xfrm>
          <a:prstGeom prst="rect">
            <a:avLst/>
          </a:prstGeom>
          <a:noFill/>
          <a:ln/>
        </p:spPr>
        <p:txBody>
          <a:bodyPr wrap="square" rtlCol="0" anchor="ctr"/>
          <a:lstStyle/>
          <a:p>
            <a:pPr algn="l" indent="0" marL="0">
              <a:buNone/>
            </a:pPr>
            <a:r>
              <a:rPr lang="en-US" sz="1000" dirty="0">
                <a:solidFill>
                  <a:srgbClr val="16A34A"/>
                </a:solidFill>
                <a:latin typeface="Calibri" pitchFamily="34" charset="0"/>
                <a:ea typeface="Calibri" pitchFamily="34" charset="-122"/>
                <a:cs typeface="Calibri" pitchFamily="34" charset="-120"/>
              </a:rPr>
              <a:t>Add a "favorites" or "quick access" panel where users can pin teams and metrics. Support direct URL deep-links to specific views so coaches can bookmark their most-used pages.</a:t>
            </a:r>
            <a:endParaRPr lang="en-US" sz="1000" dirty="0"/>
          </a:p>
        </p:txBody>
      </p:sp>
      <p:sp>
        <p:nvSpPr>
          <p:cNvPr id="17" name="Shape 15"/>
          <p:cNvSpPr/>
          <p:nvPr/>
        </p:nvSpPr>
        <p:spPr>
          <a:xfrm>
            <a:off x="777240" y="3794760"/>
            <a:ext cx="7589520" cy="457200"/>
          </a:xfrm>
          <a:prstGeom prst="rect">
            <a:avLst/>
          </a:prstGeom>
          <a:solidFill>
            <a:srgbClr val="232D4B">
              <a:alpha val="10000"/>
            </a:srgbClr>
          </a:solidFill>
          <a:ln w="6350">
            <a:solidFill>
              <a:srgbClr val="232D4B"/>
            </a:solidFill>
            <a:prstDash val="solid"/>
          </a:ln>
        </p:spPr>
      </p:sp>
      <p:sp>
        <p:nvSpPr>
          <p:cNvPr id="18" name="Text 16"/>
          <p:cNvSpPr/>
          <p:nvPr/>
        </p:nvSpPr>
        <p:spPr>
          <a:xfrm>
            <a:off x="914400" y="3794760"/>
            <a:ext cx="7315200" cy="457200"/>
          </a:xfrm>
          <a:prstGeom prst="rect">
            <a:avLst/>
          </a:prstGeom>
          <a:noFill/>
          <a:ln/>
        </p:spPr>
        <p:txBody>
          <a:bodyPr wrap="square" rtlCol="0" anchor="ctr"/>
          <a:lstStyle/>
          <a:p>
            <a:pPr algn="l" indent="0" marL="0">
              <a:buNone/>
            </a:pPr>
            <a:r>
              <a:rPr lang="en-US" sz="900" b="1" dirty="0">
                <a:solidFill>
                  <a:srgbClr val="232D4B"/>
                </a:solidFill>
                <a:latin typeface="Calibri" pitchFamily="34" charset="0"/>
                <a:ea typeface="Calibri" pitchFamily="34" charset="-122"/>
                <a:cs typeface="Calibri" pitchFamily="34" charset="-120"/>
              </a:rPr>
              <a:t>How LaxIQ addresses this: </a:t>
            </a:r>
            <a:pPr algn="l" indent="0" marL="0">
              <a:buNone/>
            </a:pPr>
            <a:r>
              <a:rPr lang="en-US" sz="900" dirty="0">
                <a:solidFill>
                  <a:srgbClr val="475569"/>
                </a:solidFill>
                <a:latin typeface="Calibri" pitchFamily="34" charset="0"/>
                <a:ea typeface="Calibri" pitchFamily="34" charset="-122"/>
                <a:cs typeface="Calibri" pitchFamily="34" charset="-120"/>
              </a:rPr>
              <a:t>Clickable schedule rows on Home link directly to game breakdowns (1-click). The Coach View/Analyst View toggle adapts info density. The LaxIQ Assistant provides a natural-language shortcut to any data point.</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32D4B"/>
        </a:solidFill>
      </p:bgPr>
    </p:bg>
    <p:spTree>
      <p:nvGrpSpPr>
        <p:cNvPr id="1" name=""/>
        <p:cNvGrpSpPr/>
        <p:nvPr/>
      </p:nvGrpSpPr>
      <p:grpSpPr>
        <a:xfrm>
          <a:off x="0" y="0"/>
          <a:ext cx="0" cy="0"/>
          <a:chOff x="0" y="0"/>
          <a:chExt cx="0" cy="0"/>
        </a:xfrm>
      </p:grpSpPr>
      <p:sp>
        <p:nvSpPr>
          <p:cNvPr id="2" name="Shape 0"/>
          <p:cNvSpPr/>
          <p:nvPr/>
        </p:nvSpPr>
        <p:spPr>
          <a:xfrm>
            <a:off x="640080" y="1463040"/>
            <a:ext cx="1097280" cy="1097280"/>
          </a:xfrm>
          <a:prstGeom prst="ellipse">
            <a:avLst/>
          </a:prstGeom>
          <a:solidFill>
            <a:srgbClr val="E57200"/>
          </a:solidFill>
          <a:ln/>
        </p:spPr>
      </p:sp>
      <p:sp>
        <p:nvSpPr>
          <p:cNvPr id="3" name="Text 1"/>
          <p:cNvSpPr/>
          <p:nvPr/>
        </p:nvSpPr>
        <p:spPr>
          <a:xfrm>
            <a:off x="640080" y="1463040"/>
            <a:ext cx="1097280" cy="109728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6</a:t>
            </a:r>
            <a:endParaRPr lang="en-US" sz="3600" dirty="0"/>
          </a:p>
        </p:txBody>
      </p:sp>
      <p:sp>
        <p:nvSpPr>
          <p:cNvPr id="4" name="Text 2"/>
          <p:cNvSpPr/>
          <p:nvPr/>
        </p:nvSpPr>
        <p:spPr>
          <a:xfrm>
            <a:off x="2011680" y="1280160"/>
            <a:ext cx="6400800" cy="7315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Usability Test Plan</a:t>
            </a:r>
            <a:endParaRPr lang="en-US" sz="3600" dirty="0"/>
          </a:p>
        </p:txBody>
      </p:sp>
      <p:sp>
        <p:nvSpPr>
          <p:cNvPr id="5" name="Text 3"/>
          <p:cNvSpPr/>
          <p:nvPr/>
        </p:nvSpPr>
        <p:spPr>
          <a:xfrm>
            <a:off x="2011680" y="2011680"/>
            <a:ext cx="6400800" cy="548640"/>
          </a:xfrm>
          <a:prstGeom prst="rect">
            <a:avLst/>
          </a:prstGeom>
          <a:noFill/>
          <a:ln/>
        </p:spPr>
        <p:txBody>
          <a:bodyPr wrap="square" rtlCol="0" anchor="t"/>
          <a:lstStyle/>
          <a:p>
            <a:pPr algn="l" indent="0" marL="0">
              <a:buNone/>
            </a:pPr>
            <a:r>
              <a:rPr lang="en-US" sz="1400" dirty="0">
                <a:solidFill>
                  <a:srgbClr val="94A3B8"/>
                </a:solidFill>
                <a:latin typeface="Calibri" pitchFamily="34" charset="0"/>
                <a:ea typeface="Calibri" pitchFamily="34" charset="-122"/>
                <a:cs typeface="Calibri" pitchFamily="34" charset="-120"/>
              </a:rPr>
              <a:t>3 Task Scenarios + A/B Test Plan  |  15 pts</a:t>
            </a:r>
            <a:endParaRPr lang="en-US" sz="1400" dirty="0"/>
          </a:p>
        </p:txBody>
      </p:sp>
      <p:sp>
        <p:nvSpPr>
          <p:cNvPr id="6" name="Shape 4"/>
          <p:cNvSpPr/>
          <p:nvPr/>
        </p:nvSpPr>
        <p:spPr>
          <a:xfrm>
            <a:off x="0" y="4800600"/>
            <a:ext cx="9144000" cy="342900"/>
          </a:xfrm>
          <a:prstGeom prst="rect">
            <a:avLst/>
          </a:prstGeom>
          <a:solidFill>
            <a:srgbClr val="E57200"/>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Task 1: Review a Specific Game's Performance</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86868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1188720"/>
          </a:xfrm>
          <a:prstGeom prst="rect">
            <a:avLst/>
          </a:prstGeom>
          <a:solidFill>
            <a:srgbClr val="E57200"/>
          </a:solidFill>
          <a:ln/>
        </p:spPr>
      </p:sp>
      <p:sp>
        <p:nvSpPr>
          <p:cNvPr id="8" name="Text 6"/>
          <p:cNvSpPr/>
          <p:nvPr/>
        </p:nvSpPr>
        <p:spPr>
          <a:xfrm>
            <a:off x="777240" y="914400"/>
            <a:ext cx="1828800" cy="228600"/>
          </a:xfrm>
          <a:prstGeom prst="rect">
            <a:avLst/>
          </a:prstGeom>
          <a:noFill/>
          <a:ln/>
        </p:spPr>
        <p:txBody>
          <a:bodyPr wrap="square" rtlCol="0" anchor="ctr"/>
          <a:lstStyle/>
          <a:p>
            <a:pPr indent="0" marL="0">
              <a:buNone/>
            </a:pPr>
            <a:r>
              <a:rPr lang="en-US" sz="800" b="1" spc="100" kern="0" dirty="0">
                <a:solidFill>
                  <a:srgbClr val="E57200"/>
                </a:solidFill>
                <a:latin typeface="Calibri" pitchFamily="34" charset="0"/>
                <a:ea typeface="Calibri" pitchFamily="34" charset="-122"/>
                <a:cs typeface="Calibri" pitchFamily="34" charset="-120"/>
              </a:rPr>
              <a:t>TASK SCENARIO</a:t>
            </a:r>
            <a:endParaRPr lang="en-US" sz="800" dirty="0"/>
          </a:p>
        </p:txBody>
      </p:sp>
      <p:sp>
        <p:nvSpPr>
          <p:cNvPr id="9" name="Text 7"/>
          <p:cNvSpPr/>
          <p:nvPr/>
        </p:nvSpPr>
        <p:spPr>
          <a:xfrm>
            <a:off x="777240" y="1143000"/>
            <a:ext cx="7589520" cy="777240"/>
          </a:xfrm>
          <a:prstGeom prst="rect">
            <a:avLst/>
          </a:prstGeom>
          <a:noFill/>
          <a:ln/>
        </p:spPr>
        <p:txBody>
          <a:bodyPr wrap="square" rtlCol="0" anchor="t"/>
          <a:lstStyle/>
          <a:p>
            <a:pPr algn="l" indent="0" marL="0">
              <a:buNone/>
            </a:pPr>
            <a:r>
              <a:rPr lang="en-US" sz="1200" i="1" dirty="0">
                <a:solidFill>
                  <a:srgbClr val="1E293B"/>
                </a:solidFill>
                <a:latin typeface="Calibri" pitchFamily="34" charset="0"/>
                <a:ea typeface="Calibri" pitchFamily="34" charset="-122"/>
                <a:cs typeface="Calibri" pitchFamily="34" charset="-120"/>
              </a:rPr>
              <a:t>"You just watched UVA play Clemson this past Saturday. You want to see how the team performed overall and find out which areas need the most improvement before your next film session. Use the dashboard to find the game and identify the team's weakest performance area."</a:t>
            </a:r>
            <a:endParaRPr lang="en-US" sz="1200" dirty="0"/>
          </a:p>
        </p:txBody>
      </p:sp>
      <p:sp>
        <p:nvSpPr>
          <p:cNvPr id="10" name="Shape 8"/>
          <p:cNvSpPr/>
          <p:nvPr/>
        </p:nvSpPr>
        <p:spPr>
          <a:xfrm>
            <a:off x="548640" y="228600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548640" y="2286000"/>
            <a:ext cx="54864" cy="1097280"/>
          </a:xfrm>
          <a:prstGeom prst="rect">
            <a:avLst/>
          </a:prstGeom>
          <a:solidFill>
            <a:srgbClr val="16A34A"/>
          </a:solidFill>
          <a:ln/>
        </p:spPr>
      </p:sp>
      <p:pic>
        <p:nvPicPr>
          <p:cNvPr id="12" name="Image 0" descr="preencoded.png">    </p:cNvPr>
          <p:cNvPicPr>
            <a:picLocks noChangeAspect="1"/>
          </p:cNvPicPr>
          <p:nvPr/>
        </p:nvPicPr>
        <p:blipFill>
          <a:blip r:embed="rId1"/>
          <a:stretch>
            <a:fillRect/>
          </a:stretch>
        </p:blipFill>
        <p:spPr>
          <a:xfrm>
            <a:off x="685800" y="2377440"/>
            <a:ext cx="228600" cy="228600"/>
          </a:xfrm>
          <a:prstGeom prst="rect">
            <a:avLst/>
          </a:prstGeom>
        </p:spPr>
      </p:pic>
      <p:sp>
        <p:nvSpPr>
          <p:cNvPr id="13" name="Text 10"/>
          <p:cNvSpPr/>
          <p:nvPr/>
        </p:nvSpPr>
        <p:spPr>
          <a:xfrm>
            <a:off x="960120" y="2331720"/>
            <a:ext cx="1371600" cy="320040"/>
          </a:xfrm>
          <a:prstGeom prst="rect">
            <a:avLst/>
          </a:prstGeom>
          <a:noFill/>
          <a:ln/>
        </p:spPr>
        <p:txBody>
          <a:bodyPr wrap="square" lIns="0" tIns="0" rIns="0" bIns="0" rtlCol="0" anchor="ctr"/>
          <a:lstStyle/>
          <a:p>
            <a:pPr algn="l" indent="0" marL="0">
              <a:buNone/>
            </a:pPr>
            <a:r>
              <a:rPr lang="en-US" sz="900" b="1" spc="100" kern="0" dirty="0">
                <a:solidFill>
                  <a:srgbClr val="16A34A"/>
                </a:solidFill>
                <a:latin typeface="Calibri" pitchFamily="34" charset="0"/>
                <a:ea typeface="Calibri" pitchFamily="34" charset="-122"/>
                <a:cs typeface="Calibri" pitchFamily="34" charset="-120"/>
              </a:rPr>
              <a:t>SUCCESS</a:t>
            </a:r>
            <a:endParaRPr lang="en-US" sz="900" dirty="0"/>
          </a:p>
        </p:txBody>
      </p:sp>
      <p:sp>
        <p:nvSpPr>
          <p:cNvPr id="14" name="Text 11"/>
          <p:cNvSpPr/>
          <p:nvPr/>
        </p:nvSpPr>
        <p:spPr>
          <a:xfrm>
            <a:off x="685800" y="263347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User finds the Clemson game AND identifies the lowest-graded performance area (e.g., "Defense: C-")</a:t>
            </a:r>
            <a:endParaRPr lang="en-US" sz="900" dirty="0"/>
          </a:p>
        </p:txBody>
      </p:sp>
      <p:sp>
        <p:nvSpPr>
          <p:cNvPr id="15" name="Text 12"/>
          <p:cNvSpPr/>
          <p:nvPr/>
        </p:nvSpPr>
        <p:spPr>
          <a:xfrm>
            <a:off x="685800" y="3063240"/>
            <a:ext cx="3657600" cy="274320"/>
          </a:xfrm>
          <a:prstGeom prst="rect">
            <a:avLst/>
          </a:prstGeom>
          <a:noFill/>
          <a:ln/>
        </p:spPr>
        <p:txBody>
          <a:bodyPr wrap="square" rtlCol="0" anchor="ctr"/>
          <a:lstStyle/>
          <a:p>
            <a:pPr algn="l" indent="0" marL="0">
              <a:buNone/>
            </a:pPr>
            <a:r>
              <a:rPr lang="en-US" sz="900" b="1" dirty="0">
                <a:solidFill>
                  <a:srgbClr val="16A34A"/>
                </a:solidFill>
                <a:latin typeface="Calibri" pitchFamily="34" charset="0"/>
                <a:ea typeface="Calibri" pitchFamily="34" charset="-122"/>
                <a:cs typeface="Calibri" pitchFamily="34" charset="-120"/>
              </a:rPr>
              <a:t>≥ 90% completion rate</a:t>
            </a:r>
            <a:endParaRPr lang="en-US" sz="900" dirty="0"/>
          </a:p>
        </p:txBody>
      </p:sp>
      <p:sp>
        <p:nvSpPr>
          <p:cNvPr id="16" name="Shape 13"/>
          <p:cNvSpPr/>
          <p:nvPr/>
        </p:nvSpPr>
        <p:spPr>
          <a:xfrm>
            <a:off x="4663440" y="228600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7" name="Shape 14"/>
          <p:cNvSpPr/>
          <p:nvPr/>
        </p:nvSpPr>
        <p:spPr>
          <a:xfrm>
            <a:off x="4663440" y="2286000"/>
            <a:ext cx="54864" cy="1097280"/>
          </a:xfrm>
          <a:prstGeom prst="rect">
            <a:avLst/>
          </a:prstGeom>
          <a:solidFill>
            <a:srgbClr val="0D9488"/>
          </a:solidFill>
          <a:ln/>
        </p:spPr>
      </p:sp>
      <p:pic>
        <p:nvPicPr>
          <p:cNvPr id="18" name="Image 1" descr="preencoded.png">    </p:cNvPr>
          <p:cNvPicPr>
            <a:picLocks noChangeAspect="1"/>
          </p:cNvPicPr>
          <p:nvPr/>
        </p:nvPicPr>
        <p:blipFill>
          <a:blip r:embed="rId2"/>
          <a:stretch>
            <a:fillRect/>
          </a:stretch>
        </p:blipFill>
        <p:spPr>
          <a:xfrm>
            <a:off x="4800600" y="2377440"/>
            <a:ext cx="228600" cy="228600"/>
          </a:xfrm>
          <a:prstGeom prst="rect">
            <a:avLst/>
          </a:prstGeom>
        </p:spPr>
      </p:pic>
      <p:sp>
        <p:nvSpPr>
          <p:cNvPr id="19" name="Text 15"/>
          <p:cNvSpPr/>
          <p:nvPr/>
        </p:nvSpPr>
        <p:spPr>
          <a:xfrm>
            <a:off x="5074920" y="2331720"/>
            <a:ext cx="1371600" cy="320040"/>
          </a:xfrm>
          <a:prstGeom prst="rect">
            <a:avLst/>
          </a:prstGeom>
          <a:noFill/>
          <a:ln/>
        </p:spPr>
        <p:txBody>
          <a:bodyPr wrap="square" lIns="0" tIns="0" rIns="0" bIns="0" rtlCol="0" anchor="ctr"/>
          <a:lstStyle/>
          <a:p>
            <a:pPr algn="l" indent="0" marL="0">
              <a:buNone/>
            </a:pPr>
            <a:r>
              <a:rPr lang="en-US" sz="900" b="1" spc="100" kern="0" dirty="0">
                <a:solidFill>
                  <a:srgbClr val="0D9488"/>
                </a:solidFill>
                <a:latin typeface="Calibri" pitchFamily="34" charset="0"/>
                <a:ea typeface="Calibri" pitchFamily="34" charset="-122"/>
                <a:cs typeface="Calibri" pitchFamily="34" charset="-120"/>
              </a:rPr>
              <a:t>TIME</a:t>
            </a:r>
            <a:endParaRPr lang="en-US" sz="900" dirty="0"/>
          </a:p>
        </p:txBody>
      </p:sp>
      <p:sp>
        <p:nvSpPr>
          <p:cNvPr id="20" name="Text 16"/>
          <p:cNvSpPr/>
          <p:nvPr/>
        </p:nvSpPr>
        <p:spPr>
          <a:xfrm>
            <a:off x="4800600" y="263347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Time from first click on Home to verbally stating the weakest area</a:t>
            </a:r>
            <a:endParaRPr lang="en-US" sz="900" dirty="0"/>
          </a:p>
        </p:txBody>
      </p:sp>
      <p:sp>
        <p:nvSpPr>
          <p:cNvPr id="21" name="Text 17"/>
          <p:cNvSpPr/>
          <p:nvPr/>
        </p:nvSpPr>
        <p:spPr>
          <a:xfrm>
            <a:off x="4800600" y="3063240"/>
            <a:ext cx="3657600" cy="274320"/>
          </a:xfrm>
          <a:prstGeom prst="rect">
            <a:avLst/>
          </a:prstGeom>
          <a:noFill/>
          <a:ln/>
        </p:spPr>
        <p:txBody>
          <a:bodyPr wrap="square" rtlCol="0" anchor="ctr"/>
          <a:lstStyle/>
          <a:p>
            <a:pPr algn="l" indent="0" marL="0">
              <a:buNone/>
            </a:pPr>
            <a:r>
              <a:rPr lang="en-US" sz="900" b="1" dirty="0">
                <a:solidFill>
                  <a:srgbClr val="0D9488"/>
                </a:solidFill>
                <a:latin typeface="Calibri" pitchFamily="34" charset="0"/>
                <a:ea typeface="Calibri" pitchFamily="34" charset="-122"/>
                <a:cs typeface="Calibri" pitchFamily="34" charset="-120"/>
              </a:rPr>
              <a:t>≤ 30 seconds (first-time) / ≤ 15 seconds (returning)</a:t>
            </a:r>
            <a:endParaRPr lang="en-US" sz="900" dirty="0"/>
          </a:p>
        </p:txBody>
      </p:sp>
      <p:sp>
        <p:nvSpPr>
          <p:cNvPr id="22" name="Shape 18"/>
          <p:cNvSpPr/>
          <p:nvPr/>
        </p:nvSpPr>
        <p:spPr>
          <a:xfrm>
            <a:off x="548640" y="352044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3" name="Shape 19"/>
          <p:cNvSpPr/>
          <p:nvPr/>
        </p:nvSpPr>
        <p:spPr>
          <a:xfrm>
            <a:off x="548640" y="3520440"/>
            <a:ext cx="54864" cy="1097280"/>
          </a:xfrm>
          <a:prstGeom prst="rect">
            <a:avLst/>
          </a:prstGeom>
          <a:solidFill>
            <a:srgbClr val="DC2626"/>
          </a:solidFill>
          <a:ln/>
        </p:spPr>
      </p:sp>
      <p:pic>
        <p:nvPicPr>
          <p:cNvPr id="24" name="Image 2" descr="preencoded.png">    </p:cNvPr>
          <p:cNvPicPr>
            <a:picLocks noChangeAspect="1"/>
          </p:cNvPicPr>
          <p:nvPr/>
        </p:nvPicPr>
        <p:blipFill>
          <a:blip r:embed="rId3"/>
          <a:stretch>
            <a:fillRect/>
          </a:stretch>
        </p:blipFill>
        <p:spPr>
          <a:xfrm>
            <a:off x="685800" y="3611880"/>
            <a:ext cx="228600" cy="228600"/>
          </a:xfrm>
          <a:prstGeom prst="rect">
            <a:avLst/>
          </a:prstGeom>
        </p:spPr>
      </p:pic>
      <p:sp>
        <p:nvSpPr>
          <p:cNvPr id="25" name="Text 20"/>
          <p:cNvSpPr/>
          <p:nvPr/>
        </p:nvSpPr>
        <p:spPr>
          <a:xfrm>
            <a:off x="960120" y="3566160"/>
            <a:ext cx="1371600" cy="320040"/>
          </a:xfrm>
          <a:prstGeom prst="rect">
            <a:avLst/>
          </a:prstGeom>
          <a:noFill/>
          <a:ln/>
        </p:spPr>
        <p:txBody>
          <a:bodyPr wrap="square" lIns="0" tIns="0" rIns="0" bIns="0" rtlCol="0" anchor="ctr"/>
          <a:lstStyle/>
          <a:p>
            <a:pPr algn="l" indent="0" marL="0">
              <a:buNone/>
            </a:pPr>
            <a:r>
              <a:rPr lang="en-US" sz="900" b="1" spc="100" kern="0" dirty="0">
                <a:solidFill>
                  <a:srgbClr val="DC2626"/>
                </a:solidFill>
                <a:latin typeface="Calibri" pitchFamily="34" charset="0"/>
                <a:ea typeface="Calibri" pitchFamily="34" charset="-122"/>
                <a:cs typeface="Calibri" pitchFamily="34" charset="-120"/>
              </a:rPr>
              <a:t>ERRORS</a:t>
            </a:r>
            <a:endParaRPr lang="en-US" sz="900" dirty="0"/>
          </a:p>
        </p:txBody>
      </p:sp>
      <p:sp>
        <p:nvSpPr>
          <p:cNvPr id="26" name="Text 21"/>
          <p:cNvSpPr/>
          <p:nvPr/>
        </p:nvSpPr>
        <p:spPr>
          <a:xfrm>
            <a:off x="685800" y="386791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Wrong clicks, navigating to wrong game, misreading a grade, dead ends</a:t>
            </a:r>
            <a:endParaRPr lang="en-US" sz="900" dirty="0"/>
          </a:p>
        </p:txBody>
      </p:sp>
      <p:sp>
        <p:nvSpPr>
          <p:cNvPr id="27" name="Text 22"/>
          <p:cNvSpPr/>
          <p:nvPr/>
        </p:nvSpPr>
        <p:spPr>
          <a:xfrm>
            <a:off x="685800" y="4297680"/>
            <a:ext cx="3657600" cy="274320"/>
          </a:xfrm>
          <a:prstGeom prst="rect">
            <a:avLst/>
          </a:prstGeom>
          <a:noFill/>
          <a:ln/>
        </p:spPr>
        <p:txBody>
          <a:bodyPr wrap="square" rtlCol="0" anchor="ctr"/>
          <a:lstStyle/>
          <a:p>
            <a:pPr algn="l" indent="0" marL="0">
              <a:buNone/>
            </a:pPr>
            <a:r>
              <a:rPr lang="en-US" sz="900" b="1" dirty="0">
                <a:solidFill>
                  <a:srgbClr val="DC2626"/>
                </a:solidFill>
                <a:latin typeface="Calibri" pitchFamily="34" charset="0"/>
                <a:ea typeface="Calibri" pitchFamily="34" charset="-122"/>
                <a:cs typeface="Calibri" pitchFamily="34" charset="-120"/>
              </a:rPr>
              <a:t>≤ 1 error on average</a:t>
            </a:r>
            <a:endParaRPr lang="en-US" sz="900" dirty="0"/>
          </a:p>
        </p:txBody>
      </p:sp>
      <p:sp>
        <p:nvSpPr>
          <p:cNvPr id="28" name="Shape 23"/>
          <p:cNvSpPr/>
          <p:nvPr/>
        </p:nvSpPr>
        <p:spPr>
          <a:xfrm>
            <a:off x="4663440" y="352044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9" name="Shape 24"/>
          <p:cNvSpPr/>
          <p:nvPr/>
        </p:nvSpPr>
        <p:spPr>
          <a:xfrm>
            <a:off x="4663440" y="3520440"/>
            <a:ext cx="54864" cy="1097280"/>
          </a:xfrm>
          <a:prstGeom prst="rect">
            <a:avLst/>
          </a:prstGeom>
          <a:solidFill>
            <a:srgbClr val="D97706"/>
          </a:solidFill>
          <a:ln/>
        </p:spPr>
      </p:sp>
      <p:pic>
        <p:nvPicPr>
          <p:cNvPr id="30" name="Image 3" descr="preencoded.png">    </p:cNvPr>
          <p:cNvPicPr>
            <a:picLocks noChangeAspect="1"/>
          </p:cNvPicPr>
          <p:nvPr/>
        </p:nvPicPr>
        <p:blipFill>
          <a:blip r:embed="rId4"/>
          <a:stretch>
            <a:fillRect/>
          </a:stretch>
        </p:blipFill>
        <p:spPr>
          <a:xfrm>
            <a:off x="4800600" y="3611880"/>
            <a:ext cx="228600" cy="228600"/>
          </a:xfrm>
          <a:prstGeom prst="rect">
            <a:avLst/>
          </a:prstGeom>
        </p:spPr>
      </p:pic>
      <p:sp>
        <p:nvSpPr>
          <p:cNvPr id="31" name="Text 25"/>
          <p:cNvSpPr/>
          <p:nvPr/>
        </p:nvSpPr>
        <p:spPr>
          <a:xfrm>
            <a:off x="5074920" y="3566160"/>
            <a:ext cx="1371600" cy="320040"/>
          </a:xfrm>
          <a:prstGeom prst="rect">
            <a:avLst/>
          </a:prstGeom>
          <a:noFill/>
          <a:ln/>
        </p:spPr>
        <p:txBody>
          <a:bodyPr wrap="square" lIns="0" tIns="0" rIns="0" bIns="0" rtlCol="0" anchor="ctr"/>
          <a:lstStyle/>
          <a:p>
            <a:pPr algn="l" indent="0" marL="0">
              <a:buNone/>
            </a:pPr>
            <a:r>
              <a:rPr lang="en-US" sz="900" b="1" spc="100" kern="0" dirty="0">
                <a:solidFill>
                  <a:srgbClr val="D97706"/>
                </a:solidFill>
                <a:latin typeface="Calibri" pitchFamily="34" charset="0"/>
                <a:ea typeface="Calibri" pitchFamily="34" charset="-122"/>
                <a:cs typeface="Calibri" pitchFamily="34" charset="-120"/>
              </a:rPr>
              <a:t>CONFUSION</a:t>
            </a:r>
            <a:endParaRPr lang="en-US" sz="900" dirty="0"/>
          </a:p>
        </p:txBody>
      </p:sp>
      <p:sp>
        <p:nvSpPr>
          <p:cNvPr id="32" name="Text 26"/>
          <p:cNvSpPr/>
          <p:nvPr/>
        </p:nvSpPr>
        <p:spPr>
          <a:xfrm>
            <a:off x="4800600" y="386791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Pauses &gt; 3 seconds, rereading labels, hovering without clicking, backtracking</a:t>
            </a:r>
            <a:endParaRPr lang="en-US" sz="900" dirty="0"/>
          </a:p>
        </p:txBody>
      </p:sp>
      <p:sp>
        <p:nvSpPr>
          <p:cNvPr id="33" name="Text 27"/>
          <p:cNvSpPr/>
          <p:nvPr/>
        </p:nvSpPr>
        <p:spPr>
          <a:xfrm>
            <a:off x="4800600" y="4297680"/>
            <a:ext cx="3657600" cy="274320"/>
          </a:xfrm>
          <a:prstGeom prst="rect">
            <a:avLst/>
          </a:prstGeom>
          <a:noFill/>
          <a:ln/>
        </p:spPr>
        <p:txBody>
          <a:bodyPr wrap="square" rtlCol="0" anchor="ctr"/>
          <a:lstStyle/>
          <a:p>
            <a:pPr algn="l" indent="0" marL="0">
              <a:buNone/>
            </a:pPr>
            <a:r>
              <a:rPr lang="en-US" sz="900" b="1" dirty="0">
                <a:solidFill>
                  <a:srgbClr val="D97706"/>
                </a:solidFill>
                <a:latin typeface="Calibri" pitchFamily="34" charset="0"/>
                <a:ea typeface="Calibri" pitchFamily="34" charset="-122"/>
                <a:cs typeface="Calibri" pitchFamily="34" charset="-120"/>
              </a:rPr>
              <a:t>≤ 2 moments of uncertainty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Task 2: Compare Two Players' Season Performance</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86868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1188720"/>
          </a:xfrm>
          <a:prstGeom prst="rect">
            <a:avLst/>
          </a:prstGeom>
          <a:solidFill>
            <a:srgbClr val="2563EB"/>
          </a:solidFill>
          <a:ln/>
        </p:spPr>
      </p:sp>
      <p:sp>
        <p:nvSpPr>
          <p:cNvPr id="8" name="Text 6"/>
          <p:cNvSpPr/>
          <p:nvPr/>
        </p:nvSpPr>
        <p:spPr>
          <a:xfrm>
            <a:off x="777240" y="914400"/>
            <a:ext cx="1828800" cy="228600"/>
          </a:xfrm>
          <a:prstGeom prst="rect">
            <a:avLst/>
          </a:prstGeom>
          <a:noFill/>
          <a:ln/>
        </p:spPr>
        <p:txBody>
          <a:bodyPr wrap="square" rtlCol="0" anchor="ctr"/>
          <a:lstStyle/>
          <a:p>
            <a:pPr indent="0" marL="0">
              <a:buNone/>
            </a:pPr>
            <a:r>
              <a:rPr lang="en-US" sz="800" b="1" spc="100" kern="0" dirty="0">
                <a:solidFill>
                  <a:srgbClr val="2563EB"/>
                </a:solidFill>
                <a:latin typeface="Calibri" pitchFamily="34" charset="0"/>
                <a:ea typeface="Calibri" pitchFamily="34" charset="-122"/>
                <a:cs typeface="Calibri" pitchFamily="34" charset="-120"/>
              </a:rPr>
              <a:t>TASK SCENARIO</a:t>
            </a:r>
            <a:endParaRPr lang="en-US" sz="800" dirty="0"/>
          </a:p>
        </p:txBody>
      </p:sp>
      <p:sp>
        <p:nvSpPr>
          <p:cNvPr id="9" name="Text 7"/>
          <p:cNvSpPr/>
          <p:nvPr/>
        </p:nvSpPr>
        <p:spPr>
          <a:xfrm>
            <a:off x="777240" y="1143000"/>
            <a:ext cx="7589520" cy="777240"/>
          </a:xfrm>
          <a:prstGeom prst="rect">
            <a:avLst/>
          </a:prstGeom>
          <a:noFill/>
          <a:ln/>
        </p:spPr>
        <p:txBody>
          <a:bodyPr wrap="square" rtlCol="0" anchor="t"/>
          <a:lstStyle/>
          <a:p>
            <a:pPr algn="l" indent="0" marL="0">
              <a:buNone/>
            </a:pPr>
            <a:r>
              <a:rPr lang="en-US" sz="1200" i="1" dirty="0">
                <a:solidFill>
                  <a:srgbClr val="1E293B"/>
                </a:solidFill>
                <a:latin typeface="Calibri" pitchFamily="34" charset="0"/>
                <a:ea typeface="Calibri" pitchFamily="34" charset="-122"/>
                <a:cs typeface="Calibri" pitchFamily="34" charset="-120"/>
              </a:rPr>
              <a:t>"You're evaluating two attackers for a starting lineup decision. Use the dashboard to compare their season statistics side by side and determine which player has been more impactful overall."</a:t>
            </a:r>
            <a:endParaRPr lang="en-US" sz="1200" dirty="0"/>
          </a:p>
        </p:txBody>
      </p:sp>
      <p:sp>
        <p:nvSpPr>
          <p:cNvPr id="10" name="Shape 8"/>
          <p:cNvSpPr/>
          <p:nvPr/>
        </p:nvSpPr>
        <p:spPr>
          <a:xfrm>
            <a:off x="548640" y="228600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548640" y="2286000"/>
            <a:ext cx="54864" cy="1097280"/>
          </a:xfrm>
          <a:prstGeom prst="rect">
            <a:avLst/>
          </a:prstGeom>
          <a:solidFill>
            <a:srgbClr val="16A34A"/>
          </a:solidFill>
          <a:ln/>
        </p:spPr>
      </p:sp>
      <p:pic>
        <p:nvPicPr>
          <p:cNvPr id="12" name="Image 0" descr="preencoded.png">    </p:cNvPr>
          <p:cNvPicPr>
            <a:picLocks noChangeAspect="1"/>
          </p:cNvPicPr>
          <p:nvPr/>
        </p:nvPicPr>
        <p:blipFill>
          <a:blip r:embed="rId1"/>
          <a:stretch>
            <a:fillRect/>
          </a:stretch>
        </p:blipFill>
        <p:spPr>
          <a:xfrm>
            <a:off x="685800" y="2377440"/>
            <a:ext cx="228600" cy="228600"/>
          </a:xfrm>
          <a:prstGeom prst="rect">
            <a:avLst/>
          </a:prstGeom>
        </p:spPr>
      </p:pic>
      <p:sp>
        <p:nvSpPr>
          <p:cNvPr id="13" name="Text 10"/>
          <p:cNvSpPr/>
          <p:nvPr/>
        </p:nvSpPr>
        <p:spPr>
          <a:xfrm>
            <a:off x="960120" y="2331720"/>
            <a:ext cx="1371600" cy="320040"/>
          </a:xfrm>
          <a:prstGeom prst="rect">
            <a:avLst/>
          </a:prstGeom>
          <a:noFill/>
          <a:ln/>
        </p:spPr>
        <p:txBody>
          <a:bodyPr wrap="square" lIns="0" tIns="0" rIns="0" bIns="0" rtlCol="0" anchor="ctr"/>
          <a:lstStyle/>
          <a:p>
            <a:pPr algn="l" indent="0" marL="0">
              <a:buNone/>
            </a:pPr>
            <a:r>
              <a:rPr lang="en-US" sz="900" b="1" spc="100" kern="0" dirty="0">
                <a:solidFill>
                  <a:srgbClr val="16A34A"/>
                </a:solidFill>
                <a:latin typeface="Calibri" pitchFamily="34" charset="0"/>
                <a:ea typeface="Calibri" pitchFamily="34" charset="-122"/>
                <a:cs typeface="Calibri" pitchFamily="34" charset="-120"/>
              </a:rPr>
              <a:t>SUCCESS</a:t>
            </a:r>
            <a:endParaRPr lang="en-US" sz="900" dirty="0"/>
          </a:p>
        </p:txBody>
      </p:sp>
      <p:sp>
        <p:nvSpPr>
          <p:cNvPr id="14" name="Text 11"/>
          <p:cNvSpPr/>
          <p:nvPr/>
        </p:nvSpPr>
        <p:spPr>
          <a:xfrm>
            <a:off x="685800" y="263347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User selects two players on Player Intelligence and correctly identifies which has the higher Impact score from the radar chart comparison</a:t>
            </a:r>
            <a:endParaRPr lang="en-US" sz="900" dirty="0"/>
          </a:p>
        </p:txBody>
      </p:sp>
      <p:sp>
        <p:nvSpPr>
          <p:cNvPr id="15" name="Text 12"/>
          <p:cNvSpPr/>
          <p:nvPr/>
        </p:nvSpPr>
        <p:spPr>
          <a:xfrm>
            <a:off x="685800" y="3063240"/>
            <a:ext cx="3657600" cy="274320"/>
          </a:xfrm>
          <a:prstGeom prst="rect">
            <a:avLst/>
          </a:prstGeom>
          <a:noFill/>
          <a:ln/>
        </p:spPr>
        <p:txBody>
          <a:bodyPr wrap="square" rtlCol="0" anchor="ctr"/>
          <a:lstStyle/>
          <a:p>
            <a:pPr algn="l" indent="0" marL="0">
              <a:buNone/>
            </a:pPr>
            <a:r>
              <a:rPr lang="en-US" sz="900" b="1" dirty="0">
                <a:solidFill>
                  <a:srgbClr val="16A34A"/>
                </a:solidFill>
                <a:latin typeface="Calibri" pitchFamily="34" charset="0"/>
                <a:ea typeface="Calibri" pitchFamily="34" charset="-122"/>
                <a:cs typeface="Calibri" pitchFamily="34" charset="-120"/>
              </a:rPr>
              <a:t>≥ 85% completion rate</a:t>
            </a:r>
            <a:endParaRPr lang="en-US" sz="900" dirty="0"/>
          </a:p>
        </p:txBody>
      </p:sp>
      <p:sp>
        <p:nvSpPr>
          <p:cNvPr id="16" name="Shape 13"/>
          <p:cNvSpPr/>
          <p:nvPr/>
        </p:nvSpPr>
        <p:spPr>
          <a:xfrm>
            <a:off x="4663440" y="228600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7" name="Shape 14"/>
          <p:cNvSpPr/>
          <p:nvPr/>
        </p:nvSpPr>
        <p:spPr>
          <a:xfrm>
            <a:off x="4663440" y="2286000"/>
            <a:ext cx="54864" cy="1097280"/>
          </a:xfrm>
          <a:prstGeom prst="rect">
            <a:avLst/>
          </a:prstGeom>
          <a:solidFill>
            <a:srgbClr val="0D9488"/>
          </a:solidFill>
          <a:ln/>
        </p:spPr>
      </p:sp>
      <p:pic>
        <p:nvPicPr>
          <p:cNvPr id="18" name="Image 1" descr="preencoded.png">    </p:cNvPr>
          <p:cNvPicPr>
            <a:picLocks noChangeAspect="1"/>
          </p:cNvPicPr>
          <p:nvPr/>
        </p:nvPicPr>
        <p:blipFill>
          <a:blip r:embed="rId2"/>
          <a:stretch>
            <a:fillRect/>
          </a:stretch>
        </p:blipFill>
        <p:spPr>
          <a:xfrm>
            <a:off x="4800600" y="2377440"/>
            <a:ext cx="228600" cy="228600"/>
          </a:xfrm>
          <a:prstGeom prst="rect">
            <a:avLst/>
          </a:prstGeom>
        </p:spPr>
      </p:pic>
      <p:sp>
        <p:nvSpPr>
          <p:cNvPr id="19" name="Text 15"/>
          <p:cNvSpPr/>
          <p:nvPr/>
        </p:nvSpPr>
        <p:spPr>
          <a:xfrm>
            <a:off x="5074920" y="2331720"/>
            <a:ext cx="1371600" cy="320040"/>
          </a:xfrm>
          <a:prstGeom prst="rect">
            <a:avLst/>
          </a:prstGeom>
          <a:noFill/>
          <a:ln/>
        </p:spPr>
        <p:txBody>
          <a:bodyPr wrap="square" lIns="0" tIns="0" rIns="0" bIns="0" rtlCol="0" anchor="ctr"/>
          <a:lstStyle/>
          <a:p>
            <a:pPr algn="l" indent="0" marL="0">
              <a:buNone/>
            </a:pPr>
            <a:r>
              <a:rPr lang="en-US" sz="900" b="1" spc="100" kern="0" dirty="0">
                <a:solidFill>
                  <a:srgbClr val="0D9488"/>
                </a:solidFill>
                <a:latin typeface="Calibri" pitchFamily="34" charset="0"/>
                <a:ea typeface="Calibri" pitchFamily="34" charset="-122"/>
                <a:cs typeface="Calibri" pitchFamily="34" charset="-120"/>
              </a:rPr>
              <a:t>TIME</a:t>
            </a:r>
            <a:endParaRPr lang="en-US" sz="900" dirty="0"/>
          </a:p>
        </p:txBody>
      </p:sp>
      <p:sp>
        <p:nvSpPr>
          <p:cNvPr id="20" name="Text 16"/>
          <p:cNvSpPr/>
          <p:nvPr/>
        </p:nvSpPr>
        <p:spPr>
          <a:xfrm>
            <a:off x="4800600" y="263347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Time from opening Player Intelligence to stating which player is more impactful</a:t>
            </a:r>
            <a:endParaRPr lang="en-US" sz="900" dirty="0"/>
          </a:p>
        </p:txBody>
      </p:sp>
      <p:sp>
        <p:nvSpPr>
          <p:cNvPr id="21" name="Text 17"/>
          <p:cNvSpPr/>
          <p:nvPr/>
        </p:nvSpPr>
        <p:spPr>
          <a:xfrm>
            <a:off x="4800600" y="3063240"/>
            <a:ext cx="3657600" cy="274320"/>
          </a:xfrm>
          <a:prstGeom prst="rect">
            <a:avLst/>
          </a:prstGeom>
          <a:noFill/>
          <a:ln/>
        </p:spPr>
        <p:txBody>
          <a:bodyPr wrap="square" rtlCol="0" anchor="ctr"/>
          <a:lstStyle/>
          <a:p>
            <a:pPr algn="l" indent="0" marL="0">
              <a:buNone/>
            </a:pPr>
            <a:r>
              <a:rPr lang="en-US" sz="900" b="1" dirty="0">
                <a:solidFill>
                  <a:srgbClr val="0D9488"/>
                </a:solidFill>
                <a:latin typeface="Calibri" pitchFamily="34" charset="0"/>
                <a:ea typeface="Calibri" pitchFamily="34" charset="-122"/>
                <a:cs typeface="Calibri" pitchFamily="34" charset="-120"/>
              </a:rPr>
              <a:t>≤ 45 seconds (first-time) / ≤ 25 seconds (returning)</a:t>
            </a:r>
            <a:endParaRPr lang="en-US" sz="900" dirty="0"/>
          </a:p>
        </p:txBody>
      </p:sp>
      <p:sp>
        <p:nvSpPr>
          <p:cNvPr id="22" name="Shape 18"/>
          <p:cNvSpPr/>
          <p:nvPr/>
        </p:nvSpPr>
        <p:spPr>
          <a:xfrm>
            <a:off x="548640" y="352044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3" name="Shape 19"/>
          <p:cNvSpPr/>
          <p:nvPr/>
        </p:nvSpPr>
        <p:spPr>
          <a:xfrm>
            <a:off x="548640" y="3520440"/>
            <a:ext cx="54864" cy="1097280"/>
          </a:xfrm>
          <a:prstGeom prst="rect">
            <a:avLst/>
          </a:prstGeom>
          <a:solidFill>
            <a:srgbClr val="DC2626"/>
          </a:solidFill>
          <a:ln/>
        </p:spPr>
      </p:sp>
      <p:pic>
        <p:nvPicPr>
          <p:cNvPr id="24" name="Image 2" descr="preencoded.png">    </p:cNvPr>
          <p:cNvPicPr>
            <a:picLocks noChangeAspect="1"/>
          </p:cNvPicPr>
          <p:nvPr/>
        </p:nvPicPr>
        <p:blipFill>
          <a:blip r:embed="rId3"/>
          <a:stretch>
            <a:fillRect/>
          </a:stretch>
        </p:blipFill>
        <p:spPr>
          <a:xfrm>
            <a:off x="685800" y="3611880"/>
            <a:ext cx="228600" cy="228600"/>
          </a:xfrm>
          <a:prstGeom prst="rect">
            <a:avLst/>
          </a:prstGeom>
        </p:spPr>
      </p:pic>
      <p:sp>
        <p:nvSpPr>
          <p:cNvPr id="25" name="Text 20"/>
          <p:cNvSpPr/>
          <p:nvPr/>
        </p:nvSpPr>
        <p:spPr>
          <a:xfrm>
            <a:off x="960120" y="3566160"/>
            <a:ext cx="1371600" cy="320040"/>
          </a:xfrm>
          <a:prstGeom prst="rect">
            <a:avLst/>
          </a:prstGeom>
          <a:noFill/>
          <a:ln/>
        </p:spPr>
        <p:txBody>
          <a:bodyPr wrap="square" lIns="0" tIns="0" rIns="0" bIns="0" rtlCol="0" anchor="ctr"/>
          <a:lstStyle/>
          <a:p>
            <a:pPr algn="l" indent="0" marL="0">
              <a:buNone/>
            </a:pPr>
            <a:r>
              <a:rPr lang="en-US" sz="900" b="1" spc="100" kern="0" dirty="0">
                <a:solidFill>
                  <a:srgbClr val="DC2626"/>
                </a:solidFill>
                <a:latin typeface="Calibri" pitchFamily="34" charset="0"/>
                <a:ea typeface="Calibri" pitchFamily="34" charset="-122"/>
                <a:cs typeface="Calibri" pitchFamily="34" charset="-120"/>
              </a:rPr>
              <a:t>ERRORS</a:t>
            </a:r>
            <a:endParaRPr lang="en-US" sz="900" dirty="0"/>
          </a:p>
        </p:txBody>
      </p:sp>
      <p:sp>
        <p:nvSpPr>
          <p:cNvPr id="26" name="Text 21"/>
          <p:cNvSpPr/>
          <p:nvPr/>
        </p:nvSpPr>
        <p:spPr>
          <a:xfrm>
            <a:off x="685800" y="386791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Selecting wrong page, confusing player names, misreading radar axes, wrong conclusion</a:t>
            </a:r>
            <a:endParaRPr lang="en-US" sz="900" dirty="0"/>
          </a:p>
        </p:txBody>
      </p:sp>
      <p:sp>
        <p:nvSpPr>
          <p:cNvPr id="27" name="Text 22"/>
          <p:cNvSpPr/>
          <p:nvPr/>
        </p:nvSpPr>
        <p:spPr>
          <a:xfrm>
            <a:off x="685800" y="4297680"/>
            <a:ext cx="3657600" cy="274320"/>
          </a:xfrm>
          <a:prstGeom prst="rect">
            <a:avLst/>
          </a:prstGeom>
          <a:noFill/>
          <a:ln/>
        </p:spPr>
        <p:txBody>
          <a:bodyPr wrap="square" rtlCol="0" anchor="ctr"/>
          <a:lstStyle/>
          <a:p>
            <a:pPr algn="l" indent="0" marL="0">
              <a:buNone/>
            </a:pPr>
            <a:r>
              <a:rPr lang="en-US" sz="900" b="1" dirty="0">
                <a:solidFill>
                  <a:srgbClr val="DC2626"/>
                </a:solidFill>
                <a:latin typeface="Calibri" pitchFamily="34" charset="0"/>
                <a:ea typeface="Calibri" pitchFamily="34" charset="-122"/>
                <a:cs typeface="Calibri" pitchFamily="34" charset="-120"/>
              </a:rPr>
              <a:t>≤ 1 error on average</a:t>
            </a:r>
            <a:endParaRPr lang="en-US" sz="900" dirty="0"/>
          </a:p>
        </p:txBody>
      </p:sp>
      <p:sp>
        <p:nvSpPr>
          <p:cNvPr id="28" name="Shape 23"/>
          <p:cNvSpPr/>
          <p:nvPr/>
        </p:nvSpPr>
        <p:spPr>
          <a:xfrm>
            <a:off x="4663440" y="352044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9" name="Shape 24"/>
          <p:cNvSpPr/>
          <p:nvPr/>
        </p:nvSpPr>
        <p:spPr>
          <a:xfrm>
            <a:off x="4663440" y="3520440"/>
            <a:ext cx="54864" cy="1097280"/>
          </a:xfrm>
          <a:prstGeom prst="rect">
            <a:avLst/>
          </a:prstGeom>
          <a:solidFill>
            <a:srgbClr val="D97706"/>
          </a:solidFill>
          <a:ln/>
        </p:spPr>
      </p:sp>
      <p:pic>
        <p:nvPicPr>
          <p:cNvPr id="30" name="Image 3" descr="preencoded.png">    </p:cNvPr>
          <p:cNvPicPr>
            <a:picLocks noChangeAspect="1"/>
          </p:cNvPicPr>
          <p:nvPr/>
        </p:nvPicPr>
        <p:blipFill>
          <a:blip r:embed="rId4"/>
          <a:stretch>
            <a:fillRect/>
          </a:stretch>
        </p:blipFill>
        <p:spPr>
          <a:xfrm>
            <a:off x="4800600" y="3611880"/>
            <a:ext cx="228600" cy="228600"/>
          </a:xfrm>
          <a:prstGeom prst="rect">
            <a:avLst/>
          </a:prstGeom>
        </p:spPr>
      </p:pic>
      <p:sp>
        <p:nvSpPr>
          <p:cNvPr id="31" name="Text 25"/>
          <p:cNvSpPr/>
          <p:nvPr/>
        </p:nvSpPr>
        <p:spPr>
          <a:xfrm>
            <a:off x="5074920" y="3566160"/>
            <a:ext cx="1371600" cy="320040"/>
          </a:xfrm>
          <a:prstGeom prst="rect">
            <a:avLst/>
          </a:prstGeom>
          <a:noFill/>
          <a:ln/>
        </p:spPr>
        <p:txBody>
          <a:bodyPr wrap="square" lIns="0" tIns="0" rIns="0" bIns="0" rtlCol="0" anchor="ctr"/>
          <a:lstStyle/>
          <a:p>
            <a:pPr algn="l" indent="0" marL="0">
              <a:buNone/>
            </a:pPr>
            <a:r>
              <a:rPr lang="en-US" sz="900" b="1" spc="100" kern="0" dirty="0">
                <a:solidFill>
                  <a:srgbClr val="D97706"/>
                </a:solidFill>
                <a:latin typeface="Calibri" pitchFamily="34" charset="0"/>
                <a:ea typeface="Calibri" pitchFamily="34" charset="-122"/>
                <a:cs typeface="Calibri" pitchFamily="34" charset="-120"/>
              </a:rPr>
              <a:t>CONFUSION</a:t>
            </a:r>
            <a:endParaRPr lang="en-US" sz="900" dirty="0"/>
          </a:p>
        </p:txBody>
      </p:sp>
      <p:sp>
        <p:nvSpPr>
          <p:cNvPr id="32" name="Text 26"/>
          <p:cNvSpPr/>
          <p:nvPr/>
        </p:nvSpPr>
        <p:spPr>
          <a:xfrm>
            <a:off x="4800600" y="386791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Hesitation at dropdown selectors, confusion about what radar axes mean, re-reading labels</a:t>
            </a:r>
            <a:endParaRPr lang="en-US" sz="900" dirty="0"/>
          </a:p>
        </p:txBody>
      </p:sp>
      <p:sp>
        <p:nvSpPr>
          <p:cNvPr id="33" name="Text 27"/>
          <p:cNvSpPr/>
          <p:nvPr/>
        </p:nvSpPr>
        <p:spPr>
          <a:xfrm>
            <a:off x="4800600" y="4297680"/>
            <a:ext cx="3657600" cy="274320"/>
          </a:xfrm>
          <a:prstGeom prst="rect">
            <a:avLst/>
          </a:prstGeom>
          <a:noFill/>
          <a:ln/>
        </p:spPr>
        <p:txBody>
          <a:bodyPr wrap="square" rtlCol="0" anchor="ctr"/>
          <a:lstStyle/>
          <a:p>
            <a:pPr algn="l" indent="0" marL="0">
              <a:buNone/>
            </a:pPr>
            <a:r>
              <a:rPr lang="en-US" sz="900" b="1" dirty="0">
                <a:solidFill>
                  <a:srgbClr val="D97706"/>
                </a:solidFill>
                <a:latin typeface="Calibri" pitchFamily="34" charset="0"/>
                <a:ea typeface="Calibri" pitchFamily="34" charset="-122"/>
                <a:cs typeface="Calibri" pitchFamily="34" charset="-120"/>
              </a:rPr>
              <a:t>≤ 2 moments of uncertainty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Task 3: Ask the AI Assistant a Strategic Question</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86868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7" name="Shape 5"/>
          <p:cNvSpPr/>
          <p:nvPr/>
        </p:nvSpPr>
        <p:spPr>
          <a:xfrm>
            <a:off x="548640" y="868680"/>
            <a:ext cx="54864" cy="1188720"/>
          </a:xfrm>
          <a:prstGeom prst="rect">
            <a:avLst/>
          </a:prstGeom>
          <a:solidFill>
            <a:srgbClr val="7C3AED"/>
          </a:solidFill>
          <a:ln/>
        </p:spPr>
      </p:sp>
      <p:sp>
        <p:nvSpPr>
          <p:cNvPr id="8" name="Text 6"/>
          <p:cNvSpPr/>
          <p:nvPr/>
        </p:nvSpPr>
        <p:spPr>
          <a:xfrm>
            <a:off x="777240" y="914400"/>
            <a:ext cx="1828800" cy="228600"/>
          </a:xfrm>
          <a:prstGeom prst="rect">
            <a:avLst/>
          </a:prstGeom>
          <a:noFill/>
          <a:ln/>
        </p:spPr>
        <p:txBody>
          <a:bodyPr wrap="square" rtlCol="0" anchor="ctr"/>
          <a:lstStyle/>
          <a:p>
            <a:pPr indent="0" marL="0">
              <a:buNone/>
            </a:pPr>
            <a:r>
              <a:rPr lang="en-US" sz="800" b="1" spc="100" kern="0" dirty="0">
                <a:solidFill>
                  <a:srgbClr val="7C3AED"/>
                </a:solidFill>
                <a:latin typeface="Calibri" pitchFamily="34" charset="0"/>
                <a:ea typeface="Calibri" pitchFamily="34" charset="-122"/>
                <a:cs typeface="Calibri" pitchFamily="34" charset="-120"/>
              </a:rPr>
              <a:t>TASK SCENARIO</a:t>
            </a:r>
            <a:endParaRPr lang="en-US" sz="800" dirty="0"/>
          </a:p>
        </p:txBody>
      </p:sp>
      <p:sp>
        <p:nvSpPr>
          <p:cNvPr id="9" name="Text 7"/>
          <p:cNvSpPr/>
          <p:nvPr/>
        </p:nvSpPr>
        <p:spPr>
          <a:xfrm>
            <a:off x="777240" y="1143000"/>
            <a:ext cx="7589520" cy="777240"/>
          </a:xfrm>
          <a:prstGeom prst="rect">
            <a:avLst/>
          </a:prstGeom>
          <a:noFill/>
          <a:ln/>
        </p:spPr>
        <p:txBody>
          <a:bodyPr wrap="square" rtlCol="0" anchor="t"/>
          <a:lstStyle/>
          <a:p>
            <a:pPr algn="l" indent="0" marL="0">
              <a:buNone/>
            </a:pPr>
            <a:r>
              <a:rPr lang="en-US" sz="1200" i="1" dirty="0">
                <a:solidFill>
                  <a:srgbClr val="1E293B"/>
                </a:solidFill>
                <a:latin typeface="Calibri" pitchFamily="34" charset="0"/>
                <a:ea typeface="Calibri" pitchFamily="34" charset="-122"/>
                <a:cs typeface="Calibri" pitchFamily="34" charset="-120"/>
              </a:rPr>
              <a:t>"You want to know which players have been the most effective on draw controls this season. Instead of looking through the stats yourself, try asking the AI assistant for help."</a:t>
            </a:r>
            <a:endParaRPr lang="en-US" sz="1200" dirty="0"/>
          </a:p>
        </p:txBody>
      </p:sp>
      <p:sp>
        <p:nvSpPr>
          <p:cNvPr id="10" name="Shape 8"/>
          <p:cNvSpPr/>
          <p:nvPr/>
        </p:nvSpPr>
        <p:spPr>
          <a:xfrm>
            <a:off x="548640" y="228600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1" name="Shape 9"/>
          <p:cNvSpPr/>
          <p:nvPr/>
        </p:nvSpPr>
        <p:spPr>
          <a:xfrm>
            <a:off x="548640" y="2286000"/>
            <a:ext cx="54864" cy="1097280"/>
          </a:xfrm>
          <a:prstGeom prst="rect">
            <a:avLst/>
          </a:prstGeom>
          <a:solidFill>
            <a:srgbClr val="16A34A"/>
          </a:solidFill>
          <a:ln/>
        </p:spPr>
      </p:sp>
      <p:pic>
        <p:nvPicPr>
          <p:cNvPr id="12" name="Image 0" descr="preencoded.png">    </p:cNvPr>
          <p:cNvPicPr>
            <a:picLocks noChangeAspect="1"/>
          </p:cNvPicPr>
          <p:nvPr/>
        </p:nvPicPr>
        <p:blipFill>
          <a:blip r:embed="rId1"/>
          <a:stretch>
            <a:fillRect/>
          </a:stretch>
        </p:blipFill>
        <p:spPr>
          <a:xfrm>
            <a:off x="685800" y="2377440"/>
            <a:ext cx="228600" cy="228600"/>
          </a:xfrm>
          <a:prstGeom prst="rect">
            <a:avLst/>
          </a:prstGeom>
        </p:spPr>
      </p:pic>
      <p:sp>
        <p:nvSpPr>
          <p:cNvPr id="13" name="Text 10"/>
          <p:cNvSpPr/>
          <p:nvPr/>
        </p:nvSpPr>
        <p:spPr>
          <a:xfrm>
            <a:off x="960120" y="2331720"/>
            <a:ext cx="1371600" cy="320040"/>
          </a:xfrm>
          <a:prstGeom prst="rect">
            <a:avLst/>
          </a:prstGeom>
          <a:noFill/>
          <a:ln/>
        </p:spPr>
        <p:txBody>
          <a:bodyPr wrap="square" lIns="0" tIns="0" rIns="0" bIns="0" rtlCol="0" anchor="ctr"/>
          <a:lstStyle/>
          <a:p>
            <a:pPr algn="l" indent="0" marL="0">
              <a:buNone/>
            </a:pPr>
            <a:r>
              <a:rPr lang="en-US" sz="900" b="1" spc="100" kern="0" dirty="0">
                <a:solidFill>
                  <a:srgbClr val="16A34A"/>
                </a:solidFill>
                <a:latin typeface="Calibri" pitchFamily="34" charset="0"/>
                <a:ea typeface="Calibri" pitchFamily="34" charset="-122"/>
                <a:cs typeface="Calibri" pitchFamily="34" charset="-120"/>
              </a:rPr>
              <a:t>SUCCESS</a:t>
            </a:r>
            <a:endParaRPr lang="en-US" sz="900" dirty="0"/>
          </a:p>
        </p:txBody>
      </p:sp>
      <p:sp>
        <p:nvSpPr>
          <p:cNvPr id="14" name="Text 11"/>
          <p:cNvSpPr/>
          <p:nvPr/>
        </p:nvSpPr>
        <p:spPr>
          <a:xfrm>
            <a:off x="685800" y="263347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User navigates to the LaxIQ Assistant, types a question about draw controls, and receives a response citing specific player names and DC numbers from the dataset</a:t>
            </a:r>
            <a:endParaRPr lang="en-US" sz="900" dirty="0"/>
          </a:p>
        </p:txBody>
      </p:sp>
      <p:sp>
        <p:nvSpPr>
          <p:cNvPr id="15" name="Text 12"/>
          <p:cNvSpPr/>
          <p:nvPr/>
        </p:nvSpPr>
        <p:spPr>
          <a:xfrm>
            <a:off x="685800" y="3063240"/>
            <a:ext cx="3657600" cy="274320"/>
          </a:xfrm>
          <a:prstGeom prst="rect">
            <a:avLst/>
          </a:prstGeom>
          <a:noFill/>
          <a:ln/>
        </p:spPr>
        <p:txBody>
          <a:bodyPr wrap="square" rtlCol="0" anchor="ctr"/>
          <a:lstStyle/>
          <a:p>
            <a:pPr algn="l" indent="0" marL="0">
              <a:buNone/>
            </a:pPr>
            <a:r>
              <a:rPr lang="en-US" sz="900" b="1" dirty="0">
                <a:solidFill>
                  <a:srgbClr val="16A34A"/>
                </a:solidFill>
                <a:latin typeface="Calibri" pitchFamily="34" charset="0"/>
                <a:ea typeface="Calibri" pitchFamily="34" charset="-122"/>
                <a:cs typeface="Calibri" pitchFamily="34" charset="-120"/>
              </a:rPr>
              <a:t>≥ 80% completion rate</a:t>
            </a:r>
            <a:endParaRPr lang="en-US" sz="900" dirty="0"/>
          </a:p>
        </p:txBody>
      </p:sp>
      <p:sp>
        <p:nvSpPr>
          <p:cNvPr id="16" name="Shape 13"/>
          <p:cNvSpPr/>
          <p:nvPr/>
        </p:nvSpPr>
        <p:spPr>
          <a:xfrm>
            <a:off x="4663440" y="228600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7" name="Shape 14"/>
          <p:cNvSpPr/>
          <p:nvPr/>
        </p:nvSpPr>
        <p:spPr>
          <a:xfrm>
            <a:off x="4663440" y="2286000"/>
            <a:ext cx="54864" cy="1097280"/>
          </a:xfrm>
          <a:prstGeom prst="rect">
            <a:avLst/>
          </a:prstGeom>
          <a:solidFill>
            <a:srgbClr val="0D9488"/>
          </a:solidFill>
          <a:ln/>
        </p:spPr>
      </p:sp>
      <p:pic>
        <p:nvPicPr>
          <p:cNvPr id="18" name="Image 1" descr="preencoded.png">    </p:cNvPr>
          <p:cNvPicPr>
            <a:picLocks noChangeAspect="1"/>
          </p:cNvPicPr>
          <p:nvPr/>
        </p:nvPicPr>
        <p:blipFill>
          <a:blip r:embed="rId2"/>
          <a:stretch>
            <a:fillRect/>
          </a:stretch>
        </p:blipFill>
        <p:spPr>
          <a:xfrm>
            <a:off x="4800600" y="2377440"/>
            <a:ext cx="228600" cy="228600"/>
          </a:xfrm>
          <a:prstGeom prst="rect">
            <a:avLst/>
          </a:prstGeom>
        </p:spPr>
      </p:pic>
      <p:sp>
        <p:nvSpPr>
          <p:cNvPr id="19" name="Text 15"/>
          <p:cNvSpPr/>
          <p:nvPr/>
        </p:nvSpPr>
        <p:spPr>
          <a:xfrm>
            <a:off x="5074920" y="2331720"/>
            <a:ext cx="1371600" cy="320040"/>
          </a:xfrm>
          <a:prstGeom prst="rect">
            <a:avLst/>
          </a:prstGeom>
          <a:noFill/>
          <a:ln/>
        </p:spPr>
        <p:txBody>
          <a:bodyPr wrap="square" lIns="0" tIns="0" rIns="0" bIns="0" rtlCol="0" anchor="ctr"/>
          <a:lstStyle/>
          <a:p>
            <a:pPr algn="l" indent="0" marL="0">
              <a:buNone/>
            </a:pPr>
            <a:r>
              <a:rPr lang="en-US" sz="900" b="1" spc="100" kern="0" dirty="0">
                <a:solidFill>
                  <a:srgbClr val="0D9488"/>
                </a:solidFill>
                <a:latin typeface="Calibri" pitchFamily="34" charset="0"/>
                <a:ea typeface="Calibri" pitchFamily="34" charset="-122"/>
                <a:cs typeface="Calibri" pitchFamily="34" charset="-120"/>
              </a:rPr>
              <a:t>TIME</a:t>
            </a:r>
            <a:endParaRPr lang="en-US" sz="900" dirty="0"/>
          </a:p>
        </p:txBody>
      </p:sp>
      <p:sp>
        <p:nvSpPr>
          <p:cNvPr id="20" name="Text 16"/>
          <p:cNvSpPr/>
          <p:nvPr/>
        </p:nvSpPr>
        <p:spPr>
          <a:xfrm>
            <a:off x="4800600" y="263347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Time from opening the assistant page to receiving a satisfactory response (including typing time)</a:t>
            </a:r>
            <a:endParaRPr lang="en-US" sz="900" dirty="0"/>
          </a:p>
        </p:txBody>
      </p:sp>
      <p:sp>
        <p:nvSpPr>
          <p:cNvPr id="21" name="Text 17"/>
          <p:cNvSpPr/>
          <p:nvPr/>
        </p:nvSpPr>
        <p:spPr>
          <a:xfrm>
            <a:off x="4800600" y="3063240"/>
            <a:ext cx="3657600" cy="274320"/>
          </a:xfrm>
          <a:prstGeom prst="rect">
            <a:avLst/>
          </a:prstGeom>
          <a:noFill/>
          <a:ln/>
        </p:spPr>
        <p:txBody>
          <a:bodyPr wrap="square" rtlCol="0" anchor="ctr"/>
          <a:lstStyle/>
          <a:p>
            <a:pPr algn="l" indent="0" marL="0">
              <a:buNone/>
            </a:pPr>
            <a:r>
              <a:rPr lang="en-US" sz="900" b="1" dirty="0">
                <a:solidFill>
                  <a:srgbClr val="0D9488"/>
                </a:solidFill>
                <a:latin typeface="Calibri" pitchFamily="34" charset="0"/>
                <a:ea typeface="Calibri" pitchFamily="34" charset="-122"/>
                <a:cs typeface="Calibri" pitchFamily="34" charset="-120"/>
              </a:rPr>
              <a:t>≤ 30 seconds (navigation + typing + API response)</a:t>
            </a:r>
            <a:endParaRPr lang="en-US" sz="900" dirty="0"/>
          </a:p>
        </p:txBody>
      </p:sp>
      <p:sp>
        <p:nvSpPr>
          <p:cNvPr id="22" name="Shape 18"/>
          <p:cNvSpPr/>
          <p:nvPr/>
        </p:nvSpPr>
        <p:spPr>
          <a:xfrm>
            <a:off x="548640" y="352044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3" name="Shape 19"/>
          <p:cNvSpPr/>
          <p:nvPr/>
        </p:nvSpPr>
        <p:spPr>
          <a:xfrm>
            <a:off x="548640" y="3520440"/>
            <a:ext cx="54864" cy="1097280"/>
          </a:xfrm>
          <a:prstGeom prst="rect">
            <a:avLst/>
          </a:prstGeom>
          <a:solidFill>
            <a:srgbClr val="DC2626"/>
          </a:solidFill>
          <a:ln/>
        </p:spPr>
      </p:sp>
      <p:pic>
        <p:nvPicPr>
          <p:cNvPr id="24" name="Image 2" descr="preencoded.png">    </p:cNvPr>
          <p:cNvPicPr>
            <a:picLocks noChangeAspect="1"/>
          </p:cNvPicPr>
          <p:nvPr/>
        </p:nvPicPr>
        <p:blipFill>
          <a:blip r:embed="rId3"/>
          <a:stretch>
            <a:fillRect/>
          </a:stretch>
        </p:blipFill>
        <p:spPr>
          <a:xfrm>
            <a:off x="685800" y="3611880"/>
            <a:ext cx="228600" cy="228600"/>
          </a:xfrm>
          <a:prstGeom prst="rect">
            <a:avLst/>
          </a:prstGeom>
        </p:spPr>
      </p:pic>
      <p:sp>
        <p:nvSpPr>
          <p:cNvPr id="25" name="Text 20"/>
          <p:cNvSpPr/>
          <p:nvPr/>
        </p:nvSpPr>
        <p:spPr>
          <a:xfrm>
            <a:off x="960120" y="3566160"/>
            <a:ext cx="1371600" cy="320040"/>
          </a:xfrm>
          <a:prstGeom prst="rect">
            <a:avLst/>
          </a:prstGeom>
          <a:noFill/>
          <a:ln/>
        </p:spPr>
        <p:txBody>
          <a:bodyPr wrap="square" lIns="0" tIns="0" rIns="0" bIns="0" rtlCol="0" anchor="ctr"/>
          <a:lstStyle/>
          <a:p>
            <a:pPr algn="l" indent="0" marL="0">
              <a:buNone/>
            </a:pPr>
            <a:r>
              <a:rPr lang="en-US" sz="900" b="1" spc="100" kern="0" dirty="0">
                <a:solidFill>
                  <a:srgbClr val="DC2626"/>
                </a:solidFill>
                <a:latin typeface="Calibri" pitchFamily="34" charset="0"/>
                <a:ea typeface="Calibri" pitchFamily="34" charset="-122"/>
                <a:cs typeface="Calibri" pitchFamily="34" charset="-120"/>
              </a:rPr>
              <a:t>ERRORS</a:t>
            </a:r>
            <a:endParaRPr lang="en-US" sz="900" dirty="0"/>
          </a:p>
        </p:txBody>
      </p:sp>
      <p:sp>
        <p:nvSpPr>
          <p:cNvPr id="26" name="Text 21"/>
          <p:cNvSpPr/>
          <p:nvPr/>
        </p:nvSpPr>
        <p:spPr>
          <a:xfrm>
            <a:off x="685800" y="386791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Typing in sidebar instead of main chat, unclear phrasing that confuses the model, clicking wrong nav item</a:t>
            </a:r>
            <a:endParaRPr lang="en-US" sz="900" dirty="0"/>
          </a:p>
        </p:txBody>
      </p:sp>
      <p:sp>
        <p:nvSpPr>
          <p:cNvPr id="27" name="Text 22"/>
          <p:cNvSpPr/>
          <p:nvPr/>
        </p:nvSpPr>
        <p:spPr>
          <a:xfrm>
            <a:off x="685800" y="4297680"/>
            <a:ext cx="3657600" cy="274320"/>
          </a:xfrm>
          <a:prstGeom prst="rect">
            <a:avLst/>
          </a:prstGeom>
          <a:noFill/>
          <a:ln/>
        </p:spPr>
        <p:txBody>
          <a:bodyPr wrap="square" rtlCol="0" anchor="ctr"/>
          <a:lstStyle/>
          <a:p>
            <a:pPr algn="l" indent="0" marL="0">
              <a:buNone/>
            </a:pPr>
            <a:r>
              <a:rPr lang="en-US" sz="900" b="1" dirty="0">
                <a:solidFill>
                  <a:srgbClr val="DC2626"/>
                </a:solidFill>
                <a:latin typeface="Calibri" pitchFamily="34" charset="0"/>
                <a:ea typeface="Calibri" pitchFamily="34" charset="-122"/>
                <a:cs typeface="Calibri" pitchFamily="34" charset="-120"/>
              </a:rPr>
              <a:t>≤ 1 error on average</a:t>
            </a:r>
            <a:endParaRPr lang="en-US" sz="900" dirty="0"/>
          </a:p>
        </p:txBody>
      </p:sp>
      <p:sp>
        <p:nvSpPr>
          <p:cNvPr id="28" name="Shape 23"/>
          <p:cNvSpPr/>
          <p:nvPr/>
        </p:nvSpPr>
        <p:spPr>
          <a:xfrm>
            <a:off x="4663440" y="3520440"/>
            <a:ext cx="3931920" cy="109728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29" name="Shape 24"/>
          <p:cNvSpPr/>
          <p:nvPr/>
        </p:nvSpPr>
        <p:spPr>
          <a:xfrm>
            <a:off x="4663440" y="3520440"/>
            <a:ext cx="54864" cy="1097280"/>
          </a:xfrm>
          <a:prstGeom prst="rect">
            <a:avLst/>
          </a:prstGeom>
          <a:solidFill>
            <a:srgbClr val="D97706"/>
          </a:solidFill>
          <a:ln/>
        </p:spPr>
      </p:sp>
      <p:pic>
        <p:nvPicPr>
          <p:cNvPr id="30" name="Image 3" descr="preencoded.png">    </p:cNvPr>
          <p:cNvPicPr>
            <a:picLocks noChangeAspect="1"/>
          </p:cNvPicPr>
          <p:nvPr/>
        </p:nvPicPr>
        <p:blipFill>
          <a:blip r:embed="rId4"/>
          <a:stretch>
            <a:fillRect/>
          </a:stretch>
        </p:blipFill>
        <p:spPr>
          <a:xfrm>
            <a:off x="4800600" y="3611880"/>
            <a:ext cx="228600" cy="228600"/>
          </a:xfrm>
          <a:prstGeom prst="rect">
            <a:avLst/>
          </a:prstGeom>
        </p:spPr>
      </p:pic>
      <p:sp>
        <p:nvSpPr>
          <p:cNvPr id="31" name="Text 25"/>
          <p:cNvSpPr/>
          <p:nvPr/>
        </p:nvSpPr>
        <p:spPr>
          <a:xfrm>
            <a:off x="5074920" y="3566160"/>
            <a:ext cx="1371600" cy="320040"/>
          </a:xfrm>
          <a:prstGeom prst="rect">
            <a:avLst/>
          </a:prstGeom>
          <a:noFill/>
          <a:ln/>
        </p:spPr>
        <p:txBody>
          <a:bodyPr wrap="square" lIns="0" tIns="0" rIns="0" bIns="0" rtlCol="0" anchor="ctr"/>
          <a:lstStyle/>
          <a:p>
            <a:pPr algn="l" indent="0" marL="0">
              <a:buNone/>
            </a:pPr>
            <a:r>
              <a:rPr lang="en-US" sz="900" b="1" spc="100" kern="0" dirty="0">
                <a:solidFill>
                  <a:srgbClr val="D97706"/>
                </a:solidFill>
                <a:latin typeface="Calibri" pitchFamily="34" charset="0"/>
                <a:ea typeface="Calibri" pitchFamily="34" charset="-122"/>
                <a:cs typeface="Calibri" pitchFamily="34" charset="-120"/>
              </a:rPr>
              <a:t>CONFUSION</a:t>
            </a:r>
            <a:endParaRPr lang="en-US" sz="900" dirty="0"/>
          </a:p>
        </p:txBody>
      </p:sp>
      <p:sp>
        <p:nvSpPr>
          <p:cNvPr id="32" name="Text 26"/>
          <p:cNvSpPr/>
          <p:nvPr/>
        </p:nvSpPr>
        <p:spPr>
          <a:xfrm>
            <a:off x="4800600" y="3867912"/>
            <a:ext cx="3657600" cy="411480"/>
          </a:xfrm>
          <a:prstGeom prst="rect">
            <a:avLst/>
          </a:prstGeom>
          <a:noFill/>
          <a:ln/>
        </p:spPr>
        <p:txBody>
          <a:bodyPr wrap="square" rtlCol="0" anchor="t"/>
          <a:lstStyle/>
          <a:p>
            <a:pPr algn="l" indent="0" marL="0">
              <a:buNone/>
            </a:pPr>
            <a:r>
              <a:rPr lang="en-US" sz="900" dirty="0">
                <a:solidFill>
                  <a:srgbClr val="475569"/>
                </a:solidFill>
                <a:latin typeface="Calibri" pitchFamily="34" charset="0"/>
                <a:ea typeface="Calibri" pitchFamily="34" charset="-122"/>
                <a:cs typeface="Calibri" pitchFamily="34" charset="-120"/>
              </a:rPr>
              <a:t>Uncertainty about where to find the assistant, unsure what to type, confusion about the response format</a:t>
            </a:r>
            <a:endParaRPr lang="en-US" sz="900" dirty="0"/>
          </a:p>
        </p:txBody>
      </p:sp>
      <p:sp>
        <p:nvSpPr>
          <p:cNvPr id="33" name="Text 27"/>
          <p:cNvSpPr/>
          <p:nvPr/>
        </p:nvSpPr>
        <p:spPr>
          <a:xfrm>
            <a:off x="4800600" y="4297680"/>
            <a:ext cx="3657600" cy="274320"/>
          </a:xfrm>
          <a:prstGeom prst="rect">
            <a:avLst/>
          </a:prstGeom>
          <a:noFill/>
          <a:ln/>
        </p:spPr>
        <p:txBody>
          <a:bodyPr wrap="square" rtlCol="0" anchor="ctr"/>
          <a:lstStyle/>
          <a:p>
            <a:pPr algn="l" indent="0" marL="0">
              <a:buNone/>
            </a:pPr>
            <a:r>
              <a:rPr lang="en-US" sz="900" b="1" dirty="0">
                <a:solidFill>
                  <a:srgbClr val="D97706"/>
                </a:solidFill>
                <a:latin typeface="Calibri" pitchFamily="34" charset="0"/>
                <a:ea typeface="Calibri" pitchFamily="34" charset="-122"/>
                <a:cs typeface="Calibri" pitchFamily="34" charset="-120"/>
              </a:rPr>
              <a:t>≤ 2 moments of uncertainty</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57200"/>
          </a:solidFill>
          <a:ln/>
        </p:spPr>
      </p:sp>
      <p:sp>
        <p:nvSpPr>
          <p:cNvPr id="3" name="Text 1"/>
          <p:cNvSpPr/>
          <p:nvPr/>
        </p:nvSpPr>
        <p:spPr>
          <a:xfrm>
            <a:off x="548640" y="182880"/>
            <a:ext cx="7772400" cy="502920"/>
          </a:xfrm>
          <a:prstGeom prst="rect">
            <a:avLst/>
          </a:prstGeom>
          <a:noFill/>
          <a:ln/>
        </p:spPr>
        <p:txBody>
          <a:bodyPr wrap="square" lIns="0" tIns="0" rIns="0" bIns="0" rtlCol="0" anchor="ctr"/>
          <a:lstStyle/>
          <a:p>
            <a:pPr algn="l" indent="0" marL="0">
              <a:buNone/>
            </a:pPr>
            <a:r>
              <a:rPr lang="en-US" sz="2200" b="1" dirty="0">
                <a:solidFill>
                  <a:srgbClr val="232D4B"/>
                </a:solidFill>
                <a:latin typeface="Georgia" pitchFamily="34" charset="0"/>
                <a:ea typeface="Georgia" pitchFamily="34" charset="-122"/>
                <a:cs typeface="Georgia" pitchFamily="34" charset="-120"/>
              </a:rPr>
              <a:t>A/B Test Plan: Player Intelligence View Toggle</a:t>
            </a:r>
            <a:endParaRPr lang="en-US" sz="2200" dirty="0"/>
          </a:p>
        </p:txBody>
      </p:sp>
      <p:sp>
        <p:nvSpPr>
          <p:cNvPr id="4" name="Shape 2"/>
          <p:cNvSpPr/>
          <p:nvPr/>
        </p:nvSpPr>
        <p:spPr>
          <a:xfrm>
            <a:off x="548640" y="713232"/>
            <a:ext cx="8046720" cy="0"/>
          </a:xfrm>
          <a:prstGeom prst="line">
            <a:avLst/>
          </a:prstGeom>
          <a:noFill/>
          <a:ln w="12700">
            <a:solidFill>
              <a:srgbClr val="E0E4ED"/>
            </a:solidFill>
            <a:prstDash val="solid"/>
          </a:ln>
        </p:spPr>
      </p:sp>
      <p:sp>
        <p:nvSpPr>
          <p:cNvPr id="5" name="Text 3"/>
          <p:cNvSpPr/>
          <p:nvPr/>
        </p:nvSpPr>
        <p:spPr>
          <a:xfrm>
            <a:off x="8229600" y="4663440"/>
            <a:ext cx="548640" cy="365760"/>
          </a:xfrm>
          <a:prstGeom prst="rect">
            <a:avLst/>
          </a:prstGeom>
          <a:noFill/>
          <a:ln/>
        </p:spPr>
        <p:txBody>
          <a:bodyPr wrap="square" rtlCol="0" anchor="b"/>
          <a:lstStyle/>
          <a:p>
            <a:pPr algn="r" indent="0" marL="0">
              <a:buNone/>
            </a:pPr>
            <a:r>
              <a:rPr lang="en-US" sz="1000" dirty="0">
                <a:solidFill>
                  <a:srgbClr val="94A3B8"/>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48640" y="868680"/>
            <a:ext cx="8046720" cy="594360"/>
          </a:xfrm>
          <a:prstGeom prst="rect">
            <a:avLst/>
          </a:prstGeom>
          <a:solidFill>
            <a:srgbClr val="232D4B"/>
          </a:solidFill>
          <a:ln/>
        </p:spPr>
      </p:sp>
      <p:sp>
        <p:nvSpPr>
          <p:cNvPr id="7" name="Text 5"/>
          <p:cNvSpPr/>
          <p:nvPr/>
        </p:nvSpPr>
        <p:spPr>
          <a:xfrm>
            <a:off x="731520" y="868680"/>
            <a:ext cx="7680960" cy="594360"/>
          </a:xfrm>
          <a:prstGeom prst="rect">
            <a:avLst/>
          </a:prstGeom>
          <a:noFill/>
          <a:ln/>
        </p:spPr>
        <p:txBody>
          <a:bodyPr wrap="square" rtlCol="0" anchor="ctr"/>
          <a:lstStyle/>
          <a:p>
            <a:pPr algn="l" indent="0" marL="0">
              <a:buNone/>
            </a:pPr>
            <a:r>
              <a:rPr lang="en-US" sz="1000" b="1" spc="100" kern="0" dirty="0">
                <a:solidFill>
                  <a:srgbClr val="E57200"/>
                </a:solidFill>
                <a:latin typeface="Calibri" pitchFamily="34" charset="0"/>
                <a:ea typeface="Calibri" pitchFamily="34" charset="-122"/>
                <a:cs typeface="Calibri" pitchFamily="34" charset="-120"/>
              </a:rPr>
              <a:t>DESIGN DECISION UNDER TEST:  </a:t>
            </a:r>
            <a:pPr algn="l" indent="0" marL="0">
              <a:buNone/>
            </a:pPr>
            <a:r>
              <a:rPr lang="en-US" sz="1100" dirty="0">
                <a:solidFill>
                  <a:srgbClr val="FFFFFF"/>
                </a:solidFill>
                <a:latin typeface="Calibri" pitchFamily="34" charset="0"/>
                <a:ea typeface="Calibri" pitchFamily="34" charset="-122"/>
                <a:cs typeface="Calibri" pitchFamily="34" charset="-120"/>
              </a:rPr>
              <a:t>Should the Player Intelligence page default to "Coach View" (simplified, key stats only) or "Analyst View" (full stats, advanced metrics)?</a:t>
            </a:r>
            <a:endParaRPr lang="en-US" sz="1000" dirty="0"/>
          </a:p>
        </p:txBody>
      </p:sp>
      <p:sp>
        <p:nvSpPr>
          <p:cNvPr id="8" name="Shape 6"/>
          <p:cNvSpPr/>
          <p:nvPr/>
        </p:nvSpPr>
        <p:spPr>
          <a:xfrm>
            <a:off x="548640" y="1645920"/>
            <a:ext cx="3840480" cy="1828800"/>
          </a:xfrm>
          <a:prstGeom prst="rect">
            <a:avLst/>
          </a:prstGeom>
          <a:solidFill>
            <a:srgbClr val="FFFFFF"/>
          </a:solidFill>
          <a:ln w="19050">
            <a:solidFill>
              <a:srgbClr val="2563EB"/>
            </a:solidFill>
            <a:prstDash val="solid"/>
          </a:ln>
          <a:effectLst>
            <a:outerShdw sx="100000" sy="100000" kx="0" ky="0" algn="bl" rotWithShape="0" blurRad="50800" dist="12700" dir="8100000">
              <a:srgbClr val="000000">
                <a:alpha val="8000"/>
              </a:srgbClr>
            </a:outerShdw>
          </a:effectLst>
        </p:spPr>
      </p:sp>
      <p:sp>
        <p:nvSpPr>
          <p:cNvPr id="9" name="Shape 7"/>
          <p:cNvSpPr/>
          <p:nvPr/>
        </p:nvSpPr>
        <p:spPr>
          <a:xfrm>
            <a:off x="548640" y="1645920"/>
            <a:ext cx="3840480" cy="320040"/>
          </a:xfrm>
          <a:prstGeom prst="rect">
            <a:avLst/>
          </a:prstGeom>
          <a:solidFill>
            <a:srgbClr val="2563EB"/>
          </a:solidFill>
          <a:ln/>
        </p:spPr>
      </p:sp>
      <p:sp>
        <p:nvSpPr>
          <p:cNvPr id="10" name="Text 8"/>
          <p:cNvSpPr/>
          <p:nvPr/>
        </p:nvSpPr>
        <p:spPr>
          <a:xfrm>
            <a:off x="548640" y="1645920"/>
            <a:ext cx="38404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 A — Coach View Default</a:t>
            </a:r>
            <a:endParaRPr lang="en-US" sz="1000" dirty="0"/>
          </a:p>
        </p:txBody>
      </p:sp>
      <p:sp>
        <p:nvSpPr>
          <p:cNvPr id="11" name="Text 9"/>
          <p:cNvSpPr/>
          <p:nvPr/>
        </p:nvSpPr>
        <p:spPr>
          <a:xfrm>
            <a:off x="731520" y="2011680"/>
            <a:ext cx="3474720" cy="1371600"/>
          </a:xfrm>
          <a:prstGeom prst="rect">
            <a:avLst/>
          </a:prstGeom>
          <a:noFill/>
          <a:ln/>
        </p:spPr>
        <p:txBody>
          <a:bodyPr wrap="square" rtlCol="0" anchor="t"/>
          <a:lstStyle/>
          <a:p>
            <a:pPr algn="l" indent="0" marL="0">
              <a:buNone/>
            </a:pPr>
            <a:r>
              <a:rPr lang="en-US" sz="1000" b="1" dirty="0">
                <a:solidFill>
                  <a:srgbClr val="475569"/>
                </a:solidFill>
                <a:latin typeface="Calibri" pitchFamily="34" charset="0"/>
                <a:ea typeface="Calibri" pitchFamily="34" charset="-122"/>
                <a:cs typeface="Calibri" pitchFamily="34" charset="-120"/>
              </a:rPr>
              <a:t>Player Intelligence opens in Coach View by default:</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Simplified tier rankings (Elite/Strong/Rotation/Developing)</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Single radar chart per player (5 key dimensions)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Color-coded performance badges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Advanced stats hidden behind "Analyst View" toggle</a:t>
            </a:r>
            <a:endParaRPr lang="en-US" sz="1000" dirty="0"/>
          </a:p>
        </p:txBody>
      </p:sp>
      <p:sp>
        <p:nvSpPr>
          <p:cNvPr id="12" name="Shape 10"/>
          <p:cNvSpPr/>
          <p:nvPr/>
        </p:nvSpPr>
        <p:spPr>
          <a:xfrm>
            <a:off x="4754880" y="1645920"/>
            <a:ext cx="3840480" cy="1828800"/>
          </a:xfrm>
          <a:prstGeom prst="rect">
            <a:avLst/>
          </a:prstGeom>
          <a:solidFill>
            <a:srgbClr val="FFFFFF"/>
          </a:solidFill>
          <a:ln w="19050">
            <a:solidFill>
              <a:srgbClr val="7C3AED"/>
            </a:solidFill>
            <a:prstDash val="solid"/>
          </a:ln>
          <a:effectLst>
            <a:outerShdw sx="100000" sy="100000" kx="0" ky="0" algn="bl" rotWithShape="0" blurRad="50800" dist="12700" dir="8100000">
              <a:srgbClr val="000000">
                <a:alpha val="8000"/>
              </a:srgbClr>
            </a:outerShdw>
          </a:effectLst>
        </p:spPr>
      </p:sp>
      <p:sp>
        <p:nvSpPr>
          <p:cNvPr id="13" name="Shape 11"/>
          <p:cNvSpPr/>
          <p:nvPr/>
        </p:nvSpPr>
        <p:spPr>
          <a:xfrm>
            <a:off x="4754880" y="1645920"/>
            <a:ext cx="3840480" cy="320040"/>
          </a:xfrm>
          <a:prstGeom prst="rect">
            <a:avLst/>
          </a:prstGeom>
          <a:solidFill>
            <a:srgbClr val="7C3AED"/>
          </a:solidFill>
          <a:ln/>
        </p:spPr>
      </p:sp>
      <p:sp>
        <p:nvSpPr>
          <p:cNvPr id="14" name="Text 12"/>
          <p:cNvSpPr/>
          <p:nvPr/>
        </p:nvSpPr>
        <p:spPr>
          <a:xfrm>
            <a:off x="4754880" y="1645920"/>
            <a:ext cx="3840480"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 B — Analyst View Default</a:t>
            </a:r>
            <a:endParaRPr lang="en-US" sz="1000" dirty="0"/>
          </a:p>
        </p:txBody>
      </p:sp>
      <p:sp>
        <p:nvSpPr>
          <p:cNvPr id="15" name="Text 13"/>
          <p:cNvSpPr/>
          <p:nvPr/>
        </p:nvSpPr>
        <p:spPr>
          <a:xfrm>
            <a:off x="4937760" y="2011680"/>
            <a:ext cx="3474720" cy="1371600"/>
          </a:xfrm>
          <a:prstGeom prst="rect">
            <a:avLst/>
          </a:prstGeom>
          <a:noFill/>
          <a:ln/>
        </p:spPr>
        <p:txBody>
          <a:bodyPr wrap="square" rtlCol="0" anchor="t"/>
          <a:lstStyle/>
          <a:p>
            <a:pPr algn="l" indent="0" marL="0">
              <a:buNone/>
            </a:pPr>
            <a:r>
              <a:rPr lang="en-US" sz="1000" b="1" dirty="0">
                <a:solidFill>
                  <a:srgbClr val="475569"/>
                </a:solidFill>
                <a:latin typeface="Calibri" pitchFamily="34" charset="0"/>
                <a:ea typeface="Calibri" pitchFamily="34" charset="-122"/>
                <a:cs typeface="Calibri" pitchFamily="34" charset="-120"/>
              </a:rPr>
              <a:t>Player Intelligence opens in Analyst View by default:</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Full sortable stat tables with all columns visible</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Dual-axis radar charts with 8+ dimensions</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Impact score formula breakdown shown</a:t>
            </a:r>
            <a:endParaRPr lang="en-US" sz="1000" dirty="0"/>
          </a:p>
          <a:p>
            <a:pPr algn="l" marL="342900" indent="-342900">
              <a:buSzPct val="100000"/>
              <a:buChar char="•"/>
            </a:pPr>
            <a:r>
              <a:rPr lang="en-US" sz="1000" dirty="0">
                <a:solidFill>
                  <a:srgbClr val="475569"/>
                </a:solidFill>
                <a:latin typeface="Calibri" pitchFamily="34" charset="0"/>
                <a:ea typeface="Calibri" pitchFamily="34" charset="-122"/>
                <a:cs typeface="Calibri" pitchFamily="34" charset="-120"/>
              </a:rPr>
              <a:t>Coach View available via toggle but not default</a:t>
            </a:r>
            <a:endParaRPr lang="en-US" sz="1000" dirty="0"/>
          </a:p>
        </p:txBody>
      </p:sp>
      <p:sp>
        <p:nvSpPr>
          <p:cNvPr id="16" name="Shape 14"/>
          <p:cNvSpPr/>
          <p:nvPr/>
        </p:nvSpPr>
        <p:spPr>
          <a:xfrm>
            <a:off x="548640" y="3703320"/>
            <a:ext cx="8046720" cy="1188720"/>
          </a:xfrm>
          <a:prstGeom prst="rect">
            <a:avLst/>
          </a:prstGeom>
          <a:solidFill>
            <a:srgbClr val="FFFFFF"/>
          </a:solidFill>
          <a:ln w="6350">
            <a:solidFill>
              <a:srgbClr val="E0E4ED"/>
            </a:solidFill>
            <a:prstDash val="solid"/>
          </a:ln>
          <a:effectLst>
            <a:outerShdw sx="100000" sy="100000" kx="0" ky="0" algn="bl" rotWithShape="0" blurRad="50800" dist="12700" dir="8100000">
              <a:srgbClr val="000000">
                <a:alpha val="8000"/>
              </a:srgbClr>
            </a:outerShdw>
          </a:effectLst>
        </p:spPr>
      </p:sp>
      <p:sp>
        <p:nvSpPr>
          <p:cNvPr id="17" name="Text 15"/>
          <p:cNvSpPr/>
          <p:nvPr/>
        </p:nvSpPr>
        <p:spPr>
          <a:xfrm>
            <a:off x="731520" y="3703320"/>
            <a:ext cx="7680960" cy="365760"/>
          </a:xfrm>
          <a:prstGeom prst="rect">
            <a:avLst/>
          </a:prstGeom>
          <a:noFill/>
          <a:ln/>
        </p:spPr>
        <p:txBody>
          <a:bodyPr wrap="square" rtlCol="0" anchor="ctr"/>
          <a:lstStyle/>
          <a:p>
            <a:pPr algn="l" indent="0" marL="0">
              <a:buNone/>
            </a:pPr>
            <a:r>
              <a:rPr lang="en-US" sz="1000" b="1" dirty="0">
                <a:solidFill>
                  <a:srgbClr val="232D4B"/>
                </a:solidFill>
                <a:latin typeface="Calibri" pitchFamily="34" charset="0"/>
                <a:ea typeface="Calibri" pitchFamily="34" charset="-122"/>
                <a:cs typeface="Calibri" pitchFamily="34" charset="-120"/>
              </a:rPr>
              <a:t>Hypothesis: </a:t>
            </a:r>
            <a:pPr algn="l" indent="0" marL="0">
              <a:buNone/>
            </a:pPr>
            <a:r>
              <a:rPr lang="en-US" sz="1000" dirty="0">
                <a:solidFill>
                  <a:srgbClr val="475569"/>
                </a:solidFill>
                <a:latin typeface="Calibri" pitchFamily="34" charset="0"/>
                <a:ea typeface="Calibri" pitchFamily="34" charset="-122"/>
                <a:cs typeface="Calibri" pitchFamily="34" charset="-120"/>
              </a:rPr>
              <a:t>Version A (Coach View) will yield faster task completion and higher satisfaction for our primary persona (coaches) because it reduces initial cognitive load, even though Analyst View offers more data.</a:t>
            </a:r>
            <a:endParaRPr lang="en-US" sz="1000" dirty="0"/>
          </a:p>
        </p:txBody>
      </p:sp>
      <p:sp>
        <p:nvSpPr>
          <p:cNvPr id="18" name="Text 16"/>
          <p:cNvSpPr/>
          <p:nvPr/>
        </p:nvSpPr>
        <p:spPr>
          <a:xfrm>
            <a:off x="731520" y="4069080"/>
            <a:ext cx="7680960" cy="320040"/>
          </a:xfrm>
          <a:prstGeom prst="rect">
            <a:avLst/>
          </a:prstGeom>
          <a:noFill/>
          <a:ln/>
        </p:spPr>
        <p:txBody>
          <a:bodyPr wrap="square" rtlCol="0" anchor="ctr"/>
          <a:lstStyle/>
          <a:p>
            <a:pPr algn="l" indent="0" marL="0">
              <a:buNone/>
            </a:pPr>
            <a:r>
              <a:rPr lang="en-US" sz="1000" b="1" dirty="0">
                <a:solidFill>
                  <a:srgbClr val="232D4B"/>
                </a:solidFill>
                <a:latin typeface="Calibri" pitchFamily="34" charset="0"/>
                <a:ea typeface="Calibri" pitchFamily="34" charset="-122"/>
                <a:cs typeface="Calibri" pitchFamily="34" charset="-120"/>
              </a:rPr>
              <a:t>Primary Metric: </a:t>
            </a:r>
            <a:pPr algn="l" indent="0" marL="0">
              <a:buNone/>
            </a:pPr>
            <a:r>
              <a:rPr lang="en-US" sz="1000" dirty="0">
                <a:solidFill>
                  <a:srgbClr val="475569"/>
                </a:solidFill>
                <a:latin typeface="Calibri" pitchFamily="34" charset="0"/>
                <a:ea typeface="Calibri" pitchFamily="34" charset="-122"/>
                <a:cs typeface="Calibri" pitchFamily="34" charset="-120"/>
              </a:rPr>
              <a:t>Task completion rate on "compare two players" task  |  </a:t>
            </a:r>
            <a:pPr algn="l" indent="0" marL="0">
              <a:buNone/>
            </a:pPr>
            <a:r>
              <a:rPr lang="en-US" sz="1000" b="1" dirty="0">
                <a:solidFill>
                  <a:srgbClr val="232D4B"/>
                </a:solidFill>
                <a:latin typeface="Calibri" pitchFamily="34" charset="0"/>
                <a:ea typeface="Calibri" pitchFamily="34" charset="-122"/>
                <a:cs typeface="Calibri" pitchFamily="34" charset="-120"/>
              </a:rPr>
              <a:t>Secondary: </a:t>
            </a:r>
            <a:pPr algn="l" indent="0" marL="0">
              <a:buNone/>
            </a:pPr>
            <a:r>
              <a:rPr lang="en-US" sz="1000" dirty="0">
                <a:solidFill>
                  <a:srgbClr val="475569"/>
                </a:solidFill>
                <a:latin typeface="Calibri" pitchFamily="34" charset="0"/>
                <a:ea typeface="Calibri" pitchFamily="34" charset="-122"/>
                <a:cs typeface="Calibri" pitchFamily="34" charset="-120"/>
              </a:rPr>
              <a:t>Time-on-task, post-task SEQ rating</a:t>
            </a:r>
            <a:endParaRPr lang="en-US" sz="1000" dirty="0"/>
          </a:p>
        </p:txBody>
      </p:sp>
      <p:sp>
        <p:nvSpPr>
          <p:cNvPr id="19" name="Shape 17"/>
          <p:cNvSpPr/>
          <p:nvPr/>
        </p:nvSpPr>
        <p:spPr>
          <a:xfrm>
            <a:off x="731520" y="4434840"/>
            <a:ext cx="7680960" cy="365760"/>
          </a:xfrm>
          <a:prstGeom prst="rect">
            <a:avLst/>
          </a:prstGeom>
          <a:solidFill>
            <a:srgbClr val="E57200">
              <a:alpha val="15000"/>
            </a:srgbClr>
          </a:solidFill>
          <a:ln w="12700">
            <a:solidFill>
              <a:srgbClr val="E57200"/>
            </a:solidFill>
            <a:prstDash val="solid"/>
          </a:ln>
        </p:spPr>
      </p:sp>
      <p:sp>
        <p:nvSpPr>
          <p:cNvPr id="20" name="Text 18"/>
          <p:cNvSpPr/>
          <p:nvPr/>
        </p:nvSpPr>
        <p:spPr>
          <a:xfrm>
            <a:off x="914400" y="4434840"/>
            <a:ext cx="7315200" cy="365760"/>
          </a:xfrm>
          <a:prstGeom prst="rect">
            <a:avLst/>
          </a:prstGeom>
          <a:noFill/>
          <a:ln/>
        </p:spPr>
        <p:txBody>
          <a:bodyPr wrap="square" rtlCol="0" anchor="ctr"/>
          <a:lstStyle/>
          <a:p>
            <a:pPr algn="l" indent="0" marL="0">
              <a:buNone/>
            </a:pPr>
            <a:r>
              <a:rPr lang="en-US" sz="1000" b="1" dirty="0">
                <a:solidFill>
                  <a:srgbClr val="E57200"/>
                </a:solidFill>
                <a:latin typeface="Calibri" pitchFamily="34" charset="0"/>
                <a:ea typeface="Calibri" pitchFamily="34" charset="-122"/>
                <a:cs typeface="Calibri" pitchFamily="34" charset="-120"/>
              </a:rPr>
              <a:t>Success Criteria: </a:t>
            </a:r>
            <a:pPr algn="l" indent="0" marL="0">
              <a:buNone/>
            </a:pPr>
            <a:r>
              <a:rPr lang="en-US" sz="1000" dirty="0">
                <a:solidFill>
                  <a:srgbClr val="1E293B"/>
                </a:solidFill>
                <a:latin typeface="Calibri" pitchFamily="34" charset="0"/>
                <a:ea typeface="Calibri" pitchFamily="34" charset="-122"/>
                <a:cs typeface="Calibri" pitchFamily="34" charset="-120"/>
              </a:rPr>
              <a:t>Version A wins if it achieves ≥ 15% higher completion rate OR ≥ 20% faster time-on-task with no drop in satisfaction. Otherwise, default to the simpler Coach View for consistency.</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32D4B"/>
        </a:solidFill>
      </p:bgPr>
    </p:bg>
    <p:spTree>
      <p:nvGrpSpPr>
        <p:cNvPr id="1" name=""/>
        <p:cNvGrpSpPr/>
        <p:nvPr/>
      </p:nvGrpSpPr>
      <p:grpSpPr>
        <a:xfrm>
          <a:off x="0" y="0"/>
          <a:ext cx="0" cy="0"/>
          <a:chOff x="0" y="0"/>
          <a:chExt cx="0" cy="0"/>
        </a:xfrm>
      </p:grpSpPr>
      <p:sp>
        <p:nvSpPr>
          <p:cNvPr id="2" name="Text 0"/>
          <p:cNvSpPr/>
          <p:nvPr/>
        </p:nvSpPr>
        <p:spPr>
          <a:xfrm>
            <a:off x="731520" y="457200"/>
            <a:ext cx="7680960" cy="640080"/>
          </a:xfrm>
          <a:prstGeom prst="rect">
            <a:avLst/>
          </a:prstGeom>
          <a:noFill/>
          <a:ln/>
        </p:spPr>
        <p:txBody>
          <a:bodyPr wrap="square" lIns="0" tIns="0" rIns="0" bIns="0" rtlCol="0" anchor="b"/>
          <a:lstStyle/>
          <a:p>
            <a:pPr algn="l" indent="0" marL="0">
              <a:buNone/>
            </a:pPr>
            <a:r>
              <a:rPr lang="en-US" sz="3600" b="1" dirty="0">
                <a:solidFill>
                  <a:srgbClr val="FFFFFF"/>
                </a:solidFill>
                <a:latin typeface="Georgia" pitchFamily="34" charset="0"/>
                <a:ea typeface="Georgia" pitchFamily="34" charset="-122"/>
                <a:cs typeface="Georgia" pitchFamily="34" charset="-120"/>
              </a:rPr>
              <a:t>Milestone 1 Summary</a:t>
            </a:r>
            <a:endParaRPr lang="en-US" sz="3600" dirty="0"/>
          </a:p>
        </p:txBody>
      </p:sp>
      <p:sp>
        <p:nvSpPr>
          <p:cNvPr id="3" name="Shape 1"/>
          <p:cNvSpPr/>
          <p:nvPr/>
        </p:nvSpPr>
        <p:spPr>
          <a:xfrm>
            <a:off x="731520" y="1188720"/>
            <a:ext cx="2743200" cy="0"/>
          </a:xfrm>
          <a:prstGeom prst="line">
            <a:avLst/>
          </a:prstGeom>
          <a:noFill/>
          <a:ln w="38100">
            <a:solidFill>
              <a:srgbClr val="E57200"/>
            </a:solidFill>
            <a:prstDash val="solid"/>
          </a:ln>
        </p:spPr>
      </p:sp>
      <p:sp>
        <p:nvSpPr>
          <p:cNvPr id="4" name="Shape 2"/>
          <p:cNvSpPr/>
          <p:nvPr/>
        </p:nvSpPr>
        <p:spPr>
          <a:xfrm>
            <a:off x="731520" y="1463040"/>
            <a:ext cx="54864" cy="411480"/>
          </a:xfrm>
          <a:prstGeom prst="rect">
            <a:avLst/>
          </a:prstGeom>
          <a:solidFill>
            <a:srgbClr val="E57200"/>
          </a:solidFill>
          <a:ln/>
        </p:spPr>
      </p:sp>
      <p:sp>
        <p:nvSpPr>
          <p:cNvPr id="5" name="Text 3"/>
          <p:cNvSpPr/>
          <p:nvPr/>
        </p:nvSpPr>
        <p:spPr>
          <a:xfrm>
            <a:off x="960120" y="1463040"/>
            <a:ext cx="1097280" cy="411480"/>
          </a:xfrm>
          <a:prstGeom prst="rect">
            <a:avLst/>
          </a:prstGeom>
          <a:noFill/>
          <a:ln/>
        </p:spPr>
        <p:txBody>
          <a:bodyPr wrap="square" rtlCol="0" anchor="ctr"/>
          <a:lstStyle/>
          <a:p>
            <a:pPr algn="l" indent="0" marL="0">
              <a:buNone/>
            </a:pPr>
            <a:r>
              <a:rPr lang="en-US" sz="1100" b="1" dirty="0">
                <a:solidFill>
                  <a:srgbClr val="E57200"/>
                </a:solidFill>
                <a:latin typeface="Calibri" pitchFamily="34" charset="0"/>
                <a:ea typeface="Calibri" pitchFamily="34" charset="-122"/>
                <a:cs typeface="Calibri" pitchFamily="34" charset="-120"/>
              </a:rPr>
              <a:t>Product</a:t>
            </a:r>
            <a:endParaRPr lang="en-US" sz="1100" dirty="0"/>
          </a:p>
        </p:txBody>
      </p:sp>
      <p:sp>
        <p:nvSpPr>
          <p:cNvPr id="6" name="Text 4"/>
          <p:cNvSpPr/>
          <p:nvPr/>
        </p:nvSpPr>
        <p:spPr>
          <a:xfrm>
            <a:off x="2103120" y="1463040"/>
            <a:ext cx="6400800" cy="411480"/>
          </a:xfrm>
          <a:prstGeom prst="rect">
            <a:avLst/>
          </a:prstGeom>
          <a:noFill/>
          <a:ln/>
        </p:spPr>
        <p:txBody>
          <a:bodyPr wrap="square" rtlCol="0" anchor="ctr"/>
          <a:lstStyle/>
          <a:p>
            <a:pPr algn="l" indent="0" marL="0">
              <a:buNone/>
            </a:pPr>
            <a:r>
              <a:rPr lang="en-US" sz="1100" dirty="0">
                <a:solidFill>
                  <a:srgbClr val="CBD5E1"/>
                </a:solidFill>
                <a:latin typeface="Calibri" pitchFamily="34" charset="0"/>
                <a:ea typeface="Calibri" pitchFamily="34" charset="-122"/>
                <a:cs typeface="Calibri" pitchFamily="34" charset="-120"/>
              </a:rPr>
              <a:t>LaxIQ — a Streamlit analytics dashboard for UVA Women's Lacrosse coaching staff</a:t>
            </a:r>
            <a:endParaRPr lang="en-US" sz="1100" dirty="0"/>
          </a:p>
        </p:txBody>
      </p:sp>
      <p:sp>
        <p:nvSpPr>
          <p:cNvPr id="7" name="Shape 5"/>
          <p:cNvSpPr/>
          <p:nvPr/>
        </p:nvSpPr>
        <p:spPr>
          <a:xfrm>
            <a:off x="731520" y="1993392"/>
            <a:ext cx="54864" cy="411480"/>
          </a:xfrm>
          <a:prstGeom prst="rect">
            <a:avLst/>
          </a:prstGeom>
          <a:solidFill>
            <a:srgbClr val="E57200"/>
          </a:solidFill>
          <a:ln/>
        </p:spPr>
      </p:sp>
      <p:sp>
        <p:nvSpPr>
          <p:cNvPr id="8" name="Text 6"/>
          <p:cNvSpPr/>
          <p:nvPr/>
        </p:nvSpPr>
        <p:spPr>
          <a:xfrm>
            <a:off x="960120" y="1993392"/>
            <a:ext cx="1097280" cy="411480"/>
          </a:xfrm>
          <a:prstGeom prst="rect">
            <a:avLst/>
          </a:prstGeom>
          <a:noFill/>
          <a:ln/>
        </p:spPr>
        <p:txBody>
          <a:bodyPr wrap="square" rtlCol="0" anchor="ctr"/>
          <a:lstStyle/>
          <a:p>
            <a:pPr algn="l" indent="0" marL="0">
              <a:buNone/>
            </a:pPr>
            <a:r>
              <a:rPr lang="en-US" sz="1100" b="1" dirty="0">
                <a:solidFill>
                  <a:srgbClr val="E57200"/>
                </a:solidFill>
                <a:latin typeface="Calibri" pitchFamily="34" charset="0"/>
                <a:ea typeface="Calibri" pitchFamily="34" charset="-122"/>
                <a:cs typeface="Calibri" pitchFamily="34" charset="-120"/>
              </a:rPr>
              <a:t>Persona</a:t>
            </a:r>
            <a:endParaRPr lang="en-US" sz="1100" dirty="0"/>
          </a:p>
        </p:txBody>
      </p:sp>
      <p:sp>
        <p:nvSpPr>
          <p:cNvPr id="9" name="Text 7"/>
          <p:cNvSpPr/>
          <p:nvPr/>
        </p:nvSpPr>
        <p:spPr>
          <a:xfrm>
            <a:off x="2103120" y="1993392"/>
            <a:ext cx="6400800" cy="411480"/>
          </a:xfrm>
          <a:prstGeom prst="rect">
            <a:avLst/>
          </a:prstGeom>
          <a:noFill/>
          <a:ln/>
        </p:spPr>
        <p:txBody>
          <a:bodyPr wrap="square" rtlCol="0" anchor="ctr"/>
          <a:lstStyle/>
          <a:p>
            <a:pPr algn="l" indent="0" marL="0">
              <a:buNone/>
            </a:pPr>
            <a:r>
              <a:rPr lang="en-US" sz="1100" dirty="0">
                <a:solidFill>
                  <a:srgbClr val="CBD5E1"/>
                </a:solidFill>
                <a:latin typeface="Calibri" pitchFamily="34" charset="0"/>
                <a:ea typeface="Calibri" pitchFamily="34" charset="-122"/>
                <a:cs typeface="Calibri" pitchFamily="34" charset="-120"/>
              </a:rPr>
              <a:t>Coach Sarah Mitchell — Associate Head Coach needing fast, visual game insights</a:t>
            </a:r>
            <a:endParaRPr lang="en-US" sz="1100" dirty="0"/>
          </a:p>
        </p:txBody>
      </p:sp>
      <p:sp>
        <p:nvSpPr>
          <p:cNvPr id="10" name="Shape 8"/>
          <p:cNvSpPr/>
          <p:nvPr/>
        </p:nvSpPr>
        <p:spPr>
          <a:xfrm>
            <a:off x="731520" y="2523744"/>
            <a:ext cx="54864" cy="411480"/>
          </a:xfrm>
          <a:prstGeom prst="rect">
            <a:avLst/>
          </a:prstGeom>
          <a:solidFill>
            <a:srgbClr val="E57200"/>
          </a:solidFill>
          <a:ln/>
        </p:spPr>
      </p:sp>
      <p:sp>
        <p:nvSpPr>
          <p:cNvPr id="11" name="Text 9"/>
          <p:cNvSpPr/>
          <p:nvPr/>
        </p:nvSpPr>
        <p:spPr>
          <a:xfrm>
            <a:off x="960120" y="2523744"/>
            <a:ext cx="1097280" cy="411480"/>
          </a:xfrm>
          <a:prstGeom prst="rect">
            <a:avLst/>
          </a:prstGeom>
          <a:noFill/>
          <a:ln/>
        </p:spPr>
        <p:txBody>
          <a:bodyPr wrap="square" rtlCol="0" anchor="ctr"/>
          <a:lstStyle/>
          <a:p>
            <a:pPr algn="l" indent="0" marL="0">
              <a:buNone/>
            </a:pPr>
            <a:r>
              <a:rPr lang="en-US" sz="1100" b="1" dirty="0">
                <a:solidFill>
                  <a:srgbClr val="E57200"/>
                </a:solidFill>
                <a:latin typeface="Calibri" pitchFamily="34" charset="0"/>
                <a:ea typeface="Calibri" pitchFamily="34" charset="-122"/>
                <a:cs typeface="Calibri" pitchFamily="34" charset="-120"/>
              </a:rPr>
              <a:t>Usability</a:t>
            </a:r>
            <a:endParaRPr lang="en-US" sz="1100" dirty="0"/>
          </a:p>
        </p:txBody>
      </p:sp>
      <p:sp>
        <p:nvSpPr>
          <p:cNvPr id="12" name="Text 10"/>
          <p:cNvSpPr/>
          <p:nvPr/>
        </p:nvSpPr>
        <p:spPr>
          <a:xfrm>
            <a:off x="2103120" y="2523744"/>
            <a:ext cx="6400800" cy="411480"/>
          </a:xfrm>
          <a:prstGeom prst="rect">
            <a:avLst/>
          </a:prstGeom>
          <a:noFill/>
          <a:ln/>
        </p:spPr>
        <p:txBody>
          <a:bodyPr wrap="square" rtlCol="0" anchor="ctr"/>
          <a:lstStyle/>
          <a:p>
            <a:pPr algn="l" indent="0" marL="0">
              <a:buNone/>
            </a:pPr>
            <a:r>
              <a:rPr lang="en-US" sz="1100" dirty="0">
                <a:solidFill>
                  <a:srgbClr val="CBD5E1"/>
                </a:solidFill>
                <a:latin typeface="Calibri" pitchFamily="34" charset="0"/>
                <a:ea typeface="Calibri" pitchFamily="34" charset="-122"/>
                <a:cs typeface="Calibri" pitchFamily="34" charset="-120"/>
              </a:rPr>
              <a:t>ISO + Five Components targets: ≥90% task completion, ≤30s first-time, SUS ≥75</a:t>
            </a:r>
            <a:endParaRPr lang="en-US" sz="1100" dirty="0"/>
          </a:p>
        </p:txBody>
      </p:sp>
      <p:sp>
        <p:nvSpPr>
          <p:cNvPr id="13" name="Shape 11"/>
          <p:cNvSpPr/>
          <p:nvPr/>
        </p:nvSpPr>
        <p:spPr>
          <a:xfrm>
            <a:off x="731520" y="3054096"/>
            <a:ext cx="54864" cy="411480"/>
          </a:xfrm>
          <a:prstGeom prst="rect">
            <a:avLst/>
          </a:prstGeom>
          <a:solidFill>
            <a:srgbClr val="E57200"/>
          </a:solidFill>
          <a:ln/>
        </p:spPr>
      </p:sp>
      <p:sp>
        <p:nvSpPr>
          <p:cNvPr id="14" name="Text 12"/>
          <p:cNvSpPr/>
          <p:nvPr/>
        </p:nvSpPr>
        <p:spPr>
          <a:xfrm>
            <a:off x="960120" y="3054096"/>
            <a:ext cx="1097280" cy="411480"/>
          </a:xfrm>
          <a:prstGeom prst="rect">
            <a:avLst/>
          </a:prstGeom>
          <a:noFill/>
          <a:ln/>
        </p:spPr>
        <p:txBody>
          <a:bodyPr wrap="square" rtlCol="0" anchor="ctr"/>
          <a:lstStyle/>
          <a:p>
            <a:pPr algn="l" indent="0" marL="0">
              <a:buNone/>
            </a:pPr>
            <a:r>
              <a:rPr lang="en-US" sz="1100" b="1" dirty="0">
                <a:solidFill>
                  <a:srgbClr val="E57200"/>
                </a:solidFill>
                <a:latin typeface="Calibri" pitchFamily="34" charset="0"/>
                <a:ea typeface="Calibri" pitchFamily="34" charset="-122"/>
                <a:cs typeface="Calibri" pitchFamily="34" charset="-120"/>
              </a:rPr>
              <a:t>Principles</a:t>
            </a:r>
            <a:endParaRPr lang="en-US" sz="1100" dirty="0"/>
          </a:p>
        </p:txBody>
      </p:sp>
      <p:sp>
        <p:nvSpPr>
          <p:cNvPr id="15" name="Text 13"/>
          <p:cNvSpPr/>
          <p:nvPr/>
        </p:nvSpPr>
        <p:spPr>
          <a:xfrm>
            <a:off x="2103120" y="3054096"/>
            <a:ext cx="6400800" cy="411480"/>
          </a:xfrm>
          <a:prstGeom prst="rect">
            <a:avLst/>
          </a:prstGeom>
          <a:noFill/>
          <a:ln/>
        </p:spPr>
        <p:txBody>
          <a:bodyPr wrap="square" rtlCol="0" anchor="ctr"/>
          <a:lstStyle/>
          <a:p>
            <a:pPr algn="l" indent="0" marL="0">
              <a:buNone/>
            </a:pPr>
            <a:r>
              <a:rPr lang="en-US" sz="1100" dirty="0">
                <a:solidFill>
                  <a:srgbClr val="CBD5E1"/>
                </a:solidFill>
                <a:latin typeface="Calibri" pitchFamily="34" charset="0"/>
                <a:ea typeface="Calibri" pitchFamily="34" charset="-122"/>
                <a:cs typeface="Calibri" pitchFamily="34" charset="-120"/>
              </a:rPr>
              <a:t>5 design principles: Progressive Disclosure, Recognition &gt; Recall, Immediate Feedback, Consistency, Error Prevention</a:t>
            </a:r>
            <a:endParaRPr lang="en-US" sz="1100" dirty="0"/>
          </a:p>
        </p:txBody>
      </p:sp>
      <p:sp>
        <p:nvSpPr>
          <p:cNvPr id="16" name="Shape 14"/>
          <p:cNvSpPr/>
          <p:nvPr/>
        </p:nvSpPr>
        <p:spPr>
          <a:xfrm>
            <a:off x="731520" y="3584448"/>
            <a:ext cx="54864" cy="411480"/>
          </a:xfrm>
          <a:prstGeom prst="rect">
            <a:avLst/>
          </a:prstGeom>
          <a:solidFill>
            <a:srgbClr val="E57200"/>
          </a:solidFill>
          <a:ln/>
        </p:spPr>
      </p:sp>
      <p:sp>
        <p:nvSpPr>
          <p:cNvPr id="17" name="Text 15"/>
          <p:cNvSpPr/>
          <p:nvPr/>
        </p:nvSpPr>
        <p:spPr>
          <a:xfrm>
            <a:off x="960120" y="3584448"/>
            <a:ext cx="1097280" cy="411480"/>
          </a:xfrm>
          <a:prstGeom prst="rect">
            <a:avLst/>
          </a:prstGeom>
          <a:noFill/>
          <a:ln/>
        </p:spPr>
        <p:txBody>
          <a:bodyPr wrap="square" rtlCol="0" anchor="ctr"/>
          <a:lstStyle/>
          <a:p>
            <a:pPr algn="l" indent="0" marL="0">
              <a:buNone/>
            </a:pPr>
            <a:r>
              <a:rPr lang="en-US" sz="1100" b="1" dirty="0">
                <a:solidFill>
                  <a:srgbClr val="E57200"/>
                </a:solidFill>
                <a:latin typeface="Calibri" pitchFamily="34" charset="0"/>
                <a:ea typeface="Calibri" pitchFamily="34" charset="-122"/>
                <a:cs typeface="Calibri" pitchFamily="34" charset="-120"/>
              </a:rPr>
              <a:t>Heuristics</a:t>
            </a:r>
            <a:endParaRPr lang="en-US" sz="1100" dirty="0"/>
          </a:p>
        </p:txBody>
      </p:sp>
      <p:sp>
        <p:nvSpPr>
          <p:cNvPr id="18" name="Text 16"/>
          <p:cNvSpPr/>
          <p:nvPr/>
        </p:nvSpPr>
        <p:spPr>
          <a:xfrm>
            <a:off x="2103120" y="3584448"/>
            <a:ext cx="6400800" cy="411480"/>
          </a:xfrm>
          <a:prstGeom prst="rect">
            <a:avLst/>
          </a:prstGeom>
          <a:noFill/>
          <a:ln/>
        </p:spPr>
        <p:txBody>
          <a:bodyPr wrap="square" rtlCol="0" anchor="ctr"/>
          <a:lstStyle/>
          <a:p>
            <a:pPr algn="l" indent="0" marL="0">
              <a:buNone/>
            </a:pPr>
            <a:r>
              <a:rPr lang="en-US" sz="1100" dirty="0">
                <a:solidFill>
                  <a:srgbClr val="CBD5E1"/>
                </a:solidFill>
                <a:latin typeface="Calibri" pitchFamily="34" charset="0"/>
                <a:ea typeface="Calibri" pitchFamily="34" charset="-122"/>
                <a:cs typeface="Calibri" pitchFamily="34" charset="-120"/>
              </a:rPr>
              <a:t>3 issues found in competing platforms — all addressed by LaxIQ's design</a:t>
            </a:r>
            <a:endParaRPr lang="en-US" sz="1100" dirty="0"/>
          </a:p>
        </p:txBody>
      </p:sp>
      <p:sp>
        <p:nvSpPr>
          <p:cNvPr id="19" name="Shape 17"/>
          <p:cNvSpPr/>
          <p:nvPr/>
        </p:nvSpPr>
        <p:spPr>
          <a:xfrm>
            <a:off x="731520" y="4114800"/>
            <a:ext cx="54864" cy="411480"/>
          </a:xfrm>
          <a:prstGeom prst="rect">
            <a:avLst/>
          </a:prstGeom>
          <a:solidFill>
            <a:srgbClr val="E57200"/>
          </a:solidFill>
          <a:ln/>
        </p:spPr>
      </p:sp>
      <p:sp>
        <p:nvSpPr>
          <p:cNvPr id="20" name="Text 18"/>
          <p:cNvSpPr/>
          <p:nvPr/>
        </p:nvSpPr>
        <p:spPr>
          <a:xfrm>
            <a:off x="960120" y="4114800"/>
            <a:ext cx="1097280" cy="411480"/>
          </a:xfrm>
          <a:prstGeom prst="rect">
            <a:avLst/>
          </a:prstGeom>
          <a:noFill/>
          <a:ln/>
        </p:spPr>
        <p:txBody>
          <a:bodyPr wrap="square" rtlCol="0" anchor="ctr"/>
          <a:lstStyle/>
          <a:p>
            <a:pPr algn="l" indent="0" marL="0">
              <a:buNone/>
            </a:pPr>
            <a:r>
              <a:rPr lang="en-US" sz="1100" b="1" dirty="0">
                <a:solidFill>
                  <a:srgbClr val="E57200"/>
                </a:solidFill>
                <a:latin typeface="Calibri" pitchFamily="34" charset="0"/>
                <a:ea typeface="Calibri" pitchFamily="34" charset="-122"/>
                <a:cs typeface="Calibri" pitchFamily="34" charset="-120"/>
              </a:rPr>
              <a:t>Test Plan</a:t>
            </a:r>
            <a:endParaRPr lang="en-US" sz="1100" dirty="0"/>
          </a:p>
        </p:txBody>
      </p:sp>
      <p:sp>
        <p:nvSpPr>
          <p:cNvPr id="21" name="Text 19"/>
          <p:cNvSpPr/>
          <p:nvPr/>
        </p:nvSpPr>
        <p:spPr>
          <a:xfrm>
            <a:off x="2103120" y="4114800"/>
            <a:ext cx="6400800" cy="411480"/>
          </a:xfrm>
          <a:prstGeom prst="rect">
            <a:avLst/>
          </a:prstGeom>
          <a:noFill/>
          <a:ln/>
        </p:spPr>
        <p:txBody>
          <a:bodyPr wrap="square" rtlCol="0" anchor="ctr"/>
          <a:lstStyle/>
          <a:p>
            <a:pPr algn="l" indent="0" marL="0">
              <a:buNone/>
            </a:pPr>
            <a:r>
              <a:rPr lang="en-US" sz="1100" dirty="0">
                <a:solidFill>
                  <a:srgbClr val="CBD5E1"/>
                </a:solidFill>
                <a:latin typeface="Calibri" pitchFamily="34" charset="0"/>
                <a:ea typeface="Calibri" pitchFamily="34" charset="-122"/>
                <a:cs typeface="Calibri" pitchFamily="34" charset="-120"/>
              </a:rPr>
              <a:t>3 think-aloud tasks + A/B test on Coach View vs Analyst View default</a:t>
            </a:r>
            <a:endParaRPr lang="en-US" sz="1100" dirty="0"/>
          </a:p>
        </p:txBody>
      </p:sp>
      <p:sp>
        <p:nvSpPr>
          <p:cNvPr id="22" name="Shape 20"/>
          <p:cNvSpPr/>
          <p:nvPr/>
        </p:nvSpPr>
        <p:spPr>
          <a:xfrm>
            <a:off x="0" y="4800600"/>
            <a:ext cx="9144000" cy="342900"/>
          </a:xfrm>
          <a:prstGeom prst="rect">
            <a:avLst/>
          </a:prstGeom>
          <a:solidFill>
            <a:srgbClr val="E57200"/>
          </a:solidFill>
          <a:ln/>
        </p:spPr>
      </p:sp>
      <p:sp>
        <p:nvSpPr>
          <p:cNvPr id="23" name="Text 21"/>
          <p:cNvSpPr/>
          <p:nvPr/>
        </p:nvSpPr>
        <p:spPr>
          <a:xfrm>
            <a:off x="731520" y="4389120"/>
            <a:ext cx="7680960" cy="320040"/>
          </a:xfrm>
          <a:prstGeom prst="rect">
            <a:avLst/>
          </a:prstGeom>
          <a:noFill/>
          <a:ln/>
        </p:spPr>
        <p:txBody>
          <a:bodyPr wrap="square"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LaxIQ  |  DS 5023  |  Faizan Khan  |  University of Virginia</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D4B"/>
        </a:solidFill>
      </p:bgPr>
    </p:bg>
    <p:spTree>
      <p:nvGrpSpPr>
        <p:cNvPr id="1" name=""/>
        <p:cNvGrpSpPr/>
        <p:nvPr/>
      </p:nvGrpSpPr>
      <p:grpSpPr>
        <a:xfrm>
          <a:off x="0" y="0"/>
          <a:ext cx="0" cy="0"/>
          <a:chOff x="0" y="0"/>
          <a:chExt cx="0" cy="0"/>
        </a:xfrm>
      </p:grpSpPr>
      <p:sp>
        <p:nvSpPr>
          <p:cNvPr id="2" name="Text 0"/>
          <p:cNvSpPr/>
          <p:nvPr/>
        </p:nvSpPr>
        <p:spPr>
          <a:xfrm>
            <a:off x="0" y="1371600"/>
            <a:ext cx="9144000" cy="10972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Thank You</a:t>
            </a:r>
            <a:endParaRPr lang="en-US" sz="4800" dirty="0"/>
          </a:p>
        </p:txBody>
      </p:sp>
      <p:sp>
        <p:nvSpPr>
          <p:cNvPr id="3" name="Shape 1"/>
          <p:cNvSpPr/>
          <p:nvPr/>
        </p:nvSpPr>
        <p:spPr>
          <a:xfrm>
            <a:off x="3200400" y="2651760"/>
            <a:ext cx="2743200" cy="0"/>
          </a:xfrm>
          <a:prstGeom prst="line">
            <a:avLst/>
          </a:prstGeom>
          <a:noFill/>
          <a:ln w="38100">
            <a:solidFill>
              <a:srgbClr val="E57200"/>
            </a:solidFill>
            <a:prstDash val="solid"/>
          </a:ln>
        </p:spPr>
      </p:sp>
      <p:sp>
        <p:nvSpPr>
          <p:cNvPr id="4" name="Text 2"/>
          <p:cNvSpPr/>
          <p:nvPr/>
        </p:nvSpPr>
        <p:spPr>
          <a:xfrm>
            <a:off x="0" y="2926080"/>
            <a:ext cx="9144000" cy="914400"/>
          </a:xfrm>
          <a:prstGeom prst="rect">
            <a:avLst/>
          </a:prstGeom>
          <a:noFill/>
          <a:ln/>
        </p:spPr>
        <p:txBody>
          <a:bodyPr wrap="square"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LaxIQ — UVA Women's Lacrosse Analytics</a:t>
            </a:r>
            <a:endParaRPr lang="en-US" sz="1400" dirty="0"/>
          </a:p>
          <a:p>
            <a:pPr algn="ctr" indent="0" marL="0">
              <a:buNone/>
            </a:pPr>
            <a:r>
              <a:rPr lang="en-US" sz="1200" dirty="0">
                <a:solidFill>
                  <a:srgbClr val="94A3B8"/>
                </a:solidFill>
                <a:latin typeface="Calibri" pitchFamily="34" charset="0"/>
                <a:ea typeface="Calibri" pitchFamily="34" charset="-122"/>
                <a:cs typeface="Calibri" pitchFamily="34" charset="-120"/>
              </a:rPr>
              <a:t>Faizan Khan  |  DS 5023  |  Spring 2026</a:t>
            </a:r>
            <a:endParaRPr lang="en-US" sz="1400" dirty="0"/>
          </a:p>
        </p:txBody>
      </p:sp>
      <p:sp>
        <p:nvSpPr>
          <p:cNvPr id="5" name="Shape 3"/>
          <p:cNvSpPr/>
          <p:nvPr/>
        </p:nvSpPr>
        <p:spPr>
          <a:xfrm>
            <a:off x="0" y="4800600"/>
            <a:ext cx="9144000" cy="342900"/>
          </a:xfrm>
          <a:prstGeom prst="rect">
            <a:avLst/>
          </a:prstGeom>
          <a:solidFill>
            <a:srgbClr val="E57200"/>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LaxIQ — Milestone 1: Define, Understand Users, and Set Usability Goals</dc:title>
  <dc:subject>PptxGenJS Presentation</dc:subject>
  <dc:creator>Faizan Khan</dc:creator>
  <cp:lastModifiedBy>Faizan Khan</cp:lastModifiedBy>
  <cp:revision>1</cp:revision>
  <dcterms:created xsi:type="dcterms:W3CDTF">2026-04-27T05:59:04Z</dcterms:created>
  <dcterms:modified xsi:type="dcterms:W3CDTF">2026-04-27T05:59:04Z</dcterms:modified>
</cp:coreProperties>
</file>
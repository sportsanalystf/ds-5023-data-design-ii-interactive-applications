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D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3" name="Shape 1"/>
          <p:cNvSpPr/>
          <p:nvPr/>
        </p:nvSpPr>
        <p:spPr>
          <a:xfrm>
            <a:off x="5303520" y="0"/>
            <a:ext cx="1371600" cy="5143500"/>
          </a:xfrm>
          <a:prstGeom prst="rect">
            <a:avLst/>
          </a:prstGeom>
          <a:solidFill>
            <a:srgbClr val="E57200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LaxIQ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UVA Women's Lacrosse Analytics Dashboard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560320"/>
            <a:ext cx="4114800" cy="457200"/>
          </a:xfrm>
          <a:prstGeom prst="rect">
            <a:avLst/>
          </a:prstGeom>
          <a:solidFill>
            <a:srgbClr val="E57200">
              <a:alpha val="20000"/>
            </a:srgbClr>
          </a:solidFill>
          <a:ln w="12700">
            <a:solidFill>
              <a:srgbClr val="E572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5603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5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2: BUILD, TEST &amp; DESIGN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 5023 — Spring 2026</a:t>
            </a:r>
            <a:endParaRPr lang="en-US" sz="12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Faizan Khan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Virginia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0" y="457200"/>
            <a:ext cx="274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232D4B">
                    <a:alpha val="3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M2</a:t>
            </a:r>
            <a:endParaRPr lang="en-US" sz="12000" dirty="0"/>
          </a:p>
        </p:txBody>
      </p:sp>
      <p:sp>
        <p:nvSpPr>
          <p:cNvPr id="10" name="Text 8"/>
          <p:cNvSpPr/>
          <p:nvPr/>
        </p:nvSpPr>
        <p:spPr>
          <a:xfrm>
            <a:off x="5943600" y="4206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Sections  |  100 Points  |  Exhaustive Coverage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 — Milestone 2 Deliverables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8046720" cy="0"/>
          </a:xfrm>
          <a:prstGeom prst="line">
            <a:avLst/>
          </a:prstGeom>
          <a:noFill/>
          <a:ln w="12700">
            <a:solidFill>
              <a:srgbClr val="E0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80467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960120"/>
            <a:ext cx="54864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96012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09728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91640" y="960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Architecture Plan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691640" y="12801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pts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840480" y="9601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list, wireframes, navigation flow, design annotations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1691640"/>
            <a:ext cx="80467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48640" y="1691640"/>
            <a:ext cx="54864" cy="640080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169164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572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82880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691640" y="1691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Application Implementation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691640" y="2011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pts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840480" y="16916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Layout, widgets (9+), caching, performance &amp; data display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48640" y="2423160"/>
            <a:ext cx="80467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48640" y="2423160"/>
            <a:ext cx="54864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18"/>
          <p:cNvSpPr/>
          <p:nvPr/>
        </p:nvSpPr>
        <p:spPr>
          <a:xfrm>
            <a:off x="731520" y="242316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560320"/>
            <a:ext cx="365760" cy="3657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691640" y="2423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1691640" y="2743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pts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3840480" y="24231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chart types, interactive filtering, persona alignment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548640" y="3154680"/>
            <a:ext cx="80467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548640" y="3154680"/>
            <a:ext cx="54864" cy="6400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4"/>
          <p:cNvSpPr/>
          <p:nvPr/>
        </p:nvSpPr>
        <p:spPr>
          <a:xfrm>
            <a:off x="731520" y="315468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3291840"/>
            <a:ext cx="365760" cy="36576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691640" y="3154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Justification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1691640" y="34747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pts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3840480" y="31546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M1→M2 evolution, widget rationale, chart selection, trade-offs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548640" y="3886200"/>
            <a:ext cx="80467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548640" y="3886200"/>
            <a:ext cx="54864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6" name="Text 30"/>
          <p:cNvSpPr/>
          <p:nvPr/>
        </p:nvSpPr>
        <p:spPr>
          <a:xfrm>
            <a:off x="731520" y="388620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4023360"/>
            <a:ext cx="365760" cy="36576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1691640" y="3886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Design Review</a:t>
            </a:r>
            <a:endParaRPr lang="en-US" sz="1400" dirty="0"/>
          </a:p>
        </p:txBody>
      </p:sp>
      <p:sp>
        <p:nvSpPr>
          <p:cNvPr id="39" name="Text 32"/>
          <p:cNvSpPr/>
          <p:nvPr/>
        </p:nvSpPr>
        <p:spPr>
          <a:xfrm>
            <a:off x="1691640" y="4206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pts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3840480" y="38862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Typography, spacing, colors, states, consistency, IA</a:t>
            </a:r>
            <a:endParaRPr lang="en-US" sz="1100" dirty="0"/>
          </a:p>
        </p:txBody>
      </p:sp>
      <p:sp>
        <p:nvSpPr>
          <p:cNvPr id="41" name="Shape 34"/>
          <p:cNvSpPr/>
          <p:nvPr/>
        </p:nvSpPr>
        <p:spPr>
          <a:xfrm>
            <a:off x="3200400" y="4709160"/>
            <a:ext cx="2743200" cy="320040"/>
          </a:xfrm>
          <a:prstGeom prst="rect">
            <a:avLst/>
          </a:prstGeom>
          <a:solidFill>
            <a:srgbClr val="232D4B"/>
          </a:solidFill>
          <a:ln/>
        </p:spPr>
      </p:sp>
      <p:sp>
        <p:nvSpPr>
          <p:cNvPr id="42" name="Text 35"/>
          <p:cNvSpPr/>
          <p:nvPr/>
        </p:nvSpPr>
        <p:spPr>
          <a:xfrm>
            <a:off x="32004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100 POINTS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32D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463040"/>
            <a:ext cx="1097280" cy="1097280"/>
          </a:xfrm>
          <a:prstGeom prst="ellipse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63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011680" y="12801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Page Architecture Plan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011680" y="20116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List, Wireframes, Navigation &amp; Design Annotations  |  20 pts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5720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A: Page List — Purposes &amp; Persona Goals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8046720" cy="0"/>
          </a:xfrm>
          <a:prstGeom prst="line">
            <a:avLst/>
          </a:prstGeom>
          <a:noFill/>
          <a:ln w="12700">
            <a:solidFill>
              <a:srgbClr val="E0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868680"/>
            <a:ext cx="804672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868680"/>
            <a:ext cx="54864" cy="896112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868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5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— Season Overview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188720"/>
            <a:ext cx="7360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on the app and see season-at-a-glance: team record, 8 KPI metrics, national stats grid, schedule, next-game preview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51560" y="15270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Goal: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057400" y="150876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Sarah needs instant season context before deep-dive analysis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856232"/>
            <a:ext cx="804672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48640" y="1856232"/>
            <a:ext cx="54864" cy="8961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18562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Analysis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77240" y="2176272"/>
            <a:ext cx="7360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game and view comprehensive breakdown: win probability chart, quarter-by-quarter scoring, letter grades (A–F), player stats, play-by-play</a:t>
            </a:r>
            <a:endParaRPr lang="en-US" sz="10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496312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051560" y="2514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Goal: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2057400" y="2496312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reviews specific game to understand what happened and why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548640" y="2843784"/>
            <a:ext cx="804672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48640" y="2843784"/>
            <a:ext cx="54864" cy="89611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18"/>
          <p:cNvSpPr/>
          <p:nvPr/>
        </p:nvSpPr>
        <p:spPr>
          <a:xfrm>
            <a:off x="777240" y="284378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Intelligence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777240" y="3163824"/>
            <a:ext cx="7360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individual and comparative player data: tier rankings, radar charts, head-to-head comparison, draw analysis, goaltending metrics</a:t>
            </a:r>
            <a:endParaRPr lang="en-US" sz="10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483864"/>
            <a:ext cx="201168" cy="20116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051560" y="35021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Goal: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2057400" y="3483864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evaluates personnel for lineup decisions and development areas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548640" y="3831336"/>
            <a:ext cx="804672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548640" y="3831336"/>
            <a:ext cx="54864" cy="8961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9" name="Text 24"/>
          <p:cNvSpPr/>
          <p:nvPr/>
        </p:nvSpPr>
        <p:spPr>
          <a:xfrm>
            <a:off x="777240" y="383133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LaxIQ Assistant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777240" y="4151376"/>
            <a:ext cx="7360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Q&amp;A sidebar on every page; natural language queries answered with domain-specific insights and data citations</a:t>
            </a:r>
            <a:endParaRPr lang="en-US" sz="10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471416"/>
            <a:ext cx="201168" cy="20116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051560" y="448970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Goal: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2057400" y="4471416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gets fast answers without leaving the app or knowing SQL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B: Wireframes — Home (Season Overview)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8046720" cy="0"/>
          </a:xfrm>
          <a:prstGeom prst="line">
            <a:avLst/>
          </a:prstGeom>
          <a:noFill/>
          <a:ln w="12700">
            <a:solidFill>
              <a:srgbClr val="E0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structure: Header with logo + sidebar toggle | Sidebar (nav links, quick info, assistant panel) | Main content area with responsive grid layout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7680960" cy="3017520"/>
          </a:xfrm>
          <a:prstGeom prst="rect">
            <a:avLst/>
          </a:prstGeom>
          <a:solidFill>
            <a:srgbClr val="F0F1F4"/>
          </a:solidFill>
          <a:ln w="12700">
            <a:solidFill>
              <a:srgbClr val="E0E4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371600"/>
            <a:ext cx="7680960" cy="320040"/>
          </a:xfrm>
          <a:prstGeom prst="rect">
            <a:avLst/>
          </a:prstGeom>
          <a:solidFill>
            <a:srgbClr val="232D4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44475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LaxIQ Header | Logo + Menu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691640"/>
            <a:ext cx="1097280" cy="2697480"/>
          </a:xfrm>
          <a:prstGeom prst="rect">
            <a:avLst/>
          </a:prstGeom>
          <a:solidFill>
            <a:srgbClr val="E8EBEF"/>
          </a:solidFill>
          <a:ln w="12700">
            <a:solidFill>
              <a:srgbClr val="E0E4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5603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+ Chat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920240" y="1691640"/>
            <a:ext cx="64922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57400" y="1737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Record (4W-2L)  |  Next Game: Friday 7pm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920240" y="2148840"/>
            <a:ext cx="6492240" cy="914400"/>
          </a:xfrm>
          <a:prstGeom prst="rect">
            <a:avLst/>
          </a:prstGeom>
          <a:solidFill>
            <a:srgbClr val="F9FAFB"/>
          </a:solidFill>
          <a:ln w="6350">
            <a:solidFill>
              <a:srgbClr val="E0E4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57400" y="237744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Grid (8): Goals/Game, Shots/Game, Possession %, FO %, Scoring Efficiency, Turnover Ratio, Goalie Saves, Discipline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920240" y="3108960"/>
            <a:ext cx="64922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57400" y="356616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Schedule (all games with W/L status, opponent, date, clickable links)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4526280"/>
            <a:ext cx="8046720" cy="457200"/>
          </a:xfrm>
          <a:prstGeom prst="rect">
            <a:avLst/>
          </a:prstGeom>
          <a:solidFill>
            <a:srgbClr val="FFF3CD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572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Notes: Responsive grid (3 cols on desktop, 1 on mobile)  |  KPI cards use accent colors by category  |  Schedule sortable by date/opponent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B: Wireframes — Game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8046720" cy="0"/>
          </a:xfrm>
          <a:prstGeom prst="line">
            <a:avLst/>
          </a:prstGeom>
          <a:noFill/>
          <a:ln w="12700">
            <a:solidFill>
              <a:srgbClr val="E0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Layout: Game selector dropdown at top | Horizontal tabs: Overview, Quarter Breakdown, Grades, Player Stats, Play-by-Play | Chart/table content areas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280160"/>
            <a:ext cx="7680960" cy="3108960"/>
          </a:xfrm>
          <a:prstGeom prst="rect">
            <a:avLst/>
          </a:prstGeom>
          <a:solidFill>
            <a:srgbClr val="F0F1F4"/>
          </a:solidFill>
          <a:ln w="12700">
            <a:solidFill>
              <a:srgbClr val="E0E4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371600"/>
            <a:ext cx="22860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38988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Game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22960" y="1691640"/>
            <a:ext cx="1371600" cy="228600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6916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286000" y="1691640"/>
            <a:ext cx="1371600" cy="228600"/>
          </a:xfrm>
          <a:prstGeom prst="rect">
            <a:avLst/>
          </a:prstGeom>
          <a:solidFill>
            <a:srgbClr val="E8EBEF"/>
          </a:solidFill>
          <a:ln/>
        </p:spPr>
      </p:sp>
      <p:sp>
        <p:nvSpPr>
          <p:cNvPr id="13" name="Text 11"/>
          <p:cNvSpPr/>
          <p:nvPr/>
        </p:nvSpPr>
        <p:spPr>
          <a:xfrm>
            <a:off x="2286000" y="16916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Q-by-Q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749040" y="1691640"/>
            <a:ext cx="1371600" cy="228600"/>
          </a:xfrm>
          <a:prstGeom prst="rect">
            <a:avLst/>
          </a:prstGeom>
          <a:solidFill>
            <a:srgbClr val="E8EBEF"/>
          </a:solidFill>
          <a:ln/>
        </p:spPr>
      </p:sp>
      <p:sp>
        <p:nvSpPr>
          <p:cNvPr id="15" name="Text 13"/>
          <p:cNvSpPr/>
          <p:nvPr/>
        </p:nvSpPr>
        <p:spPr>
          <a:xfrm>
            <a:off x="3749040" y="16916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212080" y="1691640"/>
            <a:ext cx="1371600" cy="228600"/>
          </a:xfrm>
          <a:prstGeom prst="rect">
            <a:avLst/>
          </a:prstGeom>
          <a:solidFill>
            <a:srgbClr val="E8EBEF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0" y="16916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6675120" y="1691640"/>
            <a:ext cx="1371600" cy="228600"/>
          </a:xfrm>
          <a:prstGeom prst="rect">
            <a:avLst/>
          </a:prstGeom>
          <a:solidFill>
            <a:srgbClr val="E8EBEF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16916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Play-by-Play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822960" y="1965960"/>
            <a:ext cx="74980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Probability Chart (Plotly line chart)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22960" y="3108960"/>
            <a:ext cx="7498080" cy="777240"/>
          </a:xfrm>
          <a:prstGeom prst="rect">
            <a:avLst/>
          </a:prstGeom>
          <a:solidFill>
            <a:srgbClr val="F9FAFB"/>
          </a:solidFill>
          <a:ln w="6350">
            <a:solidFill>
              <a:srgbClr val="E0E4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337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Cards: Offense | Defense | Transition | Draw Unit | Goalkeeping | Discipline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8640" y="4526280"/>
            <a:ext cx="8046720" cy="457200"/>
          </a:xfrm>
          <a:prstGeom prst="rect">
            <a:avLst/>
          </a:prstGeom>
          <a:solidFill>
            <a:srgbClr val="FFF3CD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572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Notes: Tabs use st.tabs() for clean navigation | Grades color-coded (A=green, B=blue, C=amber, D/F=red) | Charts cached for performance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C: Wireframes — Player Intelligence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8046720" cy="0"/>
          </a:xfrm>
          <a:prstGeom prst="line">
            <a:avLst/>
          </a:prstGeom>
          <a:noFill/>
          <a:ln w="12700">
            <a:solidFill>
              <a:srgbClr val="E0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Layout: Radio buttons (View: Individual | Compare) | Filter by tier or position | Radar charts + stats tables | Head-to-head layout on compare view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280160"/>
            <a:ext cx="7680960" cy="3108960"/>
          </a:xfrm>
          <a:prstGeom prst="rect">
            <a:avLst/>
          </a:prstGeom>
          <a:solidFill>
            <a:srgbClr val="F0F1F4"/>
          </a:solidFill>
          <a:ln w="12700">
            <a:solidFill>
              <a:srgbClr val="E0E4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371600"/>
            <a:ext cx="1828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389888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 |  Compare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0" y="1371600"/>
            <a:ext cx="16459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1389888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Tier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480560" y="1371600"/>
            <a:ext cx="37490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138988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Player(s)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22960" y="1737360"/>
            <a:ext cx="36576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23317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Chart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(Shooting, Draw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Control, Passing,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Defense, ATCO)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0" y="1737360"/>
            <a:ext cx="37490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23317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Table: Goals, Assists, ATCO, Caused TOs, Shots, % Accuracy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22960" y="3474720"/>
            <a:ext cx="7498080" cy="777240"/>
          </a:xfrm>
          <a:prstGeom prst="rect">
            <a:avLst/>
          </a:prstGeom>
          <a:solidFill>
            <a:srgbClr val="F9FAFB"/>
          </a:solidFill>
          <a:ln w="6350">
            <a:solidFill>
              <a:srgbClr val="E0E4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703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View: Side-by-side radar charts + stats for 2 selected players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48640" y="4526280"/>
            <a:ext cx="8046720" cy="457200"/>
          </a:xfrm>
          <a:prstGeom prst="rect">
            <a:avLst/>
          </a:prstGeom>
          <a:solidFill>
            <a:srgbClr val="FFF3CD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572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Notes: Radar charts use st.plotly_chart() | Tier badges with color coding | Compare mode uses st.columns(2) for side-by-side layout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D: Navigation Flow &amp; Information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8046720" cy="0"/>
          </a:xfrm>
          <a:prstGeom prst="line">
            <a:avLst/>
          </a:prstGeom>
          <a:noFill/>
          <a:ln w="12700">
            <a:solidFill>
              <a:srgbClr val="E0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Multi-page Streamlit app with sidebar navigation. LaxIQ Assistant is a sidebar panel accessible from all pages.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280160"/>
            <a:ext cx="1371600" cy="457200"/>
          </a:xfrm>
          <a:prstGeom prst="rect">
            <a:avLst/>
          </a:prstGeom>
          <a:solidFill>
            <a:srgbClr val="E57200"/>
          </a:solidFill>
          <a:ln w="12700">
            <a:solidFill>
              <a:srgbClr val="E572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280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1280160"/>
            <a:ext cx="164592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2801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Analysis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280160"/>
            <a:ext cx="182880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280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Intell.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040880" y="1280160"/>
            <a:ext cx="164592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0" y="12801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LaxIQ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03120" y="1508760"/>
            <a:ext cx="4572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206240" y="1508760"/>
            <a:ext cx="5486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583680" y="1508760"/>
            <a:ext cx="4572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31520" y="2377440"/>
            <a:ext cx="7955280" cy="411480"/>
          </a:xfrm>
          <a:prstGeom prst="rect">
            <a:avLst/>
          </a:prstGeom>
          <a:solidFill>
            <a:srgbClr val="E8EBEF"/>
          </a:solidFill>
          <a:ln w="12700">
            <a:solidFill>
              <a:srgbClr val="E0E4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24231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Navigation | LaxIQ Assistant Chat Panel (Always Accessible)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417320" y="1737360"/>
            <a:ext cx="0" cy="64008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3383280" y="1737360"/>
            <a:ext cx="0" cy="64008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5669280" y="1737360"/>
            <a:ext cx="0" cy="64008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7863840" y="1737360"/>
            <a:ext cx="0" cy="64008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731520" y="3291840"/>
            <a:ext cx="7955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14400" y="32918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3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377440" y="3291840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as entry point, other pages accessible via sidebar menu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1520" y="3886200"/>
            <a:ext cx="7955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14400" y="38862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3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Task-Centric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377440" y="3886200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page supports a distinct coaching workflow (overview → analysis → personnel)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1520" y="4480560"/>
            <a:ext cx="7955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14400" y="44805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3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Ubiquitous Chat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377440" y="4480560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LaxIQ Assistant available everywhere without page change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2D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463040"/>
            <a:ext cx="1097280" cy="1097280"/>
          </a:xfrm>
          <a:prstGeom prst="ellipse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63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011680" y="12801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Basic Application Implementation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011680" y="20116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Layout, Widgets, Performance &amp; Display  |  40 pts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5720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A: Layout &amp; Structure (15 pts)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8046720" cy="0"/>
          </a:xfrm>
          <a:prstGeom prst="line">
            <a:avLst/>
          </a:prstGeom>
          <a:noFill/>
          <a:ln w="12700">
            <a:solidFill>
              <a:srgbClr val="E0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868680"/>
            <a:ext cx="804672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868680"/>
            <a:ext cx="54864" cy="896112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00584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868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st.sidebar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00400" y="8686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menu with page links, quick stats, LaxIQ Assistant chat input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88720" y="1234440"/>
            <a:ext cx="74066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6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st.sidebar.selectbox('Navigate', ['Home', 'Game Analysis', 'Player Intelligence', 'LaxIQ Assistant'])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48640" y="1856232"/>
            <a:ext cx="804672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" y="1856232"/>
            <a:ext cx="54864" cy="896112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993392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88720" y="18562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st.columns()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200400" y="1856232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grid layout for KPI cards, stat tables, and side-by-side comparisons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188720" y="2221992"/>
            <a:ext cx="74066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6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col1, col2, col3 = st.columns(3); col1.metric('Goals/Game', 12.5)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548640" y="2843784"/>
            <a:ext cx="804672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48640" y="2843784"/>
            <a:ext cx="54864" cy="896112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980944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88720" y="284378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st.expander()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3200400" y="2843784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Collapsible sections for advanced filters, game details, player history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1188720" y="3209544"/>
            <a:ext cx="74066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6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st.expander('Advanced Filters'): st.slider('Opponent ELO', 0, 3000)</a:t>
            </a:r>
            <a:endParaRPr lang="en-US" sz="800" dirty="0"/>
          </a:p>
        </p:txBody>
      </p:sp>
      <p:sp>
        <p:nvSpPr>
          <p:cNvPr id="24" name="Shape 19"/>
          <p:cNvSpPr/>
          <p:nvPr/>
        </p:nvSpPr>
        <p:spPr>
          <a:xfrm>
            <a:off x="548640" y="3831336"/>
            <a:ext cx="804672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548640" y="3831336"/>
            <a:ext cx="54864" cy="896112"/>
          </a:xfrm>
          <a:prstGeom prst="rect">
            <a:avLst/>
          </a:prstGeom>
          <a:solidFill>
            <a:srgbClr val="E57200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3968496"/>
            <a:ext cx="320040" cy="3200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188720" y="38313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5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st.tabs()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3200400" y="3831336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navigation for Game Analysis multi-view (Overview, Grades, Stats, etc.)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188720" y="4197096"/>
            <a:ext cx="740664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6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tab1, tab2 = st.tabs(['Overview', 'Grades']); tab1.plotly_chart(fig_wp)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A: Input Widgets — 9+ Widget Types (15 pts)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8046720" cy="0"/>
          </a:xfrm>
          <a:prstGeom prst="line">
            <a:avLst/>
          </a:prstGeom>
          <a:noFill/>
          <a:ln w="12700">
            <a:solidFill>
              <a:srgbClr val="E0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widget inventory across all pages to support coach filtering, selection, and interaction: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4023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234440"/>
            <a:ext cx="54864" cy="594360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23444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st.selectbox()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149047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selection dropdown, player selector, opponent filter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709160" y="1234440"/>
            <a:ext cx="4023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234440"/>
            <a:ext cx="54864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23444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st.radio()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49047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mode (Individual vs Compare), sort order (Alpha vs ELO rank)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48640" y="1892808"/>
            <a:ext cx="4023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1892808"/>
            <a:ext cx="54864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1892808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st.toggle()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" y="214884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View vs Analyst View switch on Player Intelligence page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709160" y="1892808"/>
            <a:ext cx="4023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1892808"/>
            <a:ext cx="54864" cy="5943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1892808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st.multiselect()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6320" y="214884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players by position (Attack, Mid, Defense) or tier (Elite, Strong, Rotation)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48640" y="2551176"/>
            <a:ext cx="4023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2551176"/>
            <a:ext cx="54864" cy="5943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2551176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st.slider()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85800" y="280720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 for game history, ELO thresholds, shooting % filters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709160" y="2551176"/>
            <a:ext cx="4023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2551176"/>
            <a:ext cx="54864" cy="5943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2551176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st.button()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46320" y="280720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data, export stats to CSV, download game report PDF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48640" y="3209544"/>
            <a:ext cx="4023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8640" y="3209544"/>
            <a:ext cx="54864" cy="5943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3209544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st.text_input()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85800" y="3465576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player by name, opponent search, custom question input for LaxIQ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709160" y="3209544"/>
            <a:ext cx="4023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3209544"/>
            <a:ext cx="54864" cy="594360"/>
          </a:xfrm>
          <a:prstGeom prst="rect">
            <a:avLst/>
          </a:prstGeom>
          <a:solidFill>
            <a:srgbClr val="232D4B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3209544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st.chat_input()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3465576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LaxIQ Assistant natural language query input (sidebar persistent)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48640" y="3867912"/>
            <a:ext cx="4023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48640" y="3867912"/>
            <a:ext cx="54864" cy="5943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1" name="Text 39"/>
          <p:cNvSpPr/>
          <p:nvPr/>
        </p:nvSpPr>
        <p:spPr>
          <a:xfrm>
            <a:off x="685800" y="386791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st.number_input()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85800" y="4123944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quarter selector, goal threshold for filtering, stat minimum values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B: Performance &amp; Display (10 pts)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8046720" cy="0"/>
          </a:xfrm>
          <a:prstGeom prst="line">
            <a:avLst/>
          </a:prstGeom>
          <a:noFill/>
          <a:ln w="12700">
            <a:solidFill>
              <a:srgbClr val="E0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868680"/>
            <a:ext cx="804672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868680"/>
            <a:ext cx="54864" cy="896112"/>
          </a:xfrm>
          <a:prstGeom prst="rect">
            <a:avLst/>
          </a:prstGeom>
          <a:solidFill>
            <a:srgbClr val="232D4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00584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868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3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st.cache_data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88720" y="1234440"/>
            <a:ext cx="65379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game data, player stats, and chart generation to avoid re-runs on interaction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88720" y="1508760"/>
            <a:ext cx="65379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3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Sub-second response times for all filtering operations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" y="1856232"/>
            <a:ext cx="804672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" y="1856232"/>
            <a:ext cx="54864" cy="896112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993392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88720" y="18562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st.dataframe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188720" y="2221992"/>
            <a:ext cx="65379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Interactive, sortable, searchable tables for game stats, player stats, play-by-play logs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188720" y="2496312"/>
            <a:ext cx="65379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3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Coaches can sort by any column, search names, export to CSV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548640" y="2843784"/>
            <a:ext cx="804672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48640" y="2843784"/>
            <a:ext cx="54864" cy="896112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980944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88720" y="28437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st.metric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188720" y="3209544"/>
            <a:ext cx="65379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Large, prominent KPI display with delta (change from last game) and color indication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1188720" y="3483864"/>
            <a:ext cx="65379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3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At-a-glance performance summary without reading numbers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548640" y="3831336"/>
            <a:ext cx="804672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548640" y="3831336"/>
            <a:ext cx="54864" cy="896112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3968496"/>
            <a:ext cx="320040" cy="3200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188720" y="383133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st.success / st.error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1188720" y="4197096"/>
            <a:ext cx="65379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messages for data loads, API calls, validation results, LaxIQ responses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188720" y="4471416"/>
            <a:ext cx="653796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3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Clear status communication reduces coaching staff confusion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32D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463040"/>
            <a:ext cx="1097280" cy="1097280"/>
          </a:xfrm>
          <a:prstGeom prst="ellipse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63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011680" y="12801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Visualization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011680" y="20116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Chart Types, Interactive Filtering, Persona Alignment  |  15 pts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57200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A: 5+ Chart Types &amp; Use Cases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8046720" cy="0"/>
          </a:xfrm>
          <a:prstGeom prst="line">
            <a:avLst/>
          </a:prstGeom>
          <a:noFill/>
          <a:ln w="12700">
            <a:solidFill>
              <a:srgbClr val="E0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868680"/>
            <a:ext cx="80467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868680"/>
            <a:ext cx="54864" cy="6858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978408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8686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 (Win Probability)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840480" y="8686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team win probability across game timeline, identify momentum shifts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840480" y="12161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Quarter-by-quarter scoring margin, probability model output | Goal: Sarah reviews when game was decided, where defense broke down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48640" y="1645920"/>
            <a:ext cx="80467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" y="1645920"/>
            <a:ext cx="54864" cy="68580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755648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43000" y="16459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Chart (Player Profile)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840480" y="16459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Multi-dimensional player comparison across 5 metrics (Shooting, Draw, Passing, Defense, ATCO)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3840480" y="19933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Per-game or season averages by position and tier | Goal: Sarah evaluates personnel by shape of profile (elite has full outer ring)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548640" y="2423160"/>
            <a:ext cx="80467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48640" y="2423160"/>
            <a:ext cx="54864" cy="685800"/>
          </a:xfrm>
          <a:prstGeom prst="rect">
            <a:avLst/>
          </a:prstGeom>
          <a:solidFill>
            <a:srgbClr val="E57200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532888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43000" y="24231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5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(Grade Distribution)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3840480" y="24231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grades across 6 categories (Offense, Defense, Transition, Draw, Goaltending, Discipline)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3840480" y="277063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A–F assignments per game, color-coded by grade | Goal: Sarah sees weakest area at a glance, targets practice focus</a:t>
            </a:r>
            <a:endParaRPr lang="en-US" sz="800" dirty="0"/>
          </a:p>
        </p:txBody>
      </p:sp>
      <p:sp>
        <p:nvSpPr>
          <p:cNvPr id="24" name="Shape 19"/>
          <p:cNvSpPr/>
          <p:nvPr/>
        </p:nvSpPr>
        <p:spPr>
          <a:xfrm>
            <a:off x="548640" y="3200400"/>
            <a:ext cx="80467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548640" y="3200400"/>
            <a:ext cx="54864" cy="68580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3310128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143000" y="32004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 (Shot Efficiency)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3840480" y="32004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shot on plot (X=distance, Y=success %), clustered by quarter or opponent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3840480" y="35478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Shot location + result data from box score | Goal: Sarah identifies shot patterns (long-range streaks vs close-range struggles)</a:t>
            </a:r>
            <a:endParaRPr lang="en-US" sz="800" dirty="0"/>
          </a:p>
        </p:txBody>
      </p:sp>
      <p:sp>
        <p:nvSpPr>
          <p:cNvPr id="30" name="Shape 24"/>
          <p:cNvSpPr/>
          <p:nvPr/>
        </p:nvSpPr>
        <p:spPr>
          <a:xfrm>
            <a:off x="548640" y="3977640"/>
            <a:ext cx="80467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548640" y="3977640"/>
            <a:ext cx="54864" cy="685800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4087368"/>
            <a:ext cx="274320" cy="27432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143000" y="397764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Multi-line Chart (Season Trend)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3840480" y="39776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goals/game, efficiency %, FO win %, turnovers across season schedule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3840480" y="43251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Rolling game-by-game stats, trend line overlay | Goal: Sarah spots improvement/decline, compares to opponent strength schedule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B: Interactive Filtering &amp; Persona Alignment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8046720" cy="0"/>
          </a:xfrm>
          <a:prstGeom prst="line">
            <a:avLst/>
          </a:prstGeom>
          <a:noFill/>
          <a:ln w="12700">
            <a:solidFill>
              <a:srgbClr val="E0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charts are interactive via Plotly and dynamically filtered based on user selections: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80467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234440"/>
            <a:ext cx="54864" cy="960120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234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5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527048"/>
            <a:ext cx="7909560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Filters: </a:t>
            </a:r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date range, opponent tier (top 20 vs. rest)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1764792"/>
            <a:ext cx="7909560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Interaction: </a:t>
            </a:r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to see game details, click to navigate to Game Analysis page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2002536"/>
            <a:ext cx="790956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3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Fit: </a:t>
            </a:r>
            <a:pPr algn="l" indent="0" marL="0">
              <a:buNone/>
            </a:pPr>
            <a:r>
              <a:rPr lang="en-US" sz="900" dirty="0">
                <a:solidFill>
                  <a:srgbClr val="23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Sarah sees season performance against specific opponent caliber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286000"/>
            <a:ext cx="80467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286000"/>
            <a:ext cx="54864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Analysis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2578608"/>
            <a:ext cx="7909560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Filters: </a:t>
            </a:r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selector, quarter filter, player filter (on/off court), statistic type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" y="2816352"/>
            <a:ext cx="7909560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Interaction: </a:t>
            </a:r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hover reveals exact numbers, click legend items to toggle series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" y="3054096"/>
            <a:ext cx="790956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3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Fit: </a:t>
            </a:r>
            <a:pPr algn="l" indent="0" marL="0">
              <a:buNone/>
            </a:pPr>
            <a:r>
              <a:rPr lang="en-US" sz="900" dirty="0">
                <a:solidFill>
                  <a:srgbClr val="23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isolates problematic quarters, specific player combinations, or weak areas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337560"/>
            <a:ext cx="80467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337560"/>
            <a:ext cx="54864" cy="9601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337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Intelligence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3630168"/>
            <a:ext cx="7909560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Filters: </a:t>
            </a:r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selection (single/multiple), tier filter (Elite/Strong/Rotation/Dev), position filter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" y="3867912"/>
            <a:ext cx="7909560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Interaction: </a:t>
            </a:r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chart hover shows exact metric values, comparison mode side-by-side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" y="4105656"/>
            <a:ext cx="790956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3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Fit: </a:t>
            </a:r>
            <a:pPr algn="l" indent="0" marL="0">
              <a:buNone/>
            </a:pPr>
            <a:r>
              <a:rPr lang="en-US" sz="900" dirty="0">
                <a:solidFill>
                  <a:srgbClr val="23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evaluates personnel across multiple dimensions without manual lookup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32D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463040"/>
            <a:ext cx="1097280" cy="1097280"/>
          </a:xfrm>
          <a:prstGeom prst="ellipse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63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011680" y="12801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Justification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011680" y="20116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to M2 Evolution, Rationale, Trade-offs  |  10 pts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57200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A: M1 to M2 Design Evolution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8046720" cy="0"/>
          </a:xfrm>
          <a:prstGeom prst="line">
            <a:avLst/>
          </a:prstGeom>
          <a:noFill/>
          <a:ln w="12700">
            <a:solidFill>
              <a:srgbClr val="E0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established persona, usability goals, and design principles. M2 implements these with interface choices that reinforce M1 learning: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80467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280160"/>
            <a:ext cx="54864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280160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Speed (M1 Goal: &lt;3s per task)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0" y="1280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st.cache_data caches all game/player data; Plotly charts render client-side for instant interactivity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29200" y="16184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Sarah needs immediate answers in film session context; latency kills the 'smart analyst' metaphor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48640" y="2029968"/>
            <a:ext cx="80467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029968"/>
            <a:ext cx="54864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029968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Components: Effectiveness (M1)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0" y="20299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5-star grade system (A–F) for 6 game categories (Offense, Defense, Transition, Draw, Goaltending, Discipline)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0" y="236829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distill complex stats into actionable summary Sarah recognizes from coaching experience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48640" y="2779776"/>
            <a:ext cx="80467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2779776"/>
            <a:ext cx="54864" cy="658368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2779776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 1: Visibility of System State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0" y="27797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with delta (±), color-coded grades, season trend chart on Home page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29200" y="311810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sees performance trajectory at a glance without hunting for context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48640" y="3529584"/>
            <a:ext cx="80467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529584"/>
            <a:ext cx="54864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3529584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 2: User Control &amp; Freedom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0" y="352958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Multi-page app with sidebar nav; every page has independent filter state; undo/redo via browser back button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029200" y="38679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can explore freely, change views, and return to previous state without frustration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48640" y="4279392"/>
            <a:ext cx="80467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" y="4279392"/>
            <a:ext cx="54864" cy="65836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4279392"/>
            <a:ext cx="4114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 4: Aesthetic &amp; Minimalist Design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29200" y="42793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NAVY+ORANGE color scheme (M1 branding), white cards, single left accent bar per card, generous whitespace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029200" y="4617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cognitive load; Sarah focuses on data, not decorative elements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B: Widget Selection &amp; Chart Rationale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8046720" cy="0"/>
          </a:xfrm>
          <a:prstGeom prst="line">
            <a:avLst/>
          </a:prstGeom>
          <a:noFill/>
          <a:ln w="12700">
            <a:solidFill>
              <a:srgbClr val="E0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868680"/>
            <a:ext cx="80467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868680"/>
            <a:ext cx="54864" cy="576072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868680"/>
            <a:ext cx="34747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st.multiselect() for position filter (Player Intell.)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89120" y="868680"/>
            <a:ext cx="42062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Coaches need to filter by position to evaluate specific roster tiers (Attack, Mid, Defense); multiselect allows 'show me all Attack + Mid' in one gesture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536192"/>
            <a:ext cx="80467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536192"/>
            <a:ext cx="54864" cy="5760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536192"/>
            <a:ext cx="34747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st.radio() for Coach View vs Analyst View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389120" y="1536192"/>
            <a:ext cx="42062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Radio forces explicit choice; toggle would be ambiguous. Clear labeling prevents coaches from missing feature.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2203704"/>
            <a:ext cx="80467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203704"/>
            <a:ext cx="54864" cy="5760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203704"/>
            <a:ext cx="34747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chart for player profiles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89120" y="2203704"/>
            <a:ext cx="42062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Human eye instantly recognizes 'thin' vs 'thick' radar = weak vs strong player. Far faster than reading stats table.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2871216"/>
            <a:ext cx="80467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2871216"/>
            <a:ext cx="54864" cy="5760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2871216"/>
            <a:ext cx="34747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probability line chart on Game Analysis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389120" y="2871216"/>
            <a:ext cx="42062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Coaching staff mentally maps game timeline to probability curve; line chart is standard for temporal data and coaches recognize the pattern.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3538728"/>
            <a:ext cx="80467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538728"/>
            <a:ext cx="54864" cy="576072"/>
          </a:xfrm>
          <a:prstGeom prst="rect">
            <a:avLst/>
          </a:prstGeom>
          <a:solidFill>
            <a:srgbClr val="232D4B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3538728"/>
            <a:ext cx="34747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st.dataframe() for sortable tables (sortable, searchable)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389120" y="3538728"/>
            <a:ext cx="42062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Streamlit's st.dataframe() is interactive; coaches can sort by any stat (Goals, ATCO, FO%) without page re-render.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4206240"/>
            <a:ext cx="80467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" y="4206240"/>
            <a:ext cx="54864" cy="5760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4206240"/>
            <a:ext cx="34747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sidebar chat for LaxIQ Assistant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389120" y="4206240"/>
            <a:ext cx="42062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Sidebar is always visible; coaches don't need to leave current page to ask questions. Reduces cognitive switching cost.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C: Design Trade-offs &amp; Constraints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8046720" cy="0"/>
          </a:xfrm>
          <a:prstGeom prst="line">
            <a:avLst/>
          </a:prstGeom>
          <a:noFill/>
          <a:ln w="12700">
            <a:solidFill>
              <a:srgbClr val="E0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868680"/>
            <a:ext cx="80467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868680"/>
            <a:ext cx="54864" cy="914400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868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Grades (A–F) vs. Raw Stats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11612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Chosen: A–F Grades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0" y="86868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Coaches process letter grades instantly (from school experience); raw stats require interpretation time. In film session, speed wins.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114800" y="1344168"/>
            <a:ext cx="443484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Constraint: Loses precision in edge cases (e.g., A- vs A), but gains decisiveness.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48640" y="1874520"/>
            <a:ext cx="80467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1874520"/>
            <a:ext cx="54864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Chart (Plotly) vs. Stat Table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21671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Chosen: Radar as primary, table as secondary (expandable)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0" y="187452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shape is intuitive for tier ranking; table is reference for exact numbers.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14800" y="2350008"/>
            <a:ext cx="443484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Constraint: Radar charts hard to read with &gt;5 metrics; design limits to core 5.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48640" y="2880360"/>
            <a:ext cx="80467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2880360"/>
            <a:ext cx="54864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2880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(APIs) vs. Static Excel upload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" y="31729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Chosen: Static Excel-based workflow for M2 (Real-time M3 goal)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0" y="288036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scope; real-time APIs require live data pipelines (Lacrosse Box, ESPN). Excel is low-friction for coaching staff adoption.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114800" y="3355848"/>
            <a:ext cx="443484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Constraint: Data is game-by-game manual upload; limits to post-game analysis, not live dashboards.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8640" y="3886200"/>
            <a:ext cx="80467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3886200"/>
            <a:ext cx="54864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3886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LaxIQ Assistant (Gemini AI) ubiquity vs. Focus-mode simplicity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" y="41788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Chosen: Sidebar panel (ubiquitous, toggleable)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0" y="388620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Coaches can ask questions without leaving analysis context; toggle hides chat if not needed.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114800" y="4361688"/>
            <a:ext cx="443484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Constraint: Sidebar compresses main content on narrow screens; responsive design needed.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32D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463040"/>
            <a:ext cx="1097280" cy="1097280"/>
          </a:xfrm>
          <a:prstGeom prst="ellipse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63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011680" y="12801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 Design Review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011680" y="20116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Detail, Page, Function, and App-Level Coherence  |  15 pts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57200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A: Detail-Level Visual Design (Typography, Spacing, Color)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8046720" cy="0"/>
          </a:xfrm>
          <a:prstGeom prst="line">
            <a:avLst/>
          </a:prstGeom>
          <a:noFill/>
          <a:ln w="12700">
            <a:solidFill>
              <a:srgbClr val="E0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868680"/>
            <a:ext cx="804672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868680"/>
            <a:ext cx="54864" cy="128016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978408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868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88720" y="1216152"/>
            <a:ext cx="71780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Titles: Georgia 22pt, NAVY, bold (Page headings)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88720" y="1426464"/>
            <a:ext cx="71780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labels: Calibri 11pt, NAVY, bold (Semantic importance)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88720" y="1636776"/>
            <a:ext cx="71780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text: Calibri 10-11pt, TEXT_DARK or TEXT_MED (Readable, professional)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188720" y="1847088"/>
            <a:ext cx="71780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values: Courier 12pt, color-coded by metric (Quick scannable numerals)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188720" y="2057400"/>
            <a:ext cx="71780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Captions: Calibri 8-9pt, TEXT_LIGHT (Deemphasis for annotations)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48640" y="2240280"/>
            <a:ext cx="804672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48640" y="2240280"/>
            <a:ext cx="54864" cy="128016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350008"/>
            <a:ext cx="320040" cy="3200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188720" y="2240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Spacing &amp; Whitespace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188720" y="2587752"/>
            <a:ext cx="71780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cards: 0.7 height, 0.5 width gap (Breathable grid, not cramped)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1188720" y="2798064"/>
            <a:ext cx="71780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margins: 0.6–0.8 from edges (Generous safe zone, balances content)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1188720" y="3008376"/>
            <a:ext cx="71780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padding: 0.15 internal, 0.06 accent bar (Consistent visual rhythm)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1188720" y="3218688"/>
            <a:ext cx="71780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rhythm: 1.08 row height on tiered content (Alignment aids scannability)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1188720" y="3429000"/>
            <a:ext cx="71780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Sidebar: ~1.2 width on desktop (Sidecar does not dominate main content)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548640" y="3611880"/>
            <a:ext cx="804672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548640" y="3611880"/>
            <a:ext cx="54864" cy="128016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721608"/>
            <a:ext cx="320040" cy="32004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188720" y="3611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Palette (M1 Consistency)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1188720" y="3959352"/>
            <a:ext cx="71780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 NAVY (232D4B) — text, frames, high-contrast areas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1188720" y="4169664"/>
            <a:ext cx="71780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Accent: ORANGE (E57200) — titles, buttons, category colors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1188720" y="4379976"/>
            <a:ext cx="71780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colors: Green (A), Blue (B), Amber (C), Red (D/F) — instant recognition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1188720" y="4590288"/>
            <a:ext cx="71780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accents: TEAL, PURPLE, AMBER, RED, GREEN by card category</a:t>
            </a:r>
            <a:endParaRPr lang="en-US" sz="800" dirty="0"/>
          </a:p>
        </p:txBody>
      </p:sp>
      <p:sp>
        <p:nvSpPr>
          <p:cNvPr id="32" name="Text 27"/>
          <p:cNvSpPr/>
          <p:nvPr/>
        </p:nvSpPr>
        <p:spPr>
          <a:xfrm>
            <a:off x="1188720" y="4800600"/>
            <a:ext cx="71780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Neutral: WHITE (FFFFFF), LIGHT_BG (F7F8FC), TEXT_LIGHT (94A3B8)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B: Page-Level Visual Coherence (Hierarchy, Alignment, Whitespace)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8046720" cy="0"/>
          </a:xfrm>
          <a:prstGeom prst="line">
            <a:avLst/>
          </a:prstGeom>
          <a:noFill/>
          <a:ln w="12700">
            <a:solidFill>
              <a:srgbClr val="E0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868680"/>
            <a:ext cx="804672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868680"/>
            <a:ext cx="54864" cy="1298448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868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5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— Season Overview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1612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Hierarchy: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920240" y="1161288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section (season record) → KPI grid (8 cards) → Schedule table (sortable) → Quick links sidebar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77240" y="14356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Alignment: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920240" y="1435608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Left-aligned content, centered KPI grid, full-width schedule; consistent 0.6 left margin throughout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77240" y="17099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Whitespace: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920240" y="1709928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space between sections, 0.5 between KPI cards; top/bottom padding 0.4 per major section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48640" y="2258568"/>
            <a:ext cx="804672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2258568"/>
            <a:ext cx="54864" cy="12984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2258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Analysis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255117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Hierarchy: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920240" y="2551176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selector (top bar) → Tabs (Overview, Grades, Stats, Play-by-Play) → Content area (dynamic)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77240" y="282549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Alignment: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920240" y="2825496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Centered tabs, left-aligned charts/tables; card accents align vertically with tab selection color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77240" y="309981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Whitespace: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920240" y="3099816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spacing 0.15 apart, chart area 1.0 clearance above tabs, 0.6 below; sidebar toggleable to free space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8640" y="3648456"/>
            <a:ext cx="804672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3648456"/>
            <a:ext cx="54864" cy="12984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36484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Intelligence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" y="394106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Hierarchy: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920240" y="3941064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mode radio (Individual/Compare) → Player selector multiselect → Tier filter → Radar + Stats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77240" y="421538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Alignment: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920240" y="4215384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stacked left (0.6 margin), content area centered; compare view uses st.columns(2) for left/right symmetry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77240" y="448970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Whitespace: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920240" y="4489704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between filter sections, 0.8 between radar and stats, 1.0 above/below major content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C: Function-Level Design (States, Validation, Feedback)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8046720" cy="0"/>
          </a:xfrm>
          <a:prstGeom prst="line">
            <a:avLst/>
          </a:prstGeom>
          <a:noFill/>
          <a:ln w="12700">
            <a:solidFill>
              <a:srgbClr val="E0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868680"/>
            <a:ext cx="804672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868680"/>
            <a:ext cx="54864" cy="67665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868680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State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97480" y="86868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st.spinner('Loading game data...') wraps data fetch and chart generation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697480" y="12161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sees spinner instead of blank page; reassured data is processing, not hung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92240" y="868680"/>
            <a:ext cx="11887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Outcome: Reduces user frustration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48640" y="1636776"/>
            <a:ext cx="804672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1636776"/>
            <a:ext cx="54864" cy="67665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1636776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State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97480" y="163677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st.error('Failed to load: [reason]') + fallback cached data or placeholder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697480" y="19842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understands what went wrong (missing CSV, invalid date range) without app crash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92240" y="1636776"/>
            <a:ext cx="11887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Outcome: Reduces user frustration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48640" y="2404872"/>
            <a:ext cx="804672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2404872"/>
            <a:ext cx="54864" cy="67665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2404872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State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97480" y="240487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st.success('Data loaded! [X records]') + metric cards update with delta +/- color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697480" y="275234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reinforcement confirms action completed; delta color (green↑ / red↓) shows trend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492240" y="2404872"/>
            <a:ext cx="11887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Outcome: Guides toward success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8640" y="3172968"/>
            <a:ext cx="804672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3172968"/>
            <a:ext cx="54864" cy="67665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3172968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State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697480" y="317296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st.warning('Select a game first') before tab/chart render; disabled buttons if inputs incomplete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697480" y="35204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nonsense interactions (empty chart); guides coach to next step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492240" y="3172968"/>
            <a:ext cx="11887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Outcome: Guides toward success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48640" y="3941064"/>
            <a:ext cx="804672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8640" y="3941064"/>
            <a:ext cx="54864" cy="67665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3941064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Hit State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697480" y="394106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@st.cache_data decorator on data load + display 'Using cached data (updated 2m ago)'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697480" y="428853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gets instant results on filter change; cache age visible for transparency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492240" y="3941064"/>
            <a:ext cx="11887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Outcome: Guides toward success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D: App-Level Consistency &amp; Information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8046720" cy="0"/>
          </a:xfrm>
          <a:prstGeom prst="line">
            <a:avLst/>
          </a:prstGeom>
          <a:noFill/>
          <a:ln w="12700">
            <a:solidFill>
              <a:srgbClr val="E0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across pages ensures coaches build mental models once and apply everywhere: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80467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234440"/>
            <a:ext cx="54864" cy="603504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234440"/>
            <a:ext cx="1828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5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Language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97480" y="1234440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NAVY/ORANGE/WHITE palette on all 4 pages; left accent bar on every card (same 0.06 width); same font stack (Georgia/Calibri)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355080" y="1234440"/>
            <a:ext cx="1325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3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Coach recognizes UI language instantly; no re-learning per page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48640" y="1929384"/>
            <a:ext cx="80467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1929384"/>
            <a:ext cx="54864" cy="6035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1929384"/>
            <a:ext cx="1828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Patterns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97480" y="1929384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nav always present; game/player selectors are st.selectbox/st.multiselect (same component type); Plotly charts all have same toolbar (zoom, pan, hover)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355080" y="1929384"/>
            <a:ext cx="1325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3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Actions are predictable; muscle memory transfers across pages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48640" y="2624328"/>
            <a:ext cx="80467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2624328"/>
            <a:ext cx="54864" cy="6035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2624328"/>
            <a:ext cx="1828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Hierarchy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97480" y="2624328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pages lead with filters/selectors (top), then visualization (center), then stats/details (bottom/expandable)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355080" y="2624328"/>
            <a:ext cx="1325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3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Coach's eye follows same top→center→bottom path on each page; no cognitive dissonance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48640" y="3319272"/>
            <a:ext cx="80467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319272"/>
            <a:ext cx="54864" cy="60350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3319272"/>
            <a:ext cx="1828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697480" y="3319272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is always accessible; back button returns to previous page; each page has a title bar + slide number (design affordance)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355080" y="3319272"/>
            <a:ext cx="1325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3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Coach never feels lost; always knows where they are and how to move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48640" y="4014216"/>
            <a:ext cx="80467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" y="4014216"/>
            <a:ext cx="54864" cy="60350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4014216"/>
            <a:ext cx="1828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Coding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697480" y="4014216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use A=green, B=blue, C=amber, D/F=red across all pages; category colors (Offense=ORANGE, Defense=TEAL, etc.) consistent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355080" y="4014216"/>
            <a:ext cx="1325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3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Sarah learns 'orange = offense problem' once; pattern recognition speeds decision-making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72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2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Summary: Milestone 2 Deliverables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8046720" cy="0"/>
          </a:xfrm>
          <a:prstGeom prst="line">
            <a:avLst/>
          </a:prstGeom>
          <a:noFill/>
          <a:ln w="12700">
            <a:solidFill>
              <a:srgbClr val="E0E4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868680"/>
            <a:ext cx="731520" cy="25603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8686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371600" y="8686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3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Page Architecture Plan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8686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4-page wireframes  |  Navigation flow diagram  |  Design annotations  |  Persona-aligned goals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48640" y="1252728"/>
            <a:ext cx="731520" cy="25603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2527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371600" y="12527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3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Basic Application Implementation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12527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(sidebar, columns, tabs, expanders)  |  9+ widgets across all interaction types  |  Caching, dataframes, metrics, feedback states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48640" y="1636776"/>
            <a:ext cx="731520" cy="25603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163677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371600" y="163677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3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Data Visualization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163677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chart types (line, radar, bar, scatter, multi-line)  |  Interactive Plotly charts with filtering  |  Persona-aligned design choices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48640" y="2020824"/>
            <a:ext cx="731520" cy="25603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02082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371600" y="202082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3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Design Justification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202082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M1→M2 evolution traced to ISO metrics  |  Widget/chart rationale with persona fits  |  Trade-offs and constraints documented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48640" y="2404872"/>
            <a:ext cx="731520" cy="25603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40487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371600" y="24048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32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Visual Design Review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24048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Typography, spacing, color palette consistency  |  Page-level hierarchy and alignment  |  Functional states (loading, error, success)  |  App-level coherence and IA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48640" y="4434840"/>
            <a:ext cx="8046720" cy="548640"/>
          </a:xfrm>
          <a:prstGeom prst="rect">
            <a:avLst/>
          </a:prstGeom>
          <a:solidFill>
            <a:srgbClr val="232D4B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4348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</a:t>
            </a:r>
            <a:pPr algn="ctr" indent="0" marL="0">
              <a:buNone/>
            </a:pPr>
            <a:r>
              <a:rPr lang="en-US" sz="1200" b="1" dirty="0">
                <a:solidFill>
                  <a:srgbClr val="E5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POINTS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Milestone 3: Usability Testing &amp; Refinement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LaxIQ — Milestone 2: Build, Test, and Design the Application</dc:title>
  <dc:subject>PptxGenJS Presentation</dc:subject>
  <dc:creator>Faizan Khan</dc:creator>
  <cp:lastModifiedBy>Faizan Khan</cp:lastModifiedBy>
  <cp:revision>1</cp:revision>
  <dcterms:created xsi:type="dcterms:W3CDTF">2026-04-27T06:50:23Z</dcterms:created>
  <dcterms:modified xsi:type="dcterms:W3CDTF">2026-04-27T06:50:23Z</dcterms:modified>
</cp:coreProperties>
</file>